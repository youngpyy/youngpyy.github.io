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9"/>
  </p:notesMasterIdLst>
  <p:handoutMasterIdLst>
    <p:handoutMasterId r:id="rId30"/>
  </p:handoutMasterIdLst>
  <p:sldIdLst>
    <p:sldId id="257" r:id="rId2"/>
    <p:sldId id="258" r:id="rId3"/>
    <p:sldId id="259" r:id="rId4"/>
    <p:sldId id="260" r:id="rId5"/>
    <p:sldId id="261" r:id="rId6"/>
    <p:sldId id="282" r:id="rId7"/>
    <p:sldId id="291" r:id="rId8"/>
    <p:sldId id="292" r:id="rId9"/>
    <p:sldId id="263" r:id="rId10"/>
    <p:sldId id="264" r:id="rId11"/>
    <p:sldId id="262" r:id="rId12"/>
    <p:sldId id="266" r:id="rId13"/>
    <p:sldId id="268" r:id="rId14"/>
    <p:sldId id="267" r:id="rId15"/>
    <p:sldId id="269" r:id="rId16"/>
    <p:sldId id="295" r:id="rId17"/>
    <p:sldId id="270" r:id="rId18"/>
    <p:sldId id="271" r:id="rId19"/>
    <p:sldId id="272" r:id="rId20"/>
    <p:sldId id="273" r:id="rId21"/>
    <p:sldId id="275" r:id="rId22"/>
    <p:sldId id="286" r:id="rId23"/>
    <p:sldId id="279" r:id="rId24"/>
    <p:sldId id="296" r:id="rId25"/>
    <p:sldId id="293" r:id="rId26"/>
    <p:sldId id="294" r:id="rId27"/>
    <p:sldId id="290" r:id="rId28"/>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66"/>
    <p:restoredTop sz="89948" autoAdjust="0"/>
  </p:normalViewPr>
  <p:slideViewPr>
    <p:cSldViewPr>
      <p:cViewPr varScale="1">
        <p:scale>
          <a:sx n="63" d="100"/>
          <a:sy n="63" d="100"/>
        </p:scale>
        <p:origin x="1408" y="3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B9F4555-202C-3149-A0D2-02B2A37CDC1C}" type="datetime1">
              <a:rPr kumimoji="1" lang="zh-CN" altLang="en-US" smtClean="0"/>
              <a:t>2019/4/24</a:t>
            </a:fld>
            <a:endParaRPr kumimoji="1"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zh-CN" altLang="en-US"/>
          </a:p>
        </p:txBody>
      </p:sp>
      <p:sp>
        <p:nvSpPr>
          <p:cNvPr id="5" name="幻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B76210C-5DA7-6642-A581-07581A179626}" type="slidenum">
              <a:rPr kumimoji="1" lang="zh-CN" altLang="en-US" smtClean="0"/>
              <a:t>‹#›</a:t>
            </a:fld>
            <a:endParaRPr kumimoji="1" lang="zh-CN" altLang="en-US"/>
          </a:p>
        </p:txBody>
      </p:sp>
    </p:spTree>
    <p:extLst>
      <p:ext uri="{BB962C8B-B14F-4D97-AF65-F5344CB8AC3E}">
        <p14:creationId xmlns:p14="http://schemas.microsoft.com/office/powerpoint/2010/main" val="277655575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E5DD39F-0043-AC47-BE37-0178FEFBB66F}" type="datetime1">
              <a:rPr lang="zh-CN" altLang="en-US" smtClean="0"/>
              <a:t>2019/4/24</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026339-B709-4D51-8748-4011E9368DCB}" type="slidenum">
              <a:rPr lang="zh-CN" altLang="en-US" smtClean="0"/>
              <a:pPr/>
              <a:t>‹#›</a:t>
            </a:fld>
            <a:endParaRPr lang="zh-CN" altLang="en-US"/>
          </a:p>
        </p:txBody>
      </p:sp>
    </p:spTree>
    <p:extLst>
      <p:ext uri="{BB962C8B-B14F-4D97-AF65-F5344CB8AC3E}">
        <p14:creationId xmlns:p14="http://schemas.microsoft.com/office/powerpoint/2010/main" val="306938897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b="0" i="0" kern="1200" baseline="0" dirty="0" smtClean="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BB026339-B709-4D51-8748-4011E9368DCB}" type="slidenum">
              <a:rPr lang="zh-CN" altLang="en-US" smtClean="0"/>
              <a:pPr/>
              <a:t>1</a:t>
            </a:fld>
            <a:endParaRPr lang="zh-CN" altLang="en-US"/>
          </a:p>
        </p:txBody>
      </p:sp>
    </p:spTree>
    <p:extLst>
      <p:ext uri="{BB962C8B-B14F-4D97-AF65-F5344CB8AC3E}">
        <p14:creationId xmlns:p14="http://schemas.microsoft.com/office/powerpoint/2010/main" val="16220811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B026339-B709-4D51-8748-4011E9368DCB}" type="slidenum">
              <a:rPr lang="zh-CN" altLang="en-US" smtClean="0"/>
              <a:pPr/>
              <a:t>2</a:t>
            </a:fld>
            <a:endParaRPr lang="zh-CN" altLang="en-US"/>
          </a:p>
        </p:txBody>
      </p:sp>
    </p:spTree>
    <p:extLst>
      <p:ext uri="{BB962C8B-B14F-4D97-AF65-F5344CB8AC3E}">
        <p14:creationId xmlns:p14="http://schemas.microsoft.com/office/powerpoint/2010/main" val="25037478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爱立信在其官方网站上宣布，公司与</a:t>
            </a:r>
            <a:r>
              <a:rPr lang="en-US" altLang="zh-CN" sz="1200" b="0" i="0" kern="1200" dirty="0" smtClean="0">
                <a:solidFill>
                  <a:schemeClr val="tx1"/>
                </a:solidFill>
                <a:effectLst/>
                <a:latin typeface="+mn-lt"/>
                <a:ea typeface="+mn-ea"/>
                <a:cs typeface="+mn-cs"/>
              </a:rPr>
              <a:t>OPPO</a:t>
            </a:r>
            <a:r>
              <a:rPr lang="zh-CN" altLang="en-US" sz="1200" b="0" i="0" kern="1200" dirty="0" smtClean="0">
                <a:solidFill>
                  <a:schemeClr val="tx1"/>
                </a:solidFill>
                <a:effectLst/>
                <a:latin typeface="+mn-lt"/>
                <a:ea typeface="+mn-ea"/>
                <a:cs typeface="+mn-cs"/>
              </a:rPr>
              <a:t>签署初期专利权授权协议。该协议包括两家公司间关于</a:t>
            </a:r>
            <a:r>
              <a:rPr lang="en-US" altLang="zh-CN" sz="1200" b="0" i="0" kern="1200" dirty="0" smtClean="0">
                <a:solidFill>
                  <a:schemeClr val="tx1"/>
                </a:solidFill>
                <a:effectLst/>
                <a:latin typeface="+mn-lt"/>
                <a:ea typeface="+mn-ea"/>
                <a:cs typeface="+mn-cs"/>
              </a:rPr>
              <a:t>2G</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3G</a:t>
            </a:r>
            <a:r>
              <a:rPr lang="zh-CN" altLang="en-US" sz="1200" b="0" i="0" kern="1200" dirty="0" smtClean="0">
                <a:solidFill>
                  <a:schemeClr val="tx1"/>
                </a:solidFill>
                <a:effectLst/>
                <a:latin typeface="+mn-lt"/>
                <a:ea typeface="+mn-ea"/>
                <a:cs typeface="+mn-cs"/>
              </a:rPr>
              <a:t>和</a:t>
            </a:r>
            <a:r>
              <a:rPr lang="en-US" altLang="zh-CN" sz="1200" b="0" i="0" kern="1200" dirty="0" smtClean="0">
                <a:solidFill>
                  <a:schemeClr val="tx1"/>
                </a:solidFill>
                <a:effectLst/>
                <a:latin typeface="+mn-lt"/>
                <a:ea typeface="+mn-ea"/>
                <a:cs typeface="+mn-cs"/>
              </a:rPr>
              <a:t>4G</a:t>
            </a:r>
            <a:r>
              <a:rPr lang="zh-CN" altLang="en-US" sz="1200" b="0" i="0" kern="1200" dirty="0" smtClean="0">
                <a:solidFill>
                  <a:schemeClr val="tx1"/>
                </a:solidFill>
                <a:effectLst/>
                <a:latin typeface="+mn-lt"/>
                <a:ea typeface="+mn-ea"/>
                <a:cs typeface="+mn-cs"/>
              </a:rPr>
              <a:t>技术的交叉许可。</a:t>
            </a:r>
            <a:r>
              <a:rPr lang="en-US" altLang="zh-CN" sz="1200" b="0" i="0" kern="1200" dirty="0" smtClean="0">
                <a:solidFill>
                  <a:schemeClr val="tx1"/>
                </a:solidFill>
                <a:effectLst/>
                <a:latin typeface="+mn-lt"/>
                <a:ea typeface="+mn-ea"/>
                <a:cs typeface="+mn-cs"/>
              </a:rPr>
              <a:t>OPPO</a:t>
            </a:r>
            <a:r>
              <a:rPr lang="zh-CN" altLang="en-US" sz="1200" b="0" i="0" kern="1200" dirty="0" smtClean="0">
                <a:solidFill>
                  <a:schemeClr val="tx1"/>
                </a:solidFill>
                <a:effectLst/>
                <a:latin typeface="+mn-lt"/>
                <a:ea typeface="+mn-ea"/>
                <a:cs typeface="+mn-cs"/>
              </a:rPr>
              <a:t>将根据其年度销售额的主要部分向爱立信支付特许权使用费。除了专利交叉许可，</a:t>
            </a:r>
            <a:r>
              <a:rPr lang="en-US" altLang="zh-CN" sz="1200" b="0" i="0" kern="1200" dirty="0" smtClean="0">
                <a:solidFill>
                  <a:schemeClr val="tx1"/>
                </a:solidFill>
                <a:effectLst/>
                <a:latin typeface="+mn-lt"/>
                <a:ea typeface="+mn-ea"/>
                <a:cs typeface="+mn-cs"/>
              </a:rPr>
              <a:t>OPPO</a:t>
            </a:r>
            <a:r>
              <a:rPr lang="zh-CN" altLang="en-US" sz="1200" b="0" i="0" kern="1200" dirty="0" smtClean="0">
                <a:solidFill>
                  <a:schemeClr val="tx1"/>
                </a:solidFill>
                <a:effectLst/>
                <a:latin typeface="+mn-lt"/>
                <a:ea typeface="+mn-ea"/>
                <a:cs typeface="+mn-cs"/>
              </a:rPr>
              <a:t>和爱立信的协议还包括</a:t>
            </a:r>
            <a:r>
              <a:rPr lang="en-US" altLang="zh-CN" sz="1200" b="0" i="0" kern="1200" dirty="0" smtClean="0">
                <a:solidFill>
                  <a:schemeClr val="tx1"/>
                </a:solidFill>
                <a:effectLst/>
                <a:latin typeface="+mn-lt"/>
                <a:ea typeface="+mn-ea"/>
                <a:cs typeface="+mn-cs"/>
              </a:rPr>
              <a:t>5G</a:t>
            </a:r>
            <a:r>
              <a:rPr lang="zh-CN" altLang="en-US" sz="1200" b="0" i="0" kern="1200" dirty="0" smtClean="0">
                <a:solidFill>
                  <a:schemeClr val="tx1"/>
                </a:solidFill>
                <a:effectLst/>
                <a:latin typeface="+mn-lt"/>
                <a:ea typeface="+mn-ea"/>
                <a:cs typeface="+mn-cs"/>
              </a:rPr>
              <a:t>相关项目的一系列业务合作，例如设备测试、顾客融入和在</a:t>
            </a:r>
            <a:r>
              <a:rPr lang="en-US" altLang="zh-CN" sz="1200" b="0" i="0" kern="1200" dirty="0" smtClean="0">
                <a:solidFill>
                  <a:schemeClr val="tx1"/>
                </a:solidFill>
                <a:effectLst/>
                <a:latin typeface="+mn-lt"/>
                <a:ea typeface="+mn-ea"/>
                <a:cs typeface="+mn-cs"/>
              </a:rPr>
              <a:t>MWC 2019</a:t>
            </a:r>
            <a:r>
              <a:rPr lang="zh-CN" altLang="en-US" sz="1200" b="0" i="0" kern="1200" dirty="0" smtClean="0">
                <a:solidFill>
                  <a:schemeClr val="tx1"/>
                </a:solidFill>
                <a:effectLst/>
                <a:latin typeface="+mn-lt"/>
                <a:ea typeface="+mn-ea"/>
                <a:cs typeface="+mn-cs"/>
              </a:rPr>
              <a:t>展会上的展示活动。</a:t>
            </a:r>
          </a:p>
          <a:p>
            <a:endParaRPr lang="zh-CN" altLang="en-US" dirty="0"/>
          </a:p>
        </p:txBody>
      </p:sp>
      <p:sp>
        <p:nvSpPr>
          <p:cNvPr id="4" name="灯片编号占位符 3"/>
          <p:cNvSpPr>
            <a:spLocks noGrp="1"/>
          </p:cNvSpPr>
          <p:nvPr>
            <p:ph type="sldNum" sz="quarter" idx="10"/>
          </p:nvPr>
        </p:nvSpPr>
        <p:spPr/>
        <p:txBody>
          <a:bodyPr/>
          <a:lstStyle/>
          <a:p>
            <a:fld id="{BB026339-B709-4D51-8748-4011E9368DCB}" type="slidenum">
              <a:rPr lang="zh-CN" altLang="en-US" smtClean="0"/>
              <a:pPr/>
              <a:t>3</a:t>
            </a:fld>
            <a:endParaRPr lang="zh-CN" altLang="en-US"/>
          </a:p>
        </p:txBody>
      </p:sp>
    </p:spTree>
    <p:extLst>
      <p:ext uri="{BB962C8B-B14F-4D97-AF65-F5344CB8AC3E}">
        <p14:creationId xmlns:p14="http://schemas.microsoft.com/office/powerpoint/2010/main" val="3684700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BB026339-B709-4D51-8748-4011E9368DCB}" type="slidenum">
              <a:rPr lang="zh-CN" altLang="en-US" smtClean="0"/>
              <a:pPr/>
              <a:t>4</a:t>
            </a:fld>
            <a:endParaRPr lang="zh-CN" altLang="en-US"/>
          </a:p>
        </p:txBody>
      </p:sp>
    </p:spTree>
    <p:extLst>
      <p:ext uri="{BB962C8B-B14F-4D97-AF65-F5344CB8AC3E}">
        <p14:creationId xmlns:p14="http://schemas.microsoft.com/office/powerpoint/2010/main" val="15228067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smtClean="0">
                <a:latin typeface="Times New Roman" panose="02020603050405020304" pitchFamily="18" charset="0"/>
                <a:cs typeface="Times New Roman" panose="02020603050405020304" pitchFamily="18" charset="0"/>
              </a:rPr>
              <a:t>. </a:t>
            </a:r>
            <a:endParaRPr lang="zh-CN" altLang="en-US" dirty="0"/>
          </a:p>
        </p:txBody>
      </p:sp>
      <p:sp>
        <p:nvSpPr>
          <p:cNvPr id="4" name="灯片编号占位符 3"/>
          <p:cNvSpPr>
            <a:spLocks noGrp="1"/>
          </p:cNvSpPr>
          <p:nvPr>
            <p:ph type="sldNum" sz="quarter" idx="10"/>
          </p:nvPr>
        </p:nvSpPr>
        <p:spPr/>
        <p:txBody>
          <a:bodyPr/>
          <a:lstStyle/>
          <a:p>
            <a:fld id="{BB026339-B709-4D51-8748-4011E9368DCB}" type="slidenum">
              <a:rPr lang="zh-CN" altLang="en-US" smtClean="0"/>
              <a:pPr/>
              <a:t>6</a:t>
            </a:fld>
            <a:endParaRPr lang="zh-CN" altLang="en-US"/>
          </a:p>
        </p:txBody>
      </p:sp>
    </p:spTree>
    <p:extLst>
      <p:ext uri="{BB962C8B-B14F-4D97-AF65-F5344CB8AC3E}">
        <p14:creationId xmlns:p14="http://schemas.microsoft.com/office/powerpoint/2010/main" val="13679782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smtClean="0">
                <a:latin typeface="Times New Roman" panose="02020603050405020304" pitchFamily="18" charset="0"/>
                <a:cs typeface="Times New Roman" panose="02020603050405020304" pitchFamily="18" charset="0"/>
              </a:rPr>
              <a:t>Under </a:t>
            </a:r>
            <a:r>
              <a:rPr lang="en-US" altLang="zh-CN" dirty="0" err="1" smtClean="0">
                <a:latin typeface="Times New Roman" panose="02020603050405020304" pitchFamily="18" charset="0"/>
                <a:cs typeface="Times New Roman" panose="02020603050405020304" pitchFamily="18" charset="0"/>
              </a:rPr>
              <a:t>noncooperative</a:t>
            </a:r>
            <a:r>
              <a:rPr lang="en-US" altLang="zh-CN" dirty="0" smtClean="0">
                <a:latin typeface="Times New Roman" panose="02020603050405020304" pitchFamily="18" charset="0"/>
                <a:cs typeface="Times New Roman" panose="02020603050405020304" pitchFamily="18" charset="0"/>
              </a:rPr>
              <a:t> R&amp;D strategy, manufacturers decide on their own individual R&amp;D output levels simultaneously to maximize their corresponding </a:t>
            </a:r>
            <a:r>
              <a:rPr lang="en-US" altLang="zh-CN" dirty="0" err="1" smtClean="0">
                <a:latin typeface="Times New Roman" panose="02020603050405020304" pitchFamily="18" charset="0"/>
                <a:cs typeface="Times New Roman" panose="02020603050405020304" pitchFamily="18" charset="0"/>
              </a:rPr>
              <a:t>prots</a:t>
            </a:r>
            <a:r>
              <a:rPr lang="en-US" altLang="zh-CN" dirty="0" smtClean="0">
                <a:latin typeface="Times New Roman" panose="02020603050405020304" pitchFamily="18" charset="0"/>
                <a:cs typeface="Times New Roman" panose="02020603050405020304" pitchFamily="18" charset="0"/>
              </a:rPr>
              <a:t>. Under cooperative R&amp;D strategy, two manufacturers decides on their R&amp;D output levels jointly so as to maximize their total profit.</a:t>
            </a:r>
            <a:endParaRPr lang="zh-CN" altLang="en-US" dirty="0" smtClean="0">
              <a:latin typeface="Times New Roman" panose="02020603050405020304" pitchFamily="18" charset="0"/>
              <a:cs typeface="Times New Roman" panose="02020603050405020304" pitchFamily="18" charset="0"/>
            </a:endParaRPr>
          </a:p>
          <a:p>
            <a:endParaRPr kumimoji="1" lang="zh-CN" altLang="en-US" dirty="0"/>
          </a:p>
        </p:txBody>
      </p:sp>
      <p:sp>
        <p:nvSpPr>
          <p:cNvPr id="4" name="幻灯片编号占位符 3"/>
          <p:cNvSpPr>
            <a:spLocks noGrp="1"/>
          </p:cNvSpPr>
          <p:nvPr>
            <p:ph type="sldNum" sz="quarter" idx="10"/>
          </p:nvPr>
        </p:nvSpPr>
        <p:spPr/>
        <p:txBody>
          <a:bodyPr/>
          <a:lstStyle/>
          <a:p>
            <a:fld id="{BB026339-B709-4D51-8748-4011E9368DCB}" type="slidenum">
              <a:rPr lang="zh-CN" altLang="en-US" smtClean="0"/>
              <a:pPr/>
              <a:t>10</a:t>
            </a:fld>
            <a:endParaRPr lang="zh-CN" altLang="en-US"/>
          </a:p>
        </p:txBody>
      </p:sp>
    </p:spTree>
    <p:extLst>
      <p:ext uri="{BB962C8B-B14F-4D97-AF65-F5344CB8AC3E}">
        <p14:creationId xmlns:p14="http://schemas.microsoft.com/office/powerpoint/2010/main" val="21487781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B026339-B709-4D51-8748-4011E9368DCB}" type="slidenum">
              <a:rPr lang="zh-CN" altLang="en-US" smtClean="0"/>
              <a:pPr/>
              <a:t>17</a:t>
            </a:fld>
            <a:endParaRPr lang="zh-CN" altLang="en-US"/>
          </a:p>
        </p:txBody>
      </p:sp>
    </p:spTree>
    <p:extLst>
      <p:ext uri="{BB962C8B-B14F-4D97-AF65-F5344CB8AC3E}">
        <p14:creationId xmlns:p14="http://schemas.microsoft.com/office/powerpoint/2010/main" val="6123345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B026339-B709-4D51-8748-4011E9368DCB}" type="slidenum">
              <a:rPr lang="zh-CN" altLang="en-US" smtClean="0"/>
              <a:pPr/>
              <a:t>20</a:t>
            </a:fld>
            <a:endParaRPr lang="zh-CN" altLang="en-US"/>
          </a:p>
        </p:txBody>
      </p:sp>
    </p:spTree>
    <p:extLst>
      <p:ext uri="{BB962C8B-B14F-4D97-AF65-F5344CB8AC3E}">
        <p14:creationId xmlns:p14="http://schemas.microsoft.com/office/powerpoint/2010/main" val="18405697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B026339-B709-4D51-8748-4011E9368DCB}" type="slidenum">
              <a:rPr lang="zh-CN" altLang="en-US" smtClean="0"/>
              <a:pPr/>
              <a:t>21</a:t>
            </a:fld>
            <a:endParaRPr lang="zh-CN" altLang="en-US"/>
          </a:p>
        </p:txBody>
      </p:sp>
    </p:spTree>
    <p:extLst>
      <p:ext uri="{BB962C8B-B14F-4D97-AF65-F5344CB8AC3E}">
        <p14:creationId xmlns:p14="http://schemas.microsoft.com/office/powerpoint/2010/main" val="38471384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B026339-B709-4D51-8748-4011E9368DCB}" type="slidenum">
              <a:rPr lang="zh-CN" altLang="en-US" smtClean="0"/>
              <a:pPr/>
              <a:t>22</a:t>
            </a:fld>
            <a:endParaRPr lang="zh-CN" altLang="en-US"/>
          </a:p>
        </p:txBody>
      </p:sp>
    </p:spTree>
    <p:extLst>
      <p:ext uri="{BB962C8B-B14F-4D97-AF65-F5344CB8AC3E}">
        <p14:creationId xmlns:p14="http://schemas.microsoft.com/office/powerpoint/2010/main" val="38471384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Oval 6"/>
          <p:cNvSpPr>
            <a:spLocks noChangeArrowheads="1"/>
          </p:cNvSpPr>
          <p:nvPr/>
        </p:nvSpPr>
        <p:spPr bwMode="auto">
          <a:xfrm>
            <a:off x="228600" y="1635125"/>
            <a:ext cx="2514600" cy="2514600"/>
          </a:xfrm>
          <a:prstGeom prst="ellipse">
            <a:avLst/>
          </a:prstGeom>
          <a:noFill/>
          <a:ln w="12700">
            <a:solidFill>
              <a:schemeClr val="accent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eaLnBrk="1" fontAlgn="base" hangingPunct="1">
              <a:spcBef>
                <a:spcPct val="0"/>
              </a:spcBef>
              <a:spcAft>
                <a:spcPct val="0"/>
              </a:spcAft>
            </a:pPr>
            <a:endParaRPr lang="zh-CN" altLang="zh-CN">
              <a:solidFill>
                <a:srgbClr val="292929"/>
              </a:solidFill>
              <a:latin typeface="Arial" panose="020B0604020202020204" pitchFamily="34" charset="0"/>
            </a:endParaRPr>
          </a:p>
        </p:txBody>
      </p:sp>
      <p:sp>
        <p:nvSpPr>
          <p:cNvPr id="5" name="Rectangle 7"/>
          <p:cNvSpPr>
            <a:spLocks noChangeArrowheads="1"/>
          </p:cNvSpPr>
          <p:nvPr/>
        </p:nvSpPr>
        <p:spPr bwMode="hidden">
          <a:xfrm>
            <a:off x="0" y="2397125"/>
            <a:ext cx="4724400" cy="1143000"/>
          </a:xfrm>
          <a:prstGeom prst="rect">
            <a:avLst/>
          </a:prstGeom>
          <a:solidFill>
            <a:schemeClr val="accent2"/>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eaLnBrk="1" fontAlgn="base" hangingPunct="1">
              <a:spcBef>
                <a:spcPct val="0"/>
              </a:spcBef>
              <a:spcAft>
                <a:spcPct val="0"/>
              </a:spcAft>
            </a:pPr>
            <a:endParaRPr lang="zh-CN" altLang="zh-CN" sz="2400">
              <a:solidFill>
                <a:srgbClr val="292929"/>
              </a:solidFill>
            </a:endParaRPr>
          </a:p>
        </p:txBody>
      </p:sp>
      <p:sp>
        <p:nvSpPr>
          <p:cNvPr id="6" name="Rectangle 8"/>
          <p:cNvSpPr>
            <a:spLocks noChangeArrowheads="1"/>
          </p:cNvSpPr>
          <p:nvPr/>
        </p:nvSpPr>
        <p:spPr bwMode="hidden">
          <a:xfrm>
            <a:off x="3962400" y="2397125"/>
            <a:ext cx="4724400" cy="1143000"/>
          </a:xfrm>
          <a:prstGeom prst="rect">
            <a:avLst/>
          </a:prstGeom>
          <a:gradFill rotWithShape="0">
            <a:gsLst>
              <a:gs pos="0">
                <a:schemeClr val="accent2"/>
              </a:gs>
              <a:gs pos="100000">
                <a:schemeClr val="bg1"/>
              </a:gs>
            </a:gsLst>
            <a:lin ang="0" scaled="1"/>
          </a:gra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eaLnBrk="1" fontAlgn="base" hangingPunct="1">
              <a:spcBef>
                <a:spcPct val="0"/>
              </a:spcBef>
              <a:spcAft>
                <a:spcPct val="0"/>
              </a:spcAft>
            </a:pPr>
            <a:endParaRPr lang="zh-CN" altLang="zh-CN" sz="2400">
              <a:solidFill>
                <a:srgbClr val="292929"/>
              </a:solidFill>
            </a:endParaRPr>
          </a:p>
        </p:txBody>
      </p:sp>
      <p:pic>
        <p:nvPicPr>
          <p:cNvPr id="7" name="Picture 10" descr="tow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42088" y="188913"/>
            <a:ext cx="1990725" cy="10953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8" name="Picture 11" descr="NJU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413" y="260350"/>
            <a:ext cx="2303462" cy="9048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9"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288" y="6092825"/>
            <a:ext cx="9117012" cy="285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0"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268413"/>
            <a:ext cx="9117013" cy="285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89442" name="Rectangle 2"/>
          <p:cNvSpPr>
            <a:spLocks noGrp="1" noChangeArrowheads="1"/>
          </p:cNvSpPr>
          <p:nvPr>
            <p:ph type="subTitle" idx="1"/>
          </p:nvPr>
        </p:nvSpPr>
        <p:spPr>
          <a:xfrm>
            <a:off x="3059113" y="4149725"/>
            <a:ext cx="5184775" cy="1336675"/>
          </a:xfrm>
        </p:spPr>
        <p:txBody>
          <a:bodyPr/>
          <a:lstStyle>
            <a:lvl1pPr marL="0" indent="0">
              <a:buFont typeface="Wingdings" pitchFamily="2" charset="2"/>
              <a:buNone/>
              <a:defRPr/>
            </a:lvl1pPr>
          </a:lstStyle>
          <a:p>
            <a:r>
              <a:rPr lang="zh-CN" altLang="en-US"/>
              <a:t>单击此处编辑母版副标题样式</a:t>
            </a:r>
          </a:p>
        </p:txBody>
      </p:sp>
      <p:sp>
        <p:nvSpPr>
          <p:cNvPr id="189449" name="Rectangle 9"/>
          <p:cNvSpPr>
            <a:spLocks noGrp="1" noChangeArrowheads="1"/>
          </p:cNvSpPr>
          <p:nvPr>
            <p:ph type="ctrTitle"/>
          </p:nvPr>
        </p:nvSpPr>
        <p:spPr>
          <a:xfrm>
            <a:off x="838200" y="2163763"/>
            <a:ext cx="7405688" cy="1600200"/>
          </a:xfrm>
        </p:spPr>
        <p:txBody>
          <a:bodyPr anchor="ctr"/>
          <a:lstStyle>
            <a:lvl1pPr>
              <a:defRPr/>
            </a:lvl1pPr>
          </a:lstStyle>
          <a:p>
            <a:r>
              <a:rPr lang="zh-CN" altLang="en-US"/>
              <a:t>单击此处编辑母版标题样式</a:t>
            </a:r>
          </a:p>
        </p:txBody>
      </p:sp>
      <p:sp>
        <p:nvSpPr>
          <p:cNvPr id="11" name="Rectangle 3"/>
          <p:cNvSpPr>
            <a:spLocks noGrp="1" noChangeArrowheads="1"/>
          </p:cNvSpPr>
          <p:nvPr>
            <p:ph type="dt" sz="half" idx="10"/>
          </p:nvPr>
        </p:nvSpPr>
        <p:spPr>
          <a:xfrm>
            <a:off x="685800" y="6284913"/>
            <a:ext cx="1293813" cy="457200"/>
          </a:xfrm>
        </p:spPr>
        <p:txBody>
          <a:bodyPr anchor="t"/>
          <a:lstStyle>
            <a:lvl1pPr>
              <a:defRPr sz="1600"/>
            </a:lvl1pPr>
          </a:lstStyle>
          <a:p>
            <a:pPr>
              <a:defRPr/>
            </a:pPr>
            <a:fld id="{4624DE07-8CD7-478F-9E8F-2AC548AB674A}" type="datetime4">
              <a:rPr lang="en-US" altLang="zh-CN" smtClean="0">
                <a:solidFill>
                  <a:srgbClr val="292929"/>
                </a:solidFill>
              </a:rPr>
              <a:t>April 25, 2019</a:t>
            </a:fld>
            <a:endParaRPr lang="en-US" altLang="zh-CN">
              <a:solidFill>
                <a:srgbClr val="292929"/>
              </a:solidFill>
            </a:endParaRPr>
          </a:p>
        </p:txBody>
      </p:sp>
      <p:sp>
        <p:nvSpPr>
          <p:cNvPr id="12" name="Rectangle 4"/>
          <p:cNvSpPr>
            <a:spLocks noGrp="1" noChangeArrowheads="1"/>
          </p:cNvSpPr>
          <p:nvPr>
            <p:ph type="ftr" sz="quarter" idx="11"/>
          </p:nvPr>
        </p:nvSpPr>
        <p:spPr>
          <a:xfrm>
            <a:off x="2195513" y="6237288"/>
            <a:ext cx="5113337" cy="504825"/>
          </a:xfrm>
        </p:spPr>
        <p:txBody>
          <a:bodyPr/>
          <a:lstStyle>
            <a:lvl1pPr>
              <a:defRPr sz="1600">
                <a:solidFill>
                  <a:schemeClr val="tx1"/>
                </a:solidFill>
              </a:defRPr>
            </a:lvl1pPr>
          </a:lstStyle>
          <a:p>
            <a:pPr>
              <a:defRPr/>
            </a:pPr>
            <a:r>
              <a:rPr lang="en-US" altLang="zh-CN" smtClean="0">
                <a:solidFill>
                  <a:srgbClr val="292929"/>
                </a:solidFill>
              </a:rPr>
              <a:t>Xiaolin Xu</a:t>
            </a:r>
            <a:r>
              <a:rPr lang="zh-CN" altLang="en-US" smtClean="0">
                <a:solidFill>
                  <a:srgbClr val="292929"/>
                </a:solidFill>
              </a:rPr>
              <a:t>（ </a:t>
            </a:r>
            <a:r>
              <a:rPr lang="en-US" altLang="zh-CN" smtClean="0">
                <a:solidFill>
                  <a:srgbClr val="292929"/>
                </a:solidFill>
              </a:rPr>
              <a:t>Nanjing University </a:t>
            </a:r>
            <a:r>
              <a:rPr lang="zh-CN" altLang="en-US" smtClean="0">
                <a:solidFill>
                  <a:srgbClr val="292929"/>
                </a:solidFill>
              </a:rPr>
              <a:t>）</a:t>
            </a:r>
            <a:endParaRPr lang="en-US" altLang="zh-CN">
              <a:solidFill>
                <a:srgbClr val="292929"/>
              </a:solidFill>
            </a:endParaRPr>
          </a:p>
        </p:txBody>
      </p:sp>
      <p:sp>
        <p:nvSpPr>
          <p:cNvPr id="13" name="Rectangle 5"/>
          <p:cNvSpPr>
            <a:spLocks noGrp="1" noChangeArrowheads="1"/>
          </p:cNvSpPr>
          <p:nvPr>
            <p:ph type="sldNum" sz="quarter" idx="12"/>
          </p:nvPr>
        </p:nvSpPr>
        <p:spPr>
          <a:xfrm>
            <a:off x="7524750" y="6284913"/>
            <a:ext cx="933450" cy="457200"/>
          </a:xfrm>
        </p:spPr>
        <p:txBody>
          <a:bodyPr anchor="t"/>
          <a:lstStyle>
            <a:lvl1pPr>
              <a:defRPr sz="1600"/>
            </a:lvl1pPr>
          </a:lstStyle>
          <a:p>
            <a:fld id="{50087F75-20C6-4A15-A799-FE5C367A592D}" type="slidenum">
              <a:rPr lang="en-US" altLang="zh-CN">
                <a:solidFill>
                  <a:srgbClr val="292929"/>
                </a:solidFill>
              </a:rPr>
              <a:pPr/>
              <a:t>‹#›</a:t>
            </a:fld>
            <a:endParaRPr lang="en-US" altLang="zh-CN">
              <a:solidFill>
                <a:srgbClr val="292929"/>
              </a:solidFill>
            </a:endParaRPr>
          </a:p>
        </p:txBody>
      </p:sp>
    </p:spTree>
    <p:extLst>
      <p:ext uri="{BB962C8B-B14F-4D97-AF65-F5344CB8AC3E}">
        <p14:creationId xmlns:p14="http://schemas.microsoft.com/office/powerpoint/2010/main" val="1240333735"/>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7"/>
          <p:cNvSpPr>
            <a:spLocks noGrp="1" noChangeArrowheads="1"/>
          </p:cNvSpPr>
          <p:nvPr>
            <p:ph type="dt" sz="half" idx="10"/>
          </p:nvPr>
        </p:nvSpPr>
        <p:spPr>
          <a:ln/>
        </p:spPr>
        <p:txBody>
          <a:bodyPr/>
          <a:lstStyle>
            <a:lvl1pPr>
              <a:defRPr/>
            </a:lvl1pPr>
          </a:lstStyle>
          <a:p>
            <a:pPr>
              <a:defRPr/>
            </a:pPr>
            <a:fld id="{FFCD90BB-1B0D-4215-9A3F-C652F5BCBFB1}" type="datetime4">
              <a:rPr lang="en-US" altLang="zh-CN" smtClean="0">
                <a:solidFill>
                  <a:srgbClr val="292929"/>
                </a:solidFill>
              </a:rPr>
              <a:t>April 25, 2019</a:t>
            </a:fld>
            <a:endParaRPr lang="en-US" altLang="zh-CN">
              <a:solidFill>
                <a:srgbClr val="292929"/>
              </a:solidFill>
            </a:endParaRPr>
          </a:p>
        </p:txBody>
      </p:sp>
      <p:sp>
        <p:nvSpPr>
          <p:cNvPr id="5" name="Rectangle 8"/>
          <p:cNvSpPr>
            <a:spLocks noGrp="1" noChangeArrowheads="1"/>
          </p:cNvSpPr>
          <p:nvPr>
            <p:ph type="ftr" sz="quarter" idx="11"/>
          </p:nvPr>
        </p:nvSpPr>
        <p:spPr>
          <a:ln/>
        </p:spPr>
        <p:txBody>
          <a:bodyPr/>
          <a:lstStyle>
            <a:lvl1pPr>
              <a:defRPr/>
            </a:lvl1pPr>
          </a:lstStyle>
          <a:p>
            <a:pPr>
              <a:defRPr/>
            </a:pPr>
            <a:r>
              <a:rPr lang="en-US" altLang="zh-CN" smtClean="0"/>
              <a:t>Xiaolin Xu</a:t>
            </a:r>
            <a:r>
              <a:rPr lang="zh-CN" altLang="en-US" smtClean="0"/>
              <a:t>（ </a:t>
            </a:r>
            <a:r>
              <a:rPr lang="en-US" altLang="zh-CN" smtClean="0"/>
              <a:t>Nanjing University </a:t>
            </a:r>
            <a:r>
              <a:rPr lang="zh-CN" altLang="en-US" smtClean="0"/>
              <a:t>）</a:t>
            </a:r>
            <a:endParaRPr lang="en-US" altLang="zh-CN"/>
          </a:p>
        </p:txBody>
      </p:sp>
      <p:sp>
        <p:nvSpPr>
          <p:cNvPr id="6" name="Rectangle 9"/>
          <p:cNvSpPr>
            <a:spLocks noGrp="1" noChangeArrowheads="1"/>
          </p:cNvSpPr>
          <p:nvPr>
            <p:ph type="sldNum" sz="quarter" idx="12"/>
          </p:nvPr>
        </p:nvSpPr>
        <p:spPr>
          <a:ln/>
        </p:spPr>
        <p:txBody>
          <a:bodyPr/>
          <a:lstStyle>
            <a:lvl1pPr>
              <a:defRPr/>
            </a:lvl1pPr>
          </a:lstStyle>
          <a:p>
            <a:fld id="{71E37E66-47ED-4E23-B805-CF9315C51031}" type="slidenum">
              <a:rPr lang="en-US" altLang="zh-CN">
                <a:solidFill>
                  <a:srgbClr val="292929"/>
                </a:solidFill>
              </a:rPr>
              <a:pPr/>
              <a:t>‹#›</a:t>
            </a:fld>
            <a:endParaRPr lang="en-US" altLang="zh-CN">
              <a:solidFill>
                <a:srgbClr val="292929"/>
              </a:solidFill>
            </a:endParaRPr>
          </a:p>
        </p:txBody>
      </p:sp>
    </p:spTree>
    <p:extLst>
      <p:ext uri="{BB962C8B-B14F-4D97-AF65-F5344CB8AC3E}">
        <p14:creationId xmlns:p14="http://schemas.microsoft.com/office/powerpoint/2010/main" val="1951860067"/>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7"/>
          <p:cNvSpPr>
            <a:spLocks noGrp="1" noChangeArrowheads="1"/>
          </p:cNvSpPr>
          <p:nvPr>
            <p:ph type="dt" sz="half" idx="10"/>
          </p:nvPr>
        </p:nvSpPr>
        <p:spPr>
          <a:ln/>
        </p:spPr>
        <p:txBody>
          <a:bodyPr/>
          <a:lstStyle>
            <a:lvl1pPr>
              <a:defRPr/>
            </a:lvl1pPr>
          </a:lstStyle>
          <a:p>
            <a:pPr>
              <a:defRPr/>
            </a:pPr>
            <a:fld id="{57E67EB5-F418-43E0-AC78-1C884F72100B}" type="datetime4">
              <a:rPr lang="en-US" altLang="zh-CN" smtClean="0">
                <a:solidFill>
                  <a:srgbClr val="292929"/>
                </a:solidFill>
              </a:rPr>
              <a:t>April 25, 2019</a:t>
            </a:fld>
            <a:endParaRPr lang="en-US" altLang="zh-CN">
              <a:solidFill>
                <a:srgbClr val="292929"/>
              </a:solidFill>
            </a:endParaRPr>
          </a:p>
        </p:txBody>
      </p:sp>
      <p:sp>
        <p:nvSpPr>
          <p:cNvPr id="5" name="Rectangle 8"/>
          <p:cNvSpPr>
            <a:spLocks noGrp="1" noChangeArrowheads="1"/>
          </p:cNvSpPr>
          <p:nvPr>
            <p:ph type="ftr" sz="quarter" idx="11"/>
          </p:nvPr>
        </p:nvSpPr>
        <p:spPr>
          <a:ln/>
        </p:spPr>
        <p:txBody>
          <a:bodyPr/>
          <a:lstStyle>
            <a:lvl1pPr>
              <a:defRPr/>
            </a:lvl1pPr>
          </a:lstStyle>
          <a:p>
            <a:pPr>
              <a:defRPr/>
            </a:pPr>
            <a:r>
              <a:rPr lang="en-US" altLang="zh-CN" smtClean="0"/>
              <a:t>Xiaolin Xu</a:t>
            </a:r>
            <a:r>
              <a:rPr lang="zh-CN" altLang="en-US" smtClean="0"/>
              <a:t>（ </a:t>
            </a:r>
            <a:r>
              <a:rPr lang="en-US" altLang="zh-CN" smtClean="0"/>
              <a:t>Nanjing University </a:t>
            </a:r>
            <a:r>
              <a:rPr lang="zh-CN" altLang="en-US" smtClean="0"/>
              <a:t>）</a:t>
            </a:r>
            <a:endParaRPr lang="en-US" altLang="zh-CN"/>
          </a:p>
        </p:txBody>
      </p:sp>
      <p:sp>
        <p:nvSpPr>
          <p:cNvPr id="6" name="Rectangle 9"/>
          <p:cNvSpPr>
            <a:spLocks noGrp="1" noChangeArrowheads="1"/>
          </p:cNvSpPr>
          <p:nvPr>
            <p:ph type="sldNum" sz="quarter" idx="12"/>
          </p:nvPr>
        </p:nvSpPr>
        <p:spPr>
          <a:ln/>
        </p:spPr>
        <p:txBody>
          <a:bodyPr/>
          <a:lstStyle>
            <a:lvl1pPr>
              <a:defRPr/>
            </a:lvl1pPr>
          </a:lstStyle>
          <a:p>
            <a:fld id="{21489663-FD06-41C0-8CFB-8634C62D9024}" type="slidenum">
              <a:rPr lang="en-US" altLang="zh-CN">
                <a:solidFill>
                  <a:srgbClr val="292929"/>
                </a:solidFill>
              </a:rPr>
              <a:pPr/>
              <a:t>‹#›</a:t>
            </a:fld>
            <a:endParaRPr lang="en-US" altLang="zh-CN">
              <a:solidFill>
                <a:srgbClr val="292929"/>
              </a:solidFill>
            </a:endParaRPr>
          </a:p>
        </p:txBody>
      </p:sp>
    </p:spTree>
    <p:extLst>
      <p:ext uri="{BB962C8B-B14F-4D97-AF65-F5344CB8AC3E}">
        <p14:creationId xmlns:p14="http://schemas.microsoft.com/office/powerpoint/2010/main" val="459352388"/>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68313" y="1125538"/>
            <a:ext cx="3994150" cy="52562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14863" y="1125538"/>
            <a:ext cx="3995737" cy="52562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7"/>
          <p:cNvSpPr>
            <a:spLocks noGrp="1" noChangeArrowheads="1"/>
          </p:cNvSpPr>
          <p:nvPr>
            <p:ph type="dt" sz="half" idx="10"/>
          </p:nvPr>
        </p:nvSpPr>
        <p:spPr>
          <a:ln/>
        </p:spPr>
        <p:txBody>
          <a:bodyPr/>
          <a:lstStyle>
            <a:lvl1pPr>
              <a:defRPr/>
            </a:lvl1pPr>
          </a:lstStyle>
          <a:p>
            <a:pPr>
              <a:defRPr/>
            </a:pPr>
            <a:fld id="{DE6EB118-A3D2-4B0F-BF32-4A9B1AECDCA7}" type="datetime4">
              <a:rPr lang="en-US" altLang="zh-CN" smtClean="0">
                <a:solidFill>
                  <a:srgbClr val="292929"/>
                </a:solidFill>
              </a:rPr>
              <a:t>April 25, 2019</a:t>
            </a:fld>
            <a:endParaRPr lang="en-US" altLang="zh-CN">
              <a:solidFill>
                <a:srgbClr val="292929"/>
              </a:solidFill>
            </a:endParaRPr>
          </a:p>
        </p:txBody>
      </p:sp>
      <p:sp>
        <p:nvSpPr>
          <p:cNvPr id="6" name="Rectangle 8"/>
          <p:cNvSpPr>
            <a:spLocks noGrp="1" noChangeArrowheads="1"/>
          </p:cNvSpPr>
          <p:nvPr>
            <p:ph type="ftr" sz="quarter" idx="11"/>
          </p:nvPr>
        </p:nvSpPr>
        <p:spPr>
          <a:ln/>
        </p:spPr>
        <p:txBody>
          <a:bodyPr/>
          <a:lstStyle>
            <a:lvl1pPr>
              <a:defRPr/>
            </a:lvl1pPr>
          </a:lstStyle>
          <a:p>
            <a:pPr>
              <a:defRPr/>
            </a:pPr>
            <a:r>
              <a:rPr lang="en-US" altLang="zh-CN" smtClean="0"/>
              <a:t>Xiaolin Xu</a:t>
            </a:r>
            <a:r>
              <a:rPr lang="zh-CN" altLang="en-US" smtClean="0"/>
              <a:t>（ </a:t>
            </a:r>
            <a:r>
              <a:rPr lang="en-US" altLang="zh-CN" smtClean="0"/>
              <a:t>Nanjing University </a:t>
            </a:r>
            <a:r>
              <a:rPr lang="zh-CN" altLang="en-US" smtClean="0"/>
              <a:t>）</a:t>
            </a:r>
            <a:endParaRPr lang="en-US" altLang="zh-CN"/>
          </a:p>
        </p:txBody>
      </p:sp>
      <p:sp>
        <p:nvSpPr>
          <p:cNvPr id="7" name="Rectangle 9"/>
          <p:cNvSpPr>
            <a:spLocks noGrp="1" noChangeArrowheads="1"/>
          </p:cNvSpPr>
          <p:nvPr>
            <p:ph type="sldNum" sz="quarter" idx="12"/>
          </p:nvPr>
        </p:nvSpPr>
        <p:spPr>
          <a:ln/>
        </p:spPr>
        <p:txBody>
          <a:bodyPr/>
          <a:lstStyle>
            <a:lvl1pPr>
              <a:defRPr/>
            </a:lvl1pPr>
          </a:lstStyle>
          <a:p>
            <a:fld id="{C7712EAD-2526-4EBE-8B29-F222F22F0622}" type="slidenum">
              <a:rPr lang="en-US" altLang="zh-CN">
                <a:solidFill>
                  <a:srgbClr val="292929"/>
                </a:solidFill>
              </a:rPr>
              <a:pPr/>
              <a:t>‹#›</a:t>
            </a:fld>
            <a:endParaRPr lang="en-US" altLang="zh-CN">
              <a:solidFill>
                <a:srgbClr val="292929"/>
              </a:solidFill>
            </a:endParaRPr>
          </a:p>
        </p:txBody>
      </p:sp>
    </p:spTree>
    <p:extLst>
      <p:ext uri="{BB962C8B-B14F-4D97-AF65-F5344CB8AC3E}">
        <p14:creationId xmlns:p14="http://schemas.microsoft.com/office/powerpoint/2010/main" val="1379990292"/>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7"/>
          <p:cNvSpPr>
            <a:spLocks noGrp="1" noChangeArrowheads="1"/>
          </p:cNvSpPr>
          <p:nvPr>
            <p:ph type="dt" sz="half" idx="10"/>
          </p:nvPr>
        </p:nvSpPr>
        <p:spPr>
          <a:ln/>
        </p:spPr>
        <p:txBody>
          <a:bodyPr/>
          <a:lstStyle>
            <a:lvl1pPr>
              <a:defRPr/>
            </a:lvl1pPr>
          </a:lstStyle>
          <a:p>
            <a:pPr>
              <a:defRPr/>
            </a:pPr>
            <a:fld id="{ED9A544E-E702-4B4D-A1E7-CA20D52A2176}" type="datetime4">
              <a:rPr lang="en-US" altLang="zh-CN" smtClean="0">
                <a:solidFill>
                  <a:srgbClr val="292929"/>
                </a:solidFill>
              </a:rPr>
              <a:t>April 25, 2019</a:t>
            </a:fld>
            <a:endParaRPr lang="en-US" altLang="zh-CN">
              <a:solidFill>
                <a:srgbClr val="292929"/>
              </a:solidFill>
            </a:endParaRPr>
          </a:p>
        </p:txBody>
      </p:sp>
      <p:sp>
        <p:nvSpPr>
          <p:cNvPr id="8" name="Rectangle 8"/>
          <p:cNvSpPr>
            <a:spLocks noGrp="1" noChangeArrowheads="1"/>
          </p:cNvSpPr>
          <p:nvPr>
            <p:ph type="ftr" sz="quarter" idx="11"/>
          </p:nvPr>
        </p:nvSpPr>
        <p:spPr>
          <a:ln/>
        </p:spPr>
        <p:txBody>
          <a:bodyPr/>
          <a:lstStyle>
            <a:lvl1pPr>
              <a:defRPr/>
            </a:lvl1pPr>
          </a:lstStyle>
          <a:p>
            <a:pPr>
              <a:defRPr/>
            </a:pPr>
            <a:r>
              <a:rPr lang="en-US" altLang="zh-CN" smtClean="0"/>
              <a:t>Xiaolin Xu</a:t>
            </a:r>
            <a:r>
              <a:rPr lang="zh-CN" altLang="en-US" smtClean="0"/>
              <a:t>（ </a:t>
            </a:r>
            <a:r>
              <a:rPr lang="en-US" altLang="zh-CN" smtClean="0"/>
              <a:t>Nanjing University </a:t>
            </a:r>
            <a:r>
              <a:rPr lang="zh-CN" altLang="en-US" smtClean="0"/>
              <a:t>）</a:t>
            </a:r>
            <a:endParaRPr lang="en-US" altLang="zh-CN"/>
          </a:p>
        </p:txBody>
      </p:sp>
      <p:sp>
        <p:nvSpPr>
          <p:cNvPr id="9" name="Rectangle 9"/>
          <p:cNvSpPr>
            <a:spLocks noGrp="1" noChangeArrowheads="1"/>
          </p:cNvSpPr>
          <p:nvPr>
            <p:ph type="sldNum" sz="quarter" idx="12"/>
          </p:nvPr>
        </p:nvSpPr>
        <p:spPr>
          <a:ln/>
        </p:spPr>
        <p:txBody>
          <a:bodyPr/>
          <a:lstStyle>
            <a:lvl1pPr>
              <a:defRPr/>
            </a:lvl1pPr>
          </a:lstStyle>
          <a:p>
            <a:fld id="{94310F9D-00FA-4058-9A78-8AC762E39FB3}" type="slidenum">
              <a:rPr lang="en-US" altLang="zh-CN">
                <a:solidFill>
                  <a:srgbClr val="292929"/>
                </a:solidFill>
              </a:rPr>
              <a:pPr/>
              <a:t>‹#›</a:t>
            </a:fld>
            <a:endParaRPr lang="en-US" altLang="zh-CN">
              <a:solidFill>
                <a:srgbClr val="292929"/>
              </a:solidFill>
            </a:endParaRPr>
          </a:p>
        </p:txBody>
      </p:sp>
    </p:spTree>
    <p:extLst>
      <p:ext uri="{BB962C8B-B14F-4D97-AF65-F5344CB8AC3E}">
        <p14:creationId xmlns:p14="http://schemas.microsoft.com/office/powerpoint/2010/main" val="7750879"/>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7"/>
          <p:cNvSpPr>
            <a:spLocks noGrp="1" noChangeArrowheads="1"/>
          </p:cNvSpPr>
          <p:nvPr>
            <p:ph type="dt" sz="half" idx="10"/>
          </p:nvPr>
        </p:nvSpPr>
        <p:spPr>
          <a:ln/>
        </p:spPr>
        <p:txBody>
          <a:bodyPr/>
          <a:lstStyle>
            <a:lvl1pPr>
              <a:defRPr/>
            </a:lvl1pPr>
          </a:lstStyle>
          <a:p>
            <a:pPr>
              <a:defRPr/>
            </a:pPr>
            <a:fld id="{FB85EC9A-0C6B-4E26-AB67-883939997E4A}" type="datetime4">
              <a:rPr lang="en-US" altLang="zh-CN" smtClean="0">
                <a:solidFill>
                  <a:srgbClr val="292929"/>
                </a:solidFill>
              </a:rPr>
              <a:t>April 25, 2019</a:t>
            </a:fld>
            <a:endParaRPr lang="en-US" altLang="zh-CN">
              <a:solidFill>
                <a:srgbClr val="292929"/>
              </a:solidFill>
            </a:endParaRPr>
          </a:p>
        </p:txBody>
      </p:sp>
      <p:sp>
        <p:nvSpPr>
          <p:cNvPr id="4" name="Rectangle 8"/>
          <p:cNvSpPr>
            <a:spLocks noGrp="1" noChangeArrowheads="1"/>
          </p:cNvSpPr>
          <p:nvPr>
            <p:ph type="ftr" sz="quarter" idx="11"/>
          </p:nvPr>
        </p:nvSpPr>
        <p:spPr>
          <a:ln/>
        </p:spPr>
        <p:txBody>
          <a:bodyPr/>
          <a:lstStyle>
            <a:lvl1pPr>
              <a:defRPr/>
            </a:lvl1pPr>
          </a:lstStyle>
          <a:p>
            <a:pPr>
              <a:defRPr/>
            </a:pPr>
            <a:r>
              <a:rPr lang="en-US" altLang="zh-CN" smtClean="0"/>
              <a:t>Xiaolin Xu</a:t>
            </a:r>
            <a:r>
              <a:rPr lang="zh-CN" altLang="en-US" smtClean="0"/>
              <a:t>（ </a:t>
            </a:r>
            <a:r>
              <a:rPr lang="en-US" altLang="zh-CN" smtClean="0"/>
              <a:t>Nanjing University </a:t>
            </a:r>
            <a:r>
              <a:rPr lang="zh-CN" altLang="en-US" smtClean="0"/>
              <a:t>）</a:t>
            </a:r>
            <a:endParaRPr lang="en-US" altLang="zh-CN"/>
          </a:p>
        </p:txBody>
      </p:sp>
      <p:sp>
        <p:nvSpPr>
          <p:cNvPr id="5" name="Rectangle 9"/>
          <p:cNvSpPr>
            <a:spLocks noGrp="1" noChangeArrowheads="1"/>
          </p:cNvSpPr>
          <p:nvPr>
            <p:ph type="sldNum" sz="quarter" idx="12"/>
          </p:nvPr>
        </p:nvSpPr>
        <p:spPr>
          <a:ln/>
        </p:spPr>
        <p:txBody>
          <a:bodyPr/>
          <a:lstStyle>
            <a:lvl1pPr>
              <a:defRPr/>
            </a:lvl1pPr>
          </a:lstStyle>
          <a:p>
            <a:fld id="{10554F2B-D432-4421-8711-801C2F4DC0BB}" type="slidenum">
              <a:rPr lang="en-US" altLang="zh-CN">
                <a:solidFill>
                  <a:srgbClr val="292929"/>
                </a:solidFill>
              </a:rPr>
              <a:pPr/>
              <a:t>‹#›</a:t>
            </a:fld>
            <a:endParaRPr lang="en-US" altLang="zh-CN">
              <a:solidFill>
                <a:srgbClr val="292929"/>
              </a:solidFill>
            </a:endParaRPr>
          </a:p>
        </p:txBody>
      </p:sp>
    </p:spTree>
    <p:extLst>
      <p:ext uri="{BB962C8B-B14F-4D97-AF65-F5344CB8AC3E}">
        <p14:creationId xmlns:p14="http://schemas.microsoft.com/office/powerpoint/2010/main" val="937553115"/>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7"/>
          <p:cNvSpPr>
            <a:spLocks noGrp="1" noChangeArrowheads="1"/>
          </p:cNvSpPr>
          <p:nvPr>
            <p:ph type="dt" sz="half" idx="10"/>
          </p:nvPr>
        </p:nvSpPr>
        <p:spPr>
          <a:ln/>
        </p:spPr>
        <p:txBody>
          <a:bodyPr/>
          <a:lstStyle>
            <a:lvl1pPr>
              <a:defRPr/>
            </a:lvl1pPr>
          </a:lstStyle>
          <a:p>
            <a:pPr>
              <a:defRPr/>
            </a:pPr>
            <a:fld id="{0AC2DAEE-543A-462C-8A78-1A912D72E4A9}" type="datetime4">
              <a:rPr lang="en-US" altLang="zh-CN" smtClean="0">
                <a:solidFill>
                  <a:srgbClr val="292929"/>
                </a:solidFill>
              </a:rPr>
              <a:t>April 25, 2019</a:t>
            </a:fld>
            <a:endParaRPr lang="en-US" altLang="zh-CN">
              <a:solidFill>
                <a:srgbClr val="292929"/>
              </a:solidFill>
            </a:endParaRPr>
          </a:p>
        </p:txBody>
      </p:sp>
      <p:sp>
        <p:nvSpPr>
          <p:cNvPr id="3" name="Rectangle 8"/>
          <p:cNvSpPr>
            <a:spLocks noGrp="1" noChangeArrowheads="1"/>
          </p:cNvSpPr>
          <p:nvPr>
            <p:ph type="ftr" sz="quarter" idx="11"/>
          </p:nvPr>
        </p:nvSpPr>
        <p:spPr>
          <a:ln/>
        </p:spPr>
        <p:txBody>
          <a:bodyPr/>
          <a:lstStyle>
            <a:lvl1pPr>
              <a:defRPr/>
            </a:lvl1pPr>
          </a:lstStyle>
          <a:p>
            <a:pPr>
              <a:defRPr/>
            </a:pPr>
            <a:r>
              <a:rPr lang="en-US" altLang="zh-CN" smtClean="0"/>
              <a:t>Xiaolin Xu</a:t>
            </a:r>
            <a:r>
              <a:rPr lang="zh-CN" altLang="en-US" smtClean="0"/>
              <a:t>（ </a:t>
            </a:r>
            <a:r>
              <a:rPr lang="en-US" altLang="zh-CN" smtClean="0"/>
              <a:t>Nanjing University </a:t>
            </a:r>
            <a:r>
              <a:rPr lang="zh-CN" altLang="en-US" smtClean="0"/>
              <a:t>）</a:t>
            </a:r>
            <a:endParaRPr lang="en-US" altLang="zh-CN"/>
          </a:p>
        </p:txBody>
      </p:sp>
      <p:sp>
        <p:nvSpPr>
          <p:cNvPr id="4" name="Rectangle 9"/>
          <p:cNvSpPr>
            <a:spLocks noGrp="1" noChangeArrowheads="1"/>
          </p:cNvSpPr>
          <p:nvPr>
            <p:ph type="sldNum" sz="quarter" idx="12"/>
          </p:nvPr>
        </p:nvSpPr>
        <p:spPr>
          <a:ln/>
        </p:spPr>
        <p:txBody>
          <a:bodyPr/>
          <a:lstStyle>
            <a:lvl1pPr>
              <a:defRPr/>
            </a:lvl1pPr>
          </a:lstStyle>
          <a:p>
            <a:fld id="{91923021-60C7-483E-B607-F954D3401925}" type="slidenum">
              <a:rPr lang="en-US" altLang="zh-CN">
                <a:solidFill>
                  <a:srgbClr val="292929"/>
                </a:solidFill>
              </a:rPr>
              <a:pPr/>
              <a:t>‹#›</a:t>
            </a:fld>
            <a:endParaRPr lang="en-US" altLang="zh-CN">
              <a:solidFill>
                <a:srgbClr val="292929"/>
              </a:solidFill>
            </a:endParaRPr>
          </a:p>
        </p:txBody>
      </p:sp>
    </p:spTree>
    <p:extLst>
      <p:ext uri="{BB962C8B-B14F-4D97-AF65-F5344CB8AC3E}">
        <p14:creationId xmlns:p14="http://schemas.microsoft.com/office/powerpoint/2010/main" val="209180639"/>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7"/>
          <p:cNvSpPr>
            <a:spLocks noGrp="1" noChangeArrowheads="1"/>
          </p:cNvSpPr>
          <p:nvPr>
            <p:ph type="dt" sz="half" idx="10"/>
          </p:nvPr>
        </p:nvSpPr>
        <p:spPr>
          <a:ln/>
        </p:spPr>
        <p:txBody>
          <a:bodyPr/>
          <a:lstStyle>
            <a:lvl1pPr>
              <a:defRPr/>
            </a:lvl1pPr>
          </a:lstStyle>
          <a:p>
            <a:pPr>
              <a:defRPr/>
            </a:pPr>
            <a:fld id="{3B07C079-D112-45D4-9B2C-45B570F43FB4}" type="datetime4">
              <a:rPr lang="en-US" altLang="zh-CN" smtClean="0">
                <a:solidFill>
                  <a:srgbClr val="292929"/>
                </a:solidFill>
              </a:rPr>
              <a:t>April 25, 2019</a:t>
            </a:fld>
            <a:endParaRPr lang="en-US" altLang="zh-CN">
              <a:solidFill>
                <a:srgbClr val="292929"/>
              </a:solidFill>
            </a:endParaRPr>
          </a:p>
        </p:txBody>
      </p:sp>
      <p:sp>
        <p:nvSpPr>
          <p:cNvPr id="6" name="Rectangle 8"/>
          <p:cNvSpPr>
            <a:spLocks noGrp="1" noChangeArrowheads="1"/>
          </p:cNvSpPr>
          <p:nvPr>
            <p:ph type="ftr" sz="quarter" idx="11"/>
          </p:nvPr>
        </p:nvSpPr>
        <p:spPr>
          <a:ln/>
        </p:spPr>
        <p:txBody>
          <a:bodyPr/>
          <a:lstStyle>
            <a:lvl1pPr>
              <a:defRPr/>
            </a:lvl1pPr>
          </a:lstStyle>
          <a:p>
            <a:pPr>
              <a:defRPr/>
            </a:pPr>
            <a:r>
              <a:rPr lang="en-US" altLang="zh-CN" smtClean="0"/>
              <a:t>Xiaolin Xu</a:t>
            </a:r>
            <a:r>
              <a:rPr lang="zh-CN" altLang="en-US" smtClean="0"/>
              <a:t>（ </a:t>
            </a:r>
            <a:r>
              <a:rPr lang="en-US" altLang="zh-CN" smtClean="0"/>
              <a:t>Nanjing University </a:t>
            </a:r>
            <a:r>
              <a:rPr lang="zh-CN" altLang="en-US" smtClean="0"/>
              <a:t>）</a:t>
            </a:r>
            <a:endParaRPr lang="en-US" altLang="zh-CN"/>
          </a:p>
        </p:txBody>
      </p:sp>
      <p:sp>
        <p:nvSpPr>
          <p:cNvPr id="7" name="Rectangle 9"/>
          <p:cNvSpPr>
            <a:spLocks noGrp="1" noChangeArrowheads="1"/>
          </p:cNvSpPr>
          <p:nvPr>
            <p:ph type="sldNum" sz="quarter" idx="12"/>
          </p:nvPr>
        </p:nvSpPr>
        <p:spPr>
          <a:ln/>
        </p:spPr>
        <p:txBody>
          <a:bodyPr/>
          <a:lstStyle>
            <a:lvl1pPr>
              <a:defRPr/>
            </a:lvl1pPr>
          </a:lstStyle>
          <a:p>
            <a:fld id="{F604C4F4-C02A-4D2F-A3D6-31806F7E31EE}" type="slidenum">
              <a:rPr lang="en-US" altLang="zh-CN">
                <a:solidFill>
                  <a:srgbClr val="292929"/>
                </a:solidFill>
              </a:rPr>
              <a:pPr/>
              <a:t>‹#›</a:t>
            </a:fld>
            <a:endParaRPr lang="en-US" altLang="zh-CN">
              <a:solidFill>
                <a:srgbClr val="292929"/>
              </a:solidFill>
            </a:endParaRPr>
          </a:p>
        </p:txBody>
      </p:sp>
    </p:spTree>
    <p:extLst>
      <p:ext uri="{BB962C8B-B14F-4D97-AF65-F5344CB8AC3E}">
        <p14:creationId xmlns:p14="http://schemas.microsoft.com/office/powerpoint/2010/main" val="4144159019"/>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7"/>
          <p:cNvSpPr>
            <a:spLocks noGrp="1" noChangeArrowheads="1"/>
          </p:cNvSpPr>
          <p:nvPr>
            <p:ph type="dt" sz="half" idx="10"/>
          </p:nvPr>
        </p:nvSpPr>
        <p:spPr>
          <a:ln/>
        </p:spPr>
        <p:txBody>
          <a:bodyPr/>
          <a:lstStyle>
            <a:lvl1pPr>
              <a:defRPr/>
            </a:lvl1pPr>
          </a:lstStyle>
          <a:p>
            <a:pPr>
              <a:defRPr/>
            </a:pPr>
            <a:fld id="{2A425BBF-C589-42ED-9908-B0B23020DB22}" type="datetime4">
              <a:rPr lang="en-US" altLang="zh-CN" smtClean="0">
                <a:solidFill>
                  <a:srgbClr val="292929"/>
                </a:solidFill>
              </a:rPr>
              <a:t>April 25, 2019</a:t>
            </a:fld>
            <a:endParaRPr lang="en-US" altLang="zh-CN">
              <a:solidFill>
                <a:srgbClr val="292929"/>
              </a:solidFill>
            </a:endParaRPr>
          </a:p>
        </p:txBody>
      </p:sp>
      <p:sp>
        <p:nvSpPr>
          <p:cNvPr id="6" name="Rectangle 8"/>
          <p:cNvSpPr>
            <a:spLocks noGrp="1" noChangeArrowheads="1"/>
          </p:cNvSpPr>
          <p:nvPr>
            <p:ph type="ftr" sz="quarter" idx="11"/>
          </p:nvPr>
        </p:nvSpPr>
        <p:spPr>
          <a:ln/>
        </p:spPr>
        <p:txBody>
          <a:bodyPr/>
          <a:lstStyle>
            <a:lvl1pPr>
              <a:defRPr/>
            </a:lvl1pPr>
          </a:lstStyle>
          <a:p>
            <a:pPr>
              <a:defRPr/>
            </a:pPr>
            <a:r>
              <a:rPr lang="en-US" altLang="zh-CN" smtClean="0"/>
              <a:t>Xiaolin Xu</a:t>
            </a:r>
            <a:r>
              <a:rPr lang="zh-CN" altLang="en-US" smtClean="0"/>
              <a:t>（ </a:t>
            </a:r>
            <a:r>
              <a:rPr lang="en-US" altLang="zh-CN" smtClean="0"/>
              <a:t>Nanjing University </a:t>
            </a:r>
            <a:r>
              <a:rPr lang="zh-CN" altLang="en-US" smtClean="0"/>
              <a:t>）</a:t>
            </a:r>
            <a:endParaRPr lang="en-US" altLang="zh-CN"/>
          </a:p>
        </p:txBody>
      </p:sp>
      <p:sp>
        <p:nvSpPr>
          <p:cNvPr id="7" name="Rectangle 9"/>
          <p:cNvSpPr>
            <a:spLocks noGrp="1" noChangeArrowheads="1"/>
          </p:cNvSpPr>
          <p:nvPr>
            <p:ph type="sldNum" sz="quarter" idx="12"/>
          </p:nvPr>
        </p:nvSpPr>
        <p:spPr>
          <a:ln/>
        </p:spPr>
        <p:txBody>
          <a:bodyPr/>
          <a:lstStyle>
            <a:lvl1pPr>
              <a:defRPr/>
            </a:lvl1pPr>
          </a:lstStyle>
          <a:p>
            <a:fld id="{4642AA7A-2320-4642-BBB6-8844737982EE}" type="slidenum">
              <a:rPr lang="en-US" altLang="zh-CN">
                <a:solidFill>
                  <a:srgbClr val="292929"/>
                </a:solidFill>
              </a:rPr>
              <a:pPr/>
              <a:t>‹#›</a:t>
            </a:fld>
            <a:endParaRPr lang="en-US" altLang="zh-CN">
              <a:solidFill>
                <a:srgbClr val="292929"/>
              </a:solidFill>
            </a:endParaRPr>
          </a:p>
        </p:txBody>
      </p:sp>
    </p:spTree>
    <p:extLst>
      <p:ext uri="{BB962C8B-B14F-4D97-AF65-F5344CB8AC3E}">
        <p14:creationId xmlns:p14="http://schemas.microsoft.com/office/powerpoint/2010/main" val="1827486032"/>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7"/>
          <p:cNvSpPr>
            <a:spLocks noGrp="1" noChangeArrowheads="1"/>
          </p:cNvSpPr>
          <p:nvPr>
            <p:ph type="dt" sz="half" idx="10"/>
          </p:nvPr>
        </p:nvSpPr>
        <p:spPr>
          <a:ln/>
        </p:spPr>
        <p:txBody>
          <a:bodyPr/>
          <a:lstStyle>
            <a:lvl1pPr>
              <a:defRPr/>
            </a:lvl1pPr>
          </a:lstStyle>
          <a:p>
            <a:pPr>
              <a:defRPr/>
            </a:pPr>
            <a:fld id="{8EF1A167-939C-4205-9A53-BC366A8B00B0}" type="datetime4">
              <a:rPr lang="en-US" altLang="zh-CN" smtClean="0">
                <a:solidFill>
                  <a:srgbClr val="292929"/>
                </a:solidFill>
              </a:rPr>
              <a:t>April 25, 2019</a:t>
            </a:fld>
            <a:endParaRPr lang="en-US" altLang="zh-CN">
              <a:solidFill>
                <a:srgbClr val="292929"/>
              </a:solidFill>
            </a:endParaRPr>
          </a:p>
        </p:txBody>
      </p:sp>
      <p:sp>
        <p:nvSpPr>
          <p:cNvPr id="5" name="Rectangle 8"/>
          <p:cNvSpPr>
            <a:spLocks noGrp="1" noChangeArrowheads="1"/>
          </p:cNvSpPr>
          <p:nvPr>
            <p:ph type="ftr" sz="quarter" idx="11"/>
          </p:nvPr>
        </p:nvSpPr>
        <p:spPr>
          <a:ln/>
        </p:spPr>
        <p:txBody>
          <a:bodyPr/>
          <a:lstStyle>
            <a:lvl1pPr>
              <a:defRPr/>
            </a:lvl1pPr>
          </a:lstStyle>
          <a:p>
            <a:pPr>
              <a:defRPr/>
            </a:pPr>
            <a:r>
              <a:rPr lang="en-US" altLang="zh-CN" smtClean="0"/>
              <a:t>Xiaolin Xu</a:t>
            </a:r>
            <a:r>
              <a:rPr lang="zh-CN" altLang="en-US" smtClean="0"/>
              <a:t>（ </a:t>
            </a:r>
            <a:r>
              <a:rPr lang="en-US" altLang="zh-CN" smtClean="0"/>
              <a:t>Nanjing University </a:t>
            </a:r>
            <a:r>
              <a:rPr lang="zh-CN" altLang="en-US" smtClean="0"/>
              <a:t>）</a:t>
            </a:r>
            <a:endParaRPr lang="en-US" altLang="zh-CN"/>
          </a:p>
        </p:txBody>
      </p:sp>
      <p:sp>
        <p:nvSpPr>
          <p:cNvPr id="6" name="Rectangle 9"/>
          <p:cNvSpPr>
            <a:spLocks noGrp="1" noChangeArrowheads="1"/>
          </p:cNvSpPr>
          <p:nvPr>
            <p:ph type="sldNum" sz="quarter" idx="12"/>
          </p:nvPr>
        </p:nvSpPr>
        <p:spPr>
          <a:ln/>
        </p:spPr>
        <p:txBody>
          <a:bodyPr/>
          <a:lstStyle>
            <a:lvl1pPr>
              <a:defRPr/>
            </a:lvl1pPr>
          </a:lstStyle>
          <a:p>
            <a:fld id="{C8395BDD-588D-4557-B684-0F8F5B8C0470}" type="slidenum">
              <a:rPr lang="en-US" altLang="zh-CN">
                <a:solidFill>
                  <a:srgbClr val="292929"/>
                </a:solidFill>
              </a:rPr>
              <a:pPr/>
              <a:t>‹#›</a:t>
            </a:fld>
            <a:endParaRPr lang="en-US" altLang="zh-CN">
              <a:solidFill>
                <a:srgbClr val="292929"/>
              </a:solidFill>
            </a:endParaRPr>
          </a:p>
        </p:txBody>
      </p:sp>
    </p:spTree>
    <p:extLst>
      <p:ext uri="{BB962C8B-B14F-4D97-AF65-F5344CB8AC3E}">
        <p14:creationId xmlns:p14="http://schemas.microsoft.com/office/powerpoint/2010/main" val="1144489280"/>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5425" y="260350"/>
            <a:ext cx="2035175" cy="6121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68313" y="260350"/>
            <a:ext cx="5954712" cy="6121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7"/>
          <p:cNvSpPr>
            <a:spLocks noGrp="1" noChangeArrowheads="1"/>
          </p:cNvSpPr>
          <p:nvPr>
            <p:ph type="dt" sz="half" idx="10"/>
          </p:nvPr>
        </p:nvSpPr>
        <p:spPr>
          <a:ln/>
        </p:spPr>
        <p:txBody>
          <a:bodyPr/>
          <a:lstStyle>
            <a:lvl1pPr>
              <a:defRPr/>
            </a:lvl1pPr>
          </a:lstStyle>
          <a:p>
            <a:pPr>
              <a:defRPr/>
            </a:pPr>
            <a:fld id="{B06EEE70-DC17-4A59-A2C1-17B741931F3F}" type="datetime4">
              <a:rPr lang="en-US" altLang="zh-CN" smtClean="0">
                <a:solidFill>
                  <a:srgbClr val="292929"/>
                </a:solidFill>
              </a:rPr>
              <a:t>April 25, 2019</a:t>
            </a:fld>
            <a:endParaRPr lang="en-US" altLang="zh-CN">
              <a:solidFill>
                <a:srgbClr val="292929"/>
              </a:solidFill>
            </a:endParaRPr>
          </a:p>
        </p:txBody>
      </p:sp>
      <p:sp>
        <p:nvSpPr>
          <p:cNvPr id="5" name="Rectangle 8"/>
          <p:cNvSpPr>
            <a:spLocks noGrp="1" noChangeArrowheads="1"/>
          </p:cNvSpPr>
          <p:nvPr>
            <p:ph type="ftr" sz="quarter" idx="11"/>
          </p:nvPr>
        </p:nvSpPr>
        <p:spPr>
          <a:ln/>
        </p:spPr>
        <p:txBody>
          <a:bodyPr/>
          <a:lstStyle>
            <a:lvl1pPr>
              <a:defRPr/>
            </a:lvl1pPr>
          </a:lstStyle>
          <a:p>
            <a:pPr>
              <a:defRPr/>
            </a:pPr>
            <a:r>
              <a:rPr lang="en-US" altLang="zh-CN" smtClean="0"/>
              <a:t>Xiaolin Xu</a:t>
            </a:r>
            <a:r>
              <a:rPr lang="zh-CN" altLang="en-US" smtClean="0"/>
              <a:t>（ </a:t>
            </a:r>
            <a:r>
              <a:rPr lang="en-US" altLang="zh-CN" smtClean="0"/>
              <a:t>Nanjing University </a:t>
            </a:r>
            <a:r>
              <a:rPr lang="zh-CN" altLang="en-US" smtClean="0"/>
              <a:t>）</a:t>
            </a:r>
            <a:endParaRPr lang="en-US" altLang="zh-CN"/>
          </a:p>
        </p:txBody>
      </p:sp>
      <p:sp>
        <p:nvSpPr>
          <p:cNvPr id="6" name="Rectangle 9"/>
          <p:cNvSpPr>
            <a:spLocks noGrp="1" noChangeArrowheads="1"/>
          </p:cNvSpPr>
          <p:nvPr>
            <p:ph type="sldNum" sz="quarter" idx="12"/>
          </p:nvPr>
        </p:nvSpPr>
        <p:spPr>
          <a:ln/>
        </p:spPr>
        <p:txBody>
          <a:bodyPr/>
          <a:lstStyle>
            <a:lvl1pPr>
              <a:defRPr/>
            </a:lvl1pPr>
          </a:lstStyle>
          <a:p>
            <a:fld id="{6A287152-8F0F-4CEF-8DBB-9049758E313A}" type="slidenum">
              <a:rPr lang="en-US" altLang="zh-CN">
                <a:solidFill>
                  <a:srgbClr val="292929"/>
                </a:solidFill>
              </a:rPr>
              <a:pPr/>
              <a:t>‹#›</a:t>
            </a:fld>
            <a:endParaRPr lang="en-US" altLang="zh-CN">
              <a:solidFill>
                <a:srgbClr val="292929"/>
              </a:solidFill>
            </a:endParaRPr>
          </a:p>
        </p:txBody>
      </p:sp>
    </p:spTree>
    <p:extLst>
      <p:ext uri="{BB962C8B-B14F-4D97-AF65-F5344CB8AC3E}">
        <p14:creationId xmlns:p14="http://schemas.microsoft.com/office/powerpoint/2010/main" val="3468111444"/>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981075"/>
            <a:ext cx="2133600" cy="101600"/>
          </a:xfrm>
          <a:prstGeom prst="rect">
            <a:avLst/>
          </a:prstGeom>
          <a:solidFill>
            <a:schemeClr val="accent2"/>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eaLnBrk="1" fontAlgn="base" hangingPunct="1">
              <a:spcBef>
                <a:spcPct val="0"/>
              </a:spcBef>
              <a:spcAft>
                <a:spcPct val="0"/>
              </a:spcAft>
            </a:pPr>
            <a:endParaRPr lang="zh-CN" altLang="zh-CN" sz="2400">
              <a:solidFill>
                <a:srgbClr val="292929"/>
              </a:solidFill>
            </a:endParaRPr>
          </a:p>
        </p:txBody>
      </p:sp>
      <p:sp>
        <p:nvSpPr>
          <p:cNvPr id="1027" name="Rectangle 3"/>
          <p:cNvSpPr>
            <a:spLocks noChangeArrowheads="1"/>
          </p:cNvSpPr>
          <p:nvPr/>
        </p:nvSpPr>
        <p:spPr bwMode="auto">
          <a:xfrm>
            <a:off x="1447800" y="981075"/>
            <a:ext cx="7239000" cy="101600"/>
          </a:xfrm>
          <a:prstGeom prst="rect">
            <a:avLst/>
          </a:prstGeom>
          <a:gradFill rotWithShape="0">
            <a:gsLst>
              <a:gs pos="0">
                <a:schemeClr val="accent2"/>
              </a:gs>
              <a:gs pos="100000">
                <a:schemeClr val="bg1"/>
              </a:gs>
            </a:gsLst>
            <a:lin ang="0" scaled="1"/>
          </a:gra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eaLnBrk="1" fontAlgn="base" hangingPunct="1">
              <a:spcBef>
                <a:spcPct val="0"/>
              </a:spcBef>
              <a:spcAft>
                <a:spcPct val="0"/>
              </a:spcAft>
            </a:pPr>
            <a:endParaRPr lang="zh-CN" altLang="zh-CN" sz="2400">
              <a:solidFill>
                <a:srgbClr val="292929"/>
              </a:solidFill>
            </a:endParaRPr>
          </a:p>
        </p:txBody>
      </p:sp>
      <p:sp>
        <p:nvSpPr>
          <p:cNvPr id="1028" name="Rectangle 4"/>
          <p:cNvSpPr>
            <a:spLocks noGrp="1" noChangeArrowheads="1"/>
          </p:cNvSpPr>
          <p:nvPr>
            <p:ph type="title"/>
          </p:nvPr>
        </p:nvSpPr>
        <p:spPr bwMode="auto">
          <a:xfrm>
            <a:off x="468313" y="260350"/>
            <a:ext cx="8135937" cy="6477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单击此处编辑母版标题样式</a:t>
            </a:r>
          </a:p>
        </p:txBody>
      </p:sp>
      <p:sp>
        <p:nvSpPr>
          <p:cNvPr id="1029" name="Rectangle 5"/>
          <p:cNvSpPr>
            <a:spLocks noGrp="1" noChangeArrowheads="1"/>
          </p:cNvSpPr>
          <p:nvPr>
            <p:ph type="body" idx="1"/>
          </p:nvPr>
        </p:nvSpPr>
        <p:spPr bwMode="auto">
          <a:xfrm>
            <a:off x="468313" y="1125538"/>
            <a:ext cx="8142287" cy="52562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88423" name="Rectangle 7"/>
          <p:cNvSpPr>
            <a:spLocks noGrp="1" noChangeArrowheads="1"/>
          </p:cNvSpPr>
          <p:nvPr>
            <p:ph type="dt" sz="half" idx="2"/>
          </p:nvPr>
        </p:nvSpPr>
        <p:spPr bwMode="auto">
          <a:xfrm>
            <a:off x="107950" y="6524625"/>
            <a:ext cx="1293813" cy="28892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a:defRPr sz="1400">
                <a:latin typeface="+mn-lt"/>
                <a:ea typeface="宋体" pitchFamily="2" charset="-122"/>
              </a:defRPr>
            </a:lvl1pPr>
          </a:lstStyle>
          <a:p>
            <a:pPr fontAlgn="base">
              <a:spcBef>
                <a:spcPct val="0"/>
              </a:spcBef>
              <a:spcAft>
                <a:spcPct val="0"/>
              </a:spcAft>
              <a:defRPr/>
            </a:pPr>
            <a:fld id="{BEBAA02E-B9BF-4CE8-A2EB-A00A8E5639B9}" type="datetime4">
              <a:rPr lang="en-US" altLang="zh-CN" smtClean="0">
                <a:solidFill>
                  <a:srgbClr val="292929"/>
                </a:solidFill>
              </a:rPr>
              <a:t>April 25, 2019</a:t>
            </a:fld>
            <a:endParaRPr lang="en-US" altLang="zh-CN">
              <a:solidFill>
                <a:srgbClr val="292929"/>
              </a:solidFill>
            </a:endParaRPr>
          </a:p>
        </p:txBody>
      </p:sp>
      <p:sp>
        <p:nvSpPr>
          <p:cNvPr id="188424" name="Rectangle 8"/>
          <p:cNvSpPr>
            <a:spLocks noGrp="1" noChangeArrowheads="1"/>
          </p:cNvSpPr>
          <p:nvPr>
            <p:ph type="ftr" sz="quarter" idx="3"/>
          </p:nvPr>
        </p:nvSpPr>
        <p:spPr bwMode="auto">
          <a:xfrm>
            <a:off x="2051050" y="6524625"/>
            <a:ext cx="5257800" cy="2889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solidFill>
                  <a:srgbClr val="006600"/>
                </a:solidFill>
                <a:latin typeface="+mn-lt"/>
                <a:ea typeface="+mn-ea"/>
              </a:defRPr>
            </a:lvl1pPr>
          </a:lstStyle>
          <a:p>
            <a:pPr algn="ctr" fontAlgn="base">
              <a:spcBef>
                <a:spcPct val="0"/>
              </a:spcBef>
              <a:spcAft>
                <a:spcPct val="0"/>
              </a:spcAft>
              <a:defRPr/>
            </a:pPr>
            <a:r>
              <a:rPr lang="en-US" altLang="zh-CN" smtClean="0"/>
              <a:t>Xiaolin Xu</a:t>
            </a:r>
            <a:r>
              <a:rPr lang="zh-CN" altLang="en-US" smtClean="0"/>
              <a:t>（ </a:t>
            </a:r>
            <a:r>
              <a:rPr lang="en-US" altLang="zh-CN" smtClean="0"/>
              <a:t>Nanjing University </a:t>
            </a:r>
            <a:r>
              <a:rPr lang="zh-CN" altLang="en-US" smtClean="0"/>
              <a:t>）</a:t>
            </a:r>
            <a:endParaRPr lang="en-US" altLang="zh-CN"/>
          </a:p>
        </p:txBody>
      </p:sp>
      <p:sp>
        <p:nvSpPr>
          <p:cNvPr id="188425" name="Rectangle 9"/>
          <p:cNvSpPr>
            <a:spLocks noGrp="1" noChangeArrowheads="1"/>
          </p:cNvSpPr>
          <p:nvPr>
            <p:ph type="sldNum" sz="quarter" idx="4"/>
          </p:nvPr>
        </p:nvSpPr>
        <p:spPr bwMode="auto">
          <a:xfrm>
            <a:off x="7886700" y="6524625"/>
            <a:ext cx="933450" cy="28892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r">
              <a:defRPr sz="1400">
                <a:latin typeface="Arial" panose="020B0604020202020204" pitchFamily="34" charset="0"/>
              </a:defRPr>
            </a:lvl1pPr>
          </a:lstStyle>
          <a:p>
            <a:pPr fontAlgn="base">
              <a:spcBef>
                <a:spcPct val="0"/>
              </a:spcBef>
              <a:spcAft>
                <a:spcPct val="0"/>
              </a:spcAft>
            </a:pPr>
            <a:fld id="{AD5F48F7-E0D6-4FE9-B161-46FA0414E6F7}" type="slidenum">
              <a:rPr lang="en-US" altLang="zh-CN">
                <a:solidFill>
                  <a:srgbClr val="292929"/>
                </a:solidFill>
                <a:ea typeface="宋体" panose="02010600030101010101" pitchFamily="2" charset="-122"/>
              </a:rPr>
              <a:pPr fontAlgn="base">
                <a:spcBef>
                  <a:spcPct val="0"/>
                </a:spcBef>
                <a:spcAft>
                  <a:spcPct val="0"/>
                </a:spcAft>
              </a:pPr>
              <a:t>‹#›</a:t>
            </a:fld>
            <a:endParaRPr lang="en-US" altLang="zh-CN">
              <a:solidFill>
                <a:srgbClr val="292929"/>
              </a:solidFill>
              <a:ea typeface="宋体" panose="02010600030101010101" pitchFamily="2" charset="-122"/>
            </a:endParaRPr>
          </a:p>
        </p:txBody>
      </p:sp>
      <p:pic>
        <p:nvPicPr>
          <p:cNvPr id="1033" name="Picture 1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4288" y="6496050"/>
            <a:ext cx="9117012" cy="285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034" name="Picture 11" descr="校徽"/>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478838" y="0"/>
            <a:ext cx="665162" cy="7905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213700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fade/>
  </p:transition>
  <p:hf hdr="0"/>
  <p:txStyles>
    <p:titleStyle>
      <a:lvl1pPr algn="l" rtl="0" eaLnBrk="0" fontAlgn="base" hangingPunct="0">
        <a:spcBef>
          <a:spcPct val="0"/>
        </a:spcBef>
        <a:spcAft>
          <a:spcPct val="0"/>
        </a:spcAft>
        <a:defRPr sz="3200">
          <a:solidFill>
            <a:srgbClr val="006600"/>
          </a:solidFill>
          <a:latin typeface="+mj-lt"/>
          <a:ea typeface="+mj-ea"/>
          <a:cs typeface="+mj-cs"/>
        </a:defRPr>
      </a:lvl1pPr>
      <a:lvl2pPr algn="l" rtl="0" eaLnBrk="0" fontAlgn="base" hangingPunct="0">
        <a:spcBef>
          <a:spcPct val="0"/>
        </a:spcBef>
        <a:spcAft>
          <a:spcPct val="0"/>
        </a:spcAft>
        <a:defRPr sz="3200">
          <a:solidFill>
            <a:srgbClr val="006600"/>
          </a:solidFill>
          <a:latin typeface="Arial" charset="0"/>
          <a:ea typeface="黑体" pitchFamily="49" charset="-122"/>
        </a:defRPr>
      </a:lvl2pPr>
      <a:lvl3pPr algn="l" rtl="0" eaLnBrk="0" fontAlgn="base" hangingPunct="0">
        <a:spcBef>
          <a:spcPct val="0"/>
        </a:spcBef>
        <a:spcAft>
          <a:spcPct val="0"/>
        </a:spcAft>
        <a:defRPr sz="3200">
          <a:solidFill>
            <a:srgbClr val="006600"/>
          </a:solidFill>
          <a:latin typeface="Arial" charset="0"/>
          <a:ea typeface="黑体" pitchFamily="49" charset="-122"/>
        </a:defRPr>
      </a:lvl3pPr>
      <a:lvl4pPr algn="l" rtl="0" eaLnBrk="0" fontAlgn="base" hangingPunct="0">
        <a:spcBef>
          <a:spcPct val="0"/>
        </a:spcBef>
        <a:spcAft>
          <a:spcPct val="0"/>
        </a:spcAft>
        <a:defRPr sz="3200">
          <a:solidFill>
            <a:srgbClr val="006600"/>
          </a:solidFill>
          <a:latin typeface="Arial" charset="0"/>
          <a:ea typeface="黑体" pitchFamily="49" charset="-122"/>
        </a:defRPr>
      </a:lvl4pPr>
      <a:lvl5pPr algn="l" rtl="0" eaLnBrk="0" fontAlgn="base" hangingPunct="0">
        <a:spcBef>
          <a:spcPct val="0"/>
        </a:spcBef>
        <a:spcAft>
          <a:spcPct val="0"/>
        </a:spcAft>
        <a:defRPr sz="3200">
          <a:solidFill>
            <a:srgbClr val="006600"/>
          </a:solidFill>
          <a:latin typeface="Arial" charset="0"/>
          <a:ea typeface="黑体" pitchFamily="49" charset="-122"/>
        </a:defRPr>
      </a:lvl5pPr>
      <a:lvl6pPr marL="457200" algn="l" rtl="0" fontAlgn="base">
        <a:spcBef>
          <a:spcPct val="0"/>
        </a:spcBef>
        <a:spcAft>
          <a:spcPct val="0"/>
        </a:spcAft>
        <a:defRPr sz="3200">
          <a:solidFill>
            <a:srgbClr val="006600"/>
          </a:solidFill>
          <a:latin typeface="Arial" charset="0"/>
          <a:ea typeface="黑体" pitchFamily="49" charset="-122"/>
        </a:defRPr>
      </a:lvl6pPr>
      <a:lvl7pPr marL="914400" algn="l" rtl="0" fontAlgn="base">
        <a:spcBef>
          <a:spcPct val="0"/>
        </a:spcBef>
        <a:spcAft>
          <a:spcPct val="0"/>
        </a:spcAft>
        <a:defRPr sz="3200">
          <a:solidFill>
            <a:srgbClr val="006600"/>
          </a:solidFill>
          <a:latin typeface="Arial" charset="0"/>
          <a:ea typeface="黑体" pitchFamily="49" charset="-122"/>
        </a:defRPr>
      </a:lvl7pPr>
      <a:lvl8pPr marL="1371600" algn="l" rtl="0" fontAlgn="base">
        <a:spcBef>
          <a:spcPct val="0"/>
        </a:spcBef>
        <a:spcAft>
          <a:spcPct val="0"/>
        </a:spcAft>
        <a:defRPr sz="3200">
          <a:solidFill>
            <a:srgbClr val="006600"/>
          </a:solidFill>
          <a:latin typeface="Arial" charset="0"/>
          <a:ea typeface="黑体" pitchFamily="49" charset="-122"/>
        </a:defRPr>
      </a:lvl8pPr>
      <a:lvl9pPr marL="1828800" algn="l" rtl="0" fontAlgn="base">
        <a:spcBef>
          <a:spcPct val="0"/>
        </a:spcBef>
        <a:spcAft>
          <a:spcPct val="0"/>
        </a:spcAft>
        <a:defRPr sz="3200">
          <a:solidFill>
            <a:srgbClr val="006600"/>
          </a:solidFill>
          <a:latin typeface="Arial" charset="0"/>
          <a:ea typeface="黑体" pitchFamily="49" charset="-122"/>
        </a:defRPr>
      </a:lvl9pPr>
    </p:titleStyle>
    <p:bodyStyle>
      <a:lvl1pPr marL="447675" indent="-447675" algn="l" rtl="0" eaLnBrk="0" fontAlgn="base" hangingPunct="0">
        <a:spcBef>
          <a:spcPct val="20000"/>
        </a:spcBef>
        <a:spcAft>
          <a:spcPct val="0"/>
        </a:spcAft>
        <a:buClr>
          <a:schemeClr val="accent1"/>
        </a:buClr>
        <a:buSzPct val="70000"/>
        <a:buFont typeface="Wingdings" panose="05000000000000000000" pitchFamily="2" charset="2"/>
        <a:buChar char="n"/>
        <a:defRPr sz="2800">
          <a:solidFill>
            <a:schemeClr val="tx1"/>
          </a:solidFill>
          <a:latin typeface="+mn-lt"/>
          <a:ea typeface="+mn-ea"/>
          <a:cs typeface="+mn-cs"/>
        </a:defRPr>
      </a:lvl1pPr>
      <a:lvl2pPr marL="889000" indent="-439738" algn="l" rtl="0" eaLnBrk="0" fontAlgn="base" hangingPunct="0">
        <a:spcBef>
          <a:spcPct val="20000"/>
        </a:spcBef>
        <a:spcAft>
          <a:spcPct val="0"/>
        </a:spcAft>
        <a:buClr>
          <a:schemeClr val="hlink"/>
        </a:buClr>
        <a:buSzPct val="65000"/>
        <a:buFont typeface="Wingdings" panose="05000000000000000000" pitchFamily="2" charset="2"/>
        <a:buChar char="¡"/>
        <a:defRPr sz="2400">
          <a:solidFill>
            <a:schemeClr val="tx1"/>
          </a:solidFill>
          <a:latin typeface="+mn-lt"/>
          <a:ea typeface="+mn-ea"/>
        </a:defRPr>
      </a:lvl2pPr>
      <a:lvl3pPr marL="1293813" indent="-403225" algn="l" rtl="0" eaLnBrk="0" fontAlgn="base" hangingPunct="0">
        <a:spcBef>
          <a:spcPct val="20000"/>
        </a:spcBef>
        <a:spcAft>
          <a:spcPct val="0"/>
        </a:spcAft>
        <a:buClr>
          <a:schemeClr val="accent1"/>
        </a:buClr>
        <a:buSzPct val="70000"/>
        <a:buFont typeface="Wingdings" panose="05000000000000000000" pitchFamily="2" charset="2"/>
        <a:buChar char="n"/>
        <a:defRPr sz="2000">
          <a:solidFill>
            <a:schemeClr val="tx1"/>
          </a:solidFill>
          <a:latin typeface="+mn-lt"/>
          <a:ea typeface="+mn-ea"/>
        </a:defRPr>
      </a:lvl3pPr>
      <a:lvl4pPr marL="1681163" indent="-385763" algn="l" rtl="0" eaLnBrk="0" fontAlgn="base" hangingPunct="0">
        <a:spcBef>
          <a:spcPct val="20000"/>
        </a:spcBef>
        <a:spcAft>
          <a:spcPct val="0"/>
        </a:spcAft>
        <a:buClr>
          <a:schemeClr val="hlink"/>
        </a:buClr>
        <a:buSzPct val="75000"/>
        <a:buFont typeface="Wingdings" panose="05000000000000000000" pitchFamily="2" charset="2"/>
        <a:buChar char="¡"/>
        <a:defRPr>
          <a:solidFill>
            <a:schemeClr val="tx1"/>
          </a:solidFill>
          <a:latin typeface="+mn-lt"/>
          <a:ea typeface="+mn-ea"/>
        </a:defRPr>
      </a:lvl4pPr>
      <a:lvl5pPr marL="2070100" indent="-387350" algn="l" rtl="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5pPr>
      <a:lvl6pPr marL="2527300" indent="-387350" algn="l" rtl="0" fontAlgn="base">
        <a:spcBef>
          <a:spcPct val="20000"/>
        </a:spcBef>
        <a:spcAft>
          <a:spcPct val="0"/>
        </a:spcAft>
        <a:buClr>
          <a:schemeClr val="accent1"/>
        </a:buClr>
        <a:buSzPct val="70000"/>
        <a:buFont typeface="Wingdings" pitchFamily="2" charset="2"/>
        <a:buChar char="n"/>
        <a:defRPr sz="1600">
          <a:solidFill>
            <a:schemeClr val="tx1"/>
          </a:solidFill>
          <a:latin typeface="+mn-lt"/>
          <a:ea typeface="+mn-ea"/>
        </a:defRPr>
      </a:lvl6pPr>
      <a:lvl7pPr marL="2984500" indent="-387350" algn="l" rtl="0" fontAlgn="base">
        <a:spcBef>
          <a:spcPct val="20000"/>
        </a:spcBef>
        <a:spcAft>
          <a:spcPct val="0"/>
        </a:spcAft>
        <a:buClr>
          <a:schemeClr val="accent1"/>
        </a:buClr>
        <a:buSzPct val="70000"/>
        <a:buFont typeface="Wingdings" pitchFamily="2" charset="2"/>
        <a:buChar char="n"/>
        <a:defRPr sz="1600">
          <a:solidFill>
            <a:schemeClr val="tx1"/>
          </a:solidFill>
          <a:latin typeface="+mn-lt"/>
          <a:ea typeface="+mn-ea"/>
        </a:defRPr>
      </a:lvl7pPr>
      <a:lvl8pPr marL="3441700" indent="-387350" algn="l" rtl="0" fontAlgn="base">
        <a:spcBef>
          <a:spcPct val="20000"/>
        </a:spcBef>
        <a:spcAft>
          <a:spcPct val="0"/>
        </a:spcAft>
        <a:buClr>
          <a:schemeClr val="accent1"/>
        </a:buClr>
        <a:buSzPct val="70000"/>
        <a:buFont typeface="Wingdings" pitchFamily="2" charset="2"/>
        <a:buChar char="n"/>
        <a:defRPr sz="1600">
          <a:solidFill>
            <a:schemeClr val="tx1"/>
          </a:solidFill>
          <a:latin typeface="+mn-lt"/>
          <a:ea typeface="+mn-ea"/>
        </a:defRPr>
      </a:lvl8pPr>
      <a:lvl9pPr marL="3898900" indent="-387350" algn="l" rtl="0" fontAlgn="base">
        <a:spcBef>
          <a:spcPct val="20000"/>
        </a:spcBef>
        <a:spcAft>
          <a:spcPct val="0"/>
        </a:spcAft>
        <a:buClr>
          <a:schemeClr val="accent1"/>
        </a:buClr>
        <a:buSzPct val="70000"/>
        <a:buFont typeface="Wingdings" pitchFamily="2" charset="2"/>
        <a:buChar char="n"/>
        <a:defRPr sz="16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2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2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4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副标题 5"/>
          <p:cNvSpPr>
            <a:spLocks noGrp="1"/>
          </p:cNvSpPr>
          <p:nvPr>
            <p:ph type="subTitle" idx="1"/>
          </p:nvPr>
        </p:nvSpPr>
        <p:spPr>
          <a:xfrm>
            <a:off x="827584" y="4149080"/>
            <a:ext cx="7632848" cy="1872208"/>
          </a:xfrm>
        </p:spPr>
        <p:txBody>
          <a:bodyPr/>
          <a:lstStyle/>
          <a:p>
            <a:r>
              <a:rPr lang="en-US" altLang="zh-CN" sz="2400" dirty="0">
                <a:latin typeface="Times New Roman" panose="02020603050405020304" pitchFamily="18" charset="0"/>
                <a:ea typeface="华文楷体" pitchFamily="2" charset="-122"/>
                <a:cs typeface="Times New Roman" pitchFamily="18" charset="0"/>
              </a:rPr>
              <a:t>                                    </a:t>
            </a:r>
            <a:r>
              <a:rPr lang="en-US" altLang="zh-CN" sz="2400" dirty="0" smtClean="0">
                <a:latin typeface="Times New Roman" pitchFamily="18" charset="0"/>
                <a:ea typeface="华文楷体" pitchFamily="2" charset="-122"/>
                <a:cs typeface="Times New Roman" pitchFamily="18" charset="0"/>
              </a:rPr>
              <a:t>    </a:t>
            </a:r>
            <a:r>
              <a:rPr lang="en-US" altLang="zh-CN" sz="2400" dirty="0" err="1" smtClean="0">
                <a:latin typeface="Times New Roman" pitchFamily="18" charset="0"/>
                <a:ea typeface="华文楷体" pitchFamily="2" charset="-122"/>
                <a:cs typeface="Times New Roman" pitchFamily="18" charset="0"/>
              </a:rPr>
              <a:t>Xiaolin</a:t>
            </a:r>
            <a:r>
              <a:rPr lang="en-US" altLang="zh-CN" sz="2400" dirty="0" smtClean="0">
                <a:latin typeface="Times New Roman" pitchFamily="18" charset="0"/>
                <a:ea typeface="华文楷体" pitchFamily="2" charset="-122"/>
                <a:cs typeface="Times New Roman" pitchFamily="18" charset="0"/>
              </a:rPr>
              <a:t> </a:t>
            </a:r>
            <a:r>
              <a:rPr lang="en-US" altLang="zh-CN" sz="2400" dirty="0" err="1" smtClean="0">
                <a:latin typeface="Times New Roman" pitchFamily="18" charset="0"/>
                <a:ea typeface="华文楷体" pitchFamily="2" charset="-122"/>
                <a:cs typeface="Times New Roman" pitchFamily="18" charset="0"/>
              </a:rPr>
              <a:t>Xu</a:t>
            </a:r>
            <a:endParaRPr lang="en-US" altLang="zh-CN" sz="2400" dirty="0" smtClean="0">
              <a:latin typeface="Times New Roman" pitchFamily="18" charset="0"/>
              <a:ea typeface="华文楷体" pitchFamily="2" charset="-122"/>
              <a:cs typeface="Times New Roman" pitchFamily="18" charset="0"/>
            </a:endParaRPr>
          </a:p>
          <a:p>
            <a:r>
              <a:rPr lang="en-US" altLang="zh-CN" sz="2400" dirty="0" smtClean="0">
                <a:latin typeface="Times New Roman" pitchFamily="18" charset="0"/>
                <a:ea typeface="华文楷体" pitchFamily="2" charset="-122"/>
                <a:cs typeface="Times New Roman" pitchFamily="18" charset="0"/>
              </a:rPr>
              <a:t>                                   Nanjing University</a:t>
            </a:r>
          </a:p>
          <a:p>
            <a:r>
              <a:rPr lang="en-US" altLang="zh-CN" sz="2400" dirty="0" smtClean="0">
                <a:latin typeface="Times New Roman" pitchFamily="18" charset="0"/>
                <a:ea typeface="华文楷体" pitchFamily="2" charset="-122"/>
                <a:cs typeface="Times New Roman" pitchFamily="18" charset="0"/>
              </a:rPr>
              <a:t>             </a:t>
            </a:r>
            <a:r>
              <a:rPr lang="en-US" altLang="zh-CN" sz="2000" dirty="0" smtClean="0">
                <a:latin typeface="Times New Roman" pitchFamily="18" charset="0"/>
                <a:ea typeface="华文楷体" pitchFamily="2" charset="-122"/>
                <a:cs typeface="Times New Roman" pitchFamily="18" charset="0"/>
              </a:rPr>
              <a:t>Joint </a:t>
            </a:r>
            <a:r>
              <a:rPr lang="en-US" altLang="zh-CN" sz="2000" dirty="0">
                <a:latin typeface="Times New Roman" pitchFamily="18" charset="0"/>
                <a:ea typeface="华文楷体" pitchFamily="2" charset="-122"/>
                <a:cs typeface="Times New Roman" pitchFamily="18" charset="0"/>
              </a:rPr>
              <a:t>work </a:t>
            </a:r>
            <a:r>
              <a:rPr lang="en-US" altLang="zh-CN" sz="2000" dirty="0" smtClean="0">
                <a:latin typeface="Times New Roman" pitchFamily="18" charset="0"/>
                <a:ea typeface="华文楷体" pitchFamily="2" charset="-122"/>
                <a:cs typeface="Times New Roman" pitchFamily="18" charset="0"/>
              </a:rPr>
              <a:t>with </a:t>
            </a:r>
            <a:r>
              <a:rPr lang="en-US" altLang="zh-CN" sz="2000" dirty="0" err="1" smtClean="0">
                <a:latin typeface="Times New Roman" pitchFamily="18" charset="0"/>
                <a:ea typeface="华文楷体" pitchFamily="2" charset="-122"/>
                <a:cs typeface="Times New Roman" pitchFamily="18" charset="0"/>
              </a:rPr>
              <a:t>Fuli</a:t>
            </a:r>
            <a:r>
              <a:rPr lang="en-US" altLang="zh-CN" sz="2000" dirty="0" smtClean="0">
                <a:latin typeface="Times New Roman" pitchFamily="18" charset="0"/>
                <a:ea typeface="华文楷体" pitchFamily="2" charset="-122"/>
                <a:cs typeface="Times New Roman" pitchFamily="18" charset="0"/>
              </a:rPr>
              <a:t> Zhang, </a:t>
            </a:r>
            <a:r>
              <a:rPr lang="en-US" altLang="zh-CN" sz="2000" dirty="0" err="1" smtClean="0">
                <a:latin typeface="Times New Roman" pitchFamily="18" charset="0"/>
                <a:ea typeface="华文楷体" pitchFamily="2" charset="-122"/>
                <a:cs typeface="Times New Roman" pitchFamily="18" charset="0"/>
              </a:rPr>
              <a:t>Yangyang</a:t>
            </a:r>
            <a:r>
              <a:rPr lang="en-US" altLang="zh-CN" sz="2000" dirty="0" smtClean="0">
                <a:latin typeface="Times New Roman" pitchFamily="18" charset="0"/>
                <a:ea typeface="华文楷体" pitchFamily="2" charset="-122"/>
                <a:cs typeface="Times New Roman" pitchFamily="18" charset="0"/>
              </a:rPr>
              <a:t> </a:t>
            </a:r>
            <a:r>
              <a:rPr lang="en-US" altLang="zh-CN" sz="2000" dirty="0" err="1" smtClean="0">
                <a:latin typeface="Times New Roman" pitchFamily="18" charset="0"/>
                <a:ea typeface="华文楷体" pitchFamily="2" charset="-122"/>
                <a:cs typeface="Times New Roman" pitchFamily="18" charset="0"/>
              </a:rPr>
              <a:t>Peng</a:t>
            </a:r>
            <a:r>
              <a:rPr lang="en-US" altLang="zh-CN" sz="2000" dirty="0" smtClean="0">
                <a:latin typeface="Times New Roman" pitchFamily="18" charset="0"/>
                <a:ea typeface="华文楷体" pitchFamily="2" charset="-122"/>
                <a:cs typeface="Times New Roman" pitchFamily="18" charset="0"/>
              </a:rPr>
              <a:t>, Xing Yin</a:t>
            </a:r>
            <a:endParaRPr lang="en-US" altLang="zh-CN" sz="2400" dirty="0">
              <a:latin typeface="Times New Roman" pitchFamily="18" charset="0"/>
              <a:ea typeface="华文楷体" pitchFamily="2" charset="-122"/>
              <a:cs typeface="Times New Roman" pitchFamily="18" charset="0"/>
            </a:endParaRPr>
          </a:p>
          <a:p>
            <a:r>
              <a:rPr lang="en-US" altLang="zh-CN" dirty="0">
                <a:latin typeface="华文楷体" pitchFamily="2" charset="-122"/>
                <a:ea typeface="华文楷体" pitchFamily="2" charset="-122"/>
              </a:rPr>
              <a:t>                                      </a:t>
            </a:r>
            <a:r>
              <a:rPr lang="en-US" altLang="zh-CN" dirty="0" smtClean="0">
                <a:latin typeface="华文楷体" pitchFamily="2" charset="-122"/>
                <a:ea typeface="华文楷体" pitchFamily="2" charset="-122"/>
              </a:rPr>
              <a:t>2019</a:t>
            </a:r>
            <a:endParaRPr lang="en-US" altLang="zh-CN" dirty="0">
              <a:latin typeface="华文楷体" pitchFamily="2" charset="-122"/>
              <a:ea typeface="华文楷体" pitchFamily="2" charset="-122"/>
            </a:endParaRPr>
          </a:p>
        </p:txBody>
      </p:sp>
      <p:sp>
        <p:nvSpPr>
          <p:cNvPr id="2" name="TextBox 1"/>
          <p:cNvSpPr txBox="1"/>
          <p:nvPr/>
        </p:nvSpPr>
        <p:spPr>
          <a:xfrm>
            <a:off x="179512" y="2420888"/>
            <a:ext cx="8856984" cy="1077218"/>
          </a:xfrm>
          <a:prstGeom prst="rect">
            <a:avLst/>
          </a:prstGeom>
          <a:noFill/>
        </p:spPr>
        <p:txBody>
          <a:bodyPr wrap="square" rtlCol="0">
            <a:spAutoFit/>
          </a:bodyPr>
          <a:lstStyle/>
          <a:p>
            <a:pPr algn="ctr"/>
            <a:r>
              <a:rPr lang="en-US" altLang="zh-CN" sz="3200" dirty="0">
                <a:latin typeface="Times New Roman" panose="02020603050405020304" pitchFamily="18" charset="0"/>
                <a:cs typeface="Times New Roman" panose="02020603050405020304" pitchFamily="18" charset="0"/>
              </a:rPr>
              <a:t>Cooperative and </a:t>
            </a:r>
            <a:r>
              <a:rPr lang="en-US" altLang="zh-CN" sz="3200" dirty="0" smtClean="0">
                <a:latin typeface="Times New Roman" panose="02020603050405020304" pitchFamily="18" charset="0"/>
                <a:cs typeface="Times New Roman" panose="02020603050405020304" pitchFamily="18" charset="0"/>
              </a:rPr>
              <a:t>Non-cooperative </a:t>
            </a:r>
            <a:r>
              <a:rPr lang="en-US" altLang="zh-CN" sz="3200" dirty="0">
                <a:latin typeface="Times New Roman" panose="02020603050405020304" pitchFamily="18" charset="0"/>
                <a:cs typeface="Times New Roman" panose="02020603050405020304" pitchFamily="18" charset="0"/>
              </a:rPr>
              <a:t>R&amp;D in Duopoly Manufacturers with a Common Supplier </a:t>
            </a:r>
          </a:p>
        </p:txBody>
      </p:sp>
      <p:sp>
        <p:nvSpPr>
          <p:cNvPr id="3" name="日期占位符 2"/>
          <p:cNvSpPr>
            <a:spLocks noGrp="1"/>
          </p:cNvSpPr>
          <p:nvPr>
            <p:ph type="dt" sz="half" idx="10"/>
          </p:nvPr>
        </p:nvSpPr>
        <p:spPr>
          <a:xfrm>
            <a:off x="7412102" y="6237312"/>
            <a:ext cx="1649344" cy="411138"/>
          </a:xfrm>
        </p:spPr>
        <p:txBody>
          <a:bodyPr/>
          <a:lstStyle/>
          <a:p>
            <a:pPr>
              <a:defRPr/>
            </a:pPr>
            <a:fld id="{0A464B48-6974-44F5-AC02-97CD2F06A533}" type="datetime4">
              <a:rPr lang="en-US" altLang="zh-CN" smtClean="0">
                <a:solidFill>
                  <a:srgbClr val="292929"/>
                </a:solidFill>
              </a:rPr>
              <a:t>April 25, 2019</a:t>
            </a:fld>
            <a:endParaRPr lang="en-US" altLang="zh-CN" dirty="0">
              <a:solidFill>
                <a:srgbClr val="292929"/>
              </a:solidFill>
            </a:endParaRPr>
          </a:p>
        </p:txBody>
      </p:sp>
      <p:sp>
        <p:nvSpPr>
          <p:cNvPr id="4" name="页脚占位符 3"/>
          <p:cNvSpPr>
            <a:spLocks noGrp="1"/>
          </p:cNvSpPr>
          <p:nvPr>
            <p:ph type="ftr" sz="quarter" idx="11"/>
          </p:nvPr>
        </p:nvSpPr>
        <p:spPr>
          <a:xfrm>
            <a:off x="6880" y="6237312"/>
            <a:ext cx="3730025" cy="504825"/>
          </a:xfrm>
        </p:spPr>
        <p:txBody>
          <a:bodyPr/>
          <a:lstStyle/>
          <a:p>
            <a:pPr>
              <a:defRPr/>
            </a:pPr>
            <a:r>
              <a:rPr lang="en-US" altLang="zh-CN" dirty="0" err="1" smtClean="0">
                <a:solidFill>
                  <a:srgbClr val="292929"/>
                </a:solidFill>
              </a:rPr>
              <a:t>Xiaolin</a:t>
            </a:r>
            <a:r>
              <a:rPr lang="en-US" altLang="zh-CN" dirty="0" smtClean="0">
                <a:solidFill>
                  <a:srgbClr val="292929"/>
                </a:solidFill>
              </a:rPr>
              <a:t> </a:t>
            </a:r>
            <a:r>
              <a:rPr lang="en-US" altLang="zh-CN" dirty="0" err="1" smtClean="0">
                <a:solidFill>
                  <a:srgbClr val="292929"/>
                </a:solidFill>
              </a:rPr>
              <a:t>Xu</a:t>
            </a:r>
            <a:r>
              <a:rPr lang="zh-CN" altLang="en-US" dirty="0" smtClean="0">
                <a:solidFill>
                  <a:srgbClr val="292929"/>
                </a:solidFill>
              </a:rPr>
              <a:t>（</a:t>
            </a:r>
            <a:r>
              <a:rPr lang="en-US" altLang="zh-CN" dirty="0" smtClean="0">
                <a:solidFill>
                  <a:srgbClr val="292929"/>
                </a:solidFill>
              </a:rPr>
              <a:t> </a:t>
            </a:r>
            <a:r>
              <a:rPr lang="en-US" altLang="zh-CN" dirty="0">
                <a:solidFill>
                  <a:srgbClr val="292929"/>
                </a:solidFill>
              </a:rPr>
              <a:t>Nanjing University </a:t>
            </a:r>
            <a:r>
              <a:rPr lang="zh-CN" altLang="en-US" dirty="0" smtClean="0">
                <a:solidFill>
                  <a:srgbClr val="292929"/>
                </a:solidFill>
              </a:rPr>
              <a:t>）</a:t>
            </a:r>
            <a:endParaRPr lang="en-US" altLang="zh-CN" dirty="0">
              <a:solidFill>
                <a:srgbClr val="292929"/>
              </a:solidFill>
            </a:endParaRPr>
          </a:p>
        </p:txBody>
      </p:sp>
      <p:sp>
        <p:nvSpPr>
          <p:cNvPr id="5" name="灯片编号占位符 4"/>
          <p:cNvSpPr>
            <a:spLocks noGrp="1"/>
          </p:cNvSpPr>
          <p:nvPr>
            <p:ph type="sldNum" sz="quarter" idx="12"/>
          </p:nvPr>
        </p:nvSpPr>
        <p:spPr>
          <a:xfrm>
            <a:off x="4319972" y="6237312"/>
            <a:ext cx="576064" cy="457200"/>
          </a:xfrm>
        </p:spPr>
        <p:txBody>
          <a:bodyPr/>
          <a:lstStyle/>
          <a:p>
            <a:fld id="{50087F75-20C6-4A15-A799-FE5C367A592D}" type="slidenum">
              <a:rPr lang="en-US" altLang="zh-CN" smtClean="0">
                <a:solidFill>
                  <a:srgbClr val="292929"/>
                </a:solidFill>
              </a:rPr>
              <a:pPr/>
              <a:t>1</a:t>
            </a:fld>
            <a:endParaRPr lang="en-US" altLang="zh-CN" dirty="0">
              <a:solidFill>
                <a:srgbClr val="292929"/>
              </a:solidFill>
            </a:endParaRPr>
          </a:p>
        </p:txBody>
      </p:sp>
    </p:spTree>
    <p:extLst>
      <p:ext uri="{BB962C8B-B14F-4D97-AF65-F5344CB8AC3E}">
        <p14:creationId xmlns:p14="http://schemas.microsoft.com/office/powerpoint/2010/main" val="3278772272"/>
      </p:ext>
    </p:extLst>
  </p:cSld>
  <p:clrMapOvr>
    <a:masterClrMapping/>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63532" y="259616"/>
            <a:ext cx="1532768" cy="647700"/>
          </a:xfrm>
        </p:spPr>
        <p:txBody>
          <a:bodyPr/>
          <a:lstStyle/>
          <a:p>
            <a:r>
              <a:rPr lang="en-US" altLang="zh-CN" dirty="0">
                <a:latin typeface="Times New Roman" pitchFamily="18" charset="0"/>
                <a:cs typeface="Times New Roman" pitchFamily="18" charset="0"/>
              </a:rPr>
              <a:t>Outline</a:t>
            </a:r>
            <a:endParaRPr lang="zh-CN" altLang="en-US" dirty="0">
              <a:latin typeface="Times New Roman" pitchFamily="18" charset="0"/>
              <a:cs typeface="Times New Roman" pitchFamily="18" charset="0"/>
            </a:endParaRPr>
          </a:p>
        </p:txBody>
      </p:sp>
      <p:sp>
        <p:nvSpPr>
          <p:cNvPr id="3" name="内容占位符 2"/>
          <p:cNvSpPr>
            <a:spLocks noGrp="1"/>
          </p:cNvSpPr>
          <p:nvPr>
            <p:ph idx="1"/>
          </p:nvPr>
        </p:nvSpPr>
        <p:spPr>
          <a:xfrm>
            <a:off x="1115616" y="1700808"/>
            <a:ext cx="5975895" cy="3743622"/>
          </a:xfrm>
        </p:spPr>
        <p:txBody>
          <a:bodyPr/>
          <a:lstStyle/>
          <a:p>
            <a:pPr>
              <a:buClrTx/>
              <a:buFont typeface="Wingdings" pitchFamily="2" charset="2"/>
              <a:buChar char="Ø"/>
            </a:pPr>
            <a:r>
              <a:rPr lang="en-US" altLang="zh-CN" dirty="0">
                <a:latin typeface="Times New Roman" pitchFamily="18" charset="0"/>
                <a:cs typeface="Times New Roman" pitchFamily="18" charset="0"/>
              </a:rPr>
              <a:t> Motivation and Research Problem</a:t>
            </a:r>
          </a:p>
          <a:p>
            <a:pPr>
              <a:buClrTx/>
              <a:buFont typeface="Wingdings" pitchFamily="2" charset="2"/>
              <a:buChar char="Ø"/>
            </a:pPr>
            <a:r>
              <a:rPr lang="en-US" altLang="zh-CN" dirty="0">
                <a:latin typeface="Times New Roman" pitchFamily="18" charset="0"/>
                <a:cs typeface="Times New Roman" pitchFamily="18" charset="0"/>
              </a:rPr>
              <a:t> Literature Review</a:t>
            </a:r>
          </a:p>
          <a:p>
            <a:pPr>
              <a:buClrTx/>
              <a:buFont typeface="Wingdings" pitchFamily="2" charset="2"/>
              <a:buChar char="Ø"/>
            </a:pPr>
            <a:r>
              <a:rPr lang="en-US" altLang="zh-CN" dirty="0">
                <a:latin typeface="Times New Roman" pitchFamily="18" charset="0"/>
                <a:cs typeface="Times New Roman" pitchFamily="18" charset="0"/>
              </a:rPr>
              <a:t> Model Description</a:t>
            </a:r>
          </a:p>
          <a:p>
            <a:pPr>
              <a:buClrTx/>
              <a:buFont typeface="Wingdings" pitchFamily="2" charset="2"/>
              <a:buChar char="Ø"/>
            </a:pPr>
            <a:r>
              <a:rPr lang="en-US" altLang="zh-CN" dirty="0">
                <a:latin typeface="Times New Roman" pitchFamily="18" charset="0"/>
                <a:cs typeface="Times New Roman" pitchFamily="18" charset="0"/>
              </a:rPr>
              <a:t> Model </a:t>
            </a:r>
            <a:r>
              <a:rPr lang="en-US" altLang="zh-CN" dirty="0" smtClean="0">
                <a:latin typeface="Times New Roman" pitchFamily="18" charset="0"/>
                <a:cs typeface="Times New Roman" pitchFamily="18" charset="0"/>
              </a:rPr>
              <a:t>Analysis</a:t>
            </a:r>
          </a:p>
          <a:p>
            <a:pPr>
              <a:buClrTx/>
              <a:buFont typeface="Wingdings" pitchFamily="2" charset="2"/>
              <a:buChar char="Ø"/>
            </a:pPr>
            <a:r>
              <a:rPr lang="en-US" altLang="zh-CN" dirty="0" smtClean="0">
                <a:latin typeface="Times New Roman" pitchFamily="18" charset="0"/>
                <a:cs typeface="Times New Roman" pitchFamily="18" charset="0"/>
              </a:rPr>
              <a:t> Some Extensions</a:t>
            </a:r>
            <a:endParaRPr lang="en-US" altLang="zh-CN" dirty="0">
              <a:latin typeface="Times New Roman" pitchFamily="18" charset="0"/>
              <a:cs typeface="Times New Roman" pitchFamily="18" charset="0"/>
            </a:endParaRPr>
          </a:p>
          <a:p>
            <a:pPr>
              <a:buClrTx/>
              <a:buFont typeface="Wingdings" pitchFamily="2" charset="2"/>
              <a:buChar char="Ø"/>
            </a:pPr>
            <a:r>
              <a:rPr lang="en-US" altLang="zh-CN" dirty="0" smtClean="0">
                <a:latin typeface="Times New Roman" pitchFamily="18" charset="0"/>
                <a:cs typeface="Times New Roman" pitchFamily="18" charset="0"/>
              </a:rPr>
              <a:t> Conclusions</a:t>
            </a:r>
            <a:endParaRPr lang="zh-CN" altLang="en-US" dirty="0">
              <a:latin typeface="Times New Roman" pitchFamily="18" charset="0"/>
              <a:cs typeface="Times New Roman" pitchFamily="18" charset="0"/>
            </a:endParaRPr>
          </a:p>
        </p:txBody>
      </p:sp>
      <p:sp>
        <p:nvSpPr>
          <p:cNvPr id="4" name="日期占位符 3"/>
          <p:cNvSpPr>
            <a:spLocks noGrp="1"/>
          </p:cNvSpPr>
          <p:nvPr>
            <p:ph type="dt" sz="half" idx="10"/>
          </p:nvPr>
        </p:nvSpPr>
        <p:spPr>
          <a:xfrm>
            <a:off x="7860646" y="6554470"/>
            <a:ext cx="1283354" cy="296227"/>
          </a:xfrm>
        </p:spPr>
        <p:txBody>
          <a:bodyPr/>
          <a:lstStyle/>
          <a:p>
            <a:pPr>
              <a:defRPr/>
            </a:pPr>
            <a:fld id="{36F63D02-FA5E-4D40-AF62-13CE9F18A1ED}" type="datetime4">
              <a:rPr lang="en-US" altLang="zh-CN" smtClean="0">
                <a:solidFill>
                  <a:srgbClr val="292929"/>
                </a:solidFill>
              </a:rPr>
              <a:t>April 25, 2019</a:t>
            </a:fld>
            <a:endParaRPr lang="en-US" altLang="zh-CN" dirty="0">
              <a:solidFill>
                <a:srgbClr val="292929"/>
              </a:solidFill>
            </a:endParaRPr>
          </a:p>
        </p:txBody>
      </p:sp>
      <p:sp>
        <p:nvSpPr>
          <p:cNvPr id="5" name="页脚占位符 4"/>
          <p:cNvSpPr>
            <a:spLocks noGrp="1"/>
          </p:cNvSpPr>
          <p:nvPr>
            <p:ph type="ftr" sz="quarter" idx="11"/>
          </p:nvPr>
        </p:nvSpPr>
        <p:spPr>
          <a:xfrm>
            <a:off x="0" y="6569075"/>
            <a:ext cx="3059832" cy="288925"/>
          </a:xfrm>
        </p:spPr>
        <p:txBody>
          <a:bodyPr/>
          <a:lstStyle/>
          <a:p>
            <a:pPr>
              <a:defRPr/>
            </a:pPr>
            <a:r>
              <a:rPr lang="en-US" altLang="zh-CN" smtClean="0"/>
              <a:t>Xiaolin Xu</a:t>
            </a:r>
            <a:r>
              <a:rPr lang="zh-CN" altLang="en-US" smtClean="0"/>
              <a:t>（ </a:t>
            </a:r>
            <a:r>
              <a:rPr lang="en-US" altLang="zh-CN" smtClean="0"/>
              <a:t>Nanjing University </a:t>
            </a:r>
            <a:r>
              <a:rPr lang="zh-CN" altLang="en-US" smtClean="0"/>
              <a:t>）</a:t>
            </a:r>
            <a:endParaRPr lang="en-US" altLang="zh-CN" dirty="0"/>
          </a:p>
        </p:txBody>
      </p:sp>
      <p:sp>
        <p:nvSpPr>
          <p:cNvPr id="6" name="灯片编号占位符 5"/>
          <p:cNvSpPr>
            <a:spLocks noGrp="1"/>
          </p:cNvSpPr>
          <p:nvPr>
            <p:ph type="sldNum" sz="quarter" idx="12"/>
          </p:nvPr>
        </p:nvSpPr>
        <p:spPr>
          <a:xfrm>
            <a:off x="3932977" y="6561772"/>
            <a:ext cx="933450" cy="288925"/>
          </a:xfrm>
        </p:spPr>
        <p:txBody>
          <a:bodyPr/>
          <a:lstStyle/>
          <a:p>
            <a:fld id="{71E37E66-47ED-4E23-B805-CF9315C51031}" type="slidenum">
              <a:rPr lang="en-US" altLang="zh-CN" smtClean="0">
                <a:solidFill>
                  <a:srgbClr val="292929"/>
                </a:solidFill>
              </a:rPr>
              <a:pPr/>
              <a:t>2</a:t>
            </a:fld>
            <a:endParaRPr lang="en-US" altLang="zh-CN" dirty="0">
              <a:solidFill>
                <a:srgbClr val="292929"/>
              </a:solidFill>
            </a:endParaRPr>
          </a:p>
        </p:txBody>
      </p:sp>
    </p:spTree>
    <p:extLst>
      <p:ext uri="{BB962C8B-B14F-4D97-AF65-F5344CB8AC3E}">
        <p14:creationId xmlns:p14="http://schemas.microsoft.com/office/powerpoint/2010/main" val="2934799826"/>
      </p:ext>
    </p:extLst>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1520" y="188640"/>
            <a:ext cx="8135937" cy="647700"/>
          </a:xfrm>
        </p:spPr>
        <p:txBody>
          <a:bodyPr/>
          <a:lstStyle/>
          <a:p>
            <a:r>
              <a:rPr lang="en-US" altLang="zh-CN" dirty="0">
                <a:latin typeface="Times New Roman" pitchFamily="18" charset="0"/>
                <a:cs typeface="Times New Roman" pitchFamily="18" charset="0"/>
              </a:rPr>
              <a:t>Motivation</a:t>
            </a:r>
            <a:endParaRPr lang="zh-CN" altLang="en-US" dirty="0"/>
          </a:p>
        </p:txBody>
      </p:sp>
      <p:sp>
        <p:nvSpPr>
          <p:cNvPr id="4" name="日期占位符 3"/>
          <p:cNvSpPr>
            <a:spLocks noGrp="1"/>
          </p:cNvSpPr>
          <p:nvPr>
            <p:ph type="dt" sz="half" idx="10"/>
          </p:nvPr>
        </p:nvSpPr>
        <p:spPr>
          <a:xfrm>
            <a:off x="7755738" y="6539257"/>
            <a:ext cx="1317645" cy="283797"/>
          </a:xfrm>
        </p:spPr>
        <p:txBody>
          <a:bodyPr/>
          <a:lstStyle/>
          <a:p>
            <a:pPr>
              <a:defRPr/>
            </a:pPr>
            <a:fld id="{4F2701F2-B2AF-4F87-8B6F-3240EE9DBA2C}" type="datetime4">
              <a:rPr lang="en-US" altLang="zh-CN" smtClean="0">
                <a:solidFill>
                  <a:srgbClr val="292929"/>
                </a:solidFill>
              </a:rPr>
              <a:t>April 25, 2019</a:t>
            </a:fld>
            <a:endParaRPr lang="en-US" altLang="zh-CN" dirty="0">
              <a:solidFill>
                <a:srgbClr val="292929"/>
              </a:solidFill>
            </a:endParaRPr>
          </a:p>
        </p:txBody>
      </p:sp>
      <p:sp>
        <p:nvSpPr>
          <p:cNvPr id="6" name="灯片编号占位符 5"/>
          <p:cNvSpPr>
            <a:spLocks noGrp="1"/>
          </p:cNvSpPr>
          <p:nvPr>
            <p:ph type="sldNum" sz="quarter" idx="12"/>
          </p:nvPr>
        </p:nvSpPr>
        <p:spPr>
          <a:xfrm>
            <a:off x="3882004" y="6569074"/>
            <a:ext cx="933450" cy="288925"/>
          </a:xfrm>
        </p:spPr>
        <p:txBody>
          <a:bodyPr/>
          <a:lstStyle/>
          <a:p>
            <a:fld id="{71E37E66-47ED-4E23-B805-CF9315C51031}" type="slidenum">
              <a:rPr lang="en-US" altLang="zh-CN" smtClean="0">
                <a:solidFill>
                  <a:srgbClr val="292929"/>
                </a:solidFill>
              </a:rPr>
              <a:pPr/>
              <a:t>3</a:t>
            </a:fld>
            <a:endParaRPr lang="en-US" altLang="zh-CN" dirty="0">
              <a:solidFill>
                <a:srgbClr val="292929"/>
              </a:solidFill>
            </a:endParaRPr>
          </a:p>
        </p:txBody>
      </p:sp>
      <p:sp>
        <p:nvSpPr>
          <p:cNvPr id="7" name="TextBox 6"/>
          <p:cNvSpPr txBox="1"/>
          <p:nvPr/>
        </p:nvSpPr>
        <p:spPr>
          <a:xfrm>
            <a:off x="0" y="1124744"/>
            <a:ext cx="9065674" cy="1200329"/>
          </a:xfrm>
          <a:prstGeom prst="rect">
            <a:avLst/>
          </a:prstGeom>
          <a:noFill/>
        </p:spPr>
        <p:txBody>
          <a:bodyPr wrap="square" rtlCol="0">
            <a:spAutoFit/>
          </a:bodyPr>
          <a:lstStyle/>
          <a:p>
            <a:pPr marL="285750" indent="-285750" algn="just">
              <a:buFont typeface="Wingdings" pitchFamily="2" charset="2"/>
              <a:buChar char="Ø"/>
            </a:pPr>
            <a:r>
              <a:rPr lang="en-US" altLang="zh-CN" dirty="0" smtClean="0">
                <a:latin typeface="Times New Roman" panose="02020603050405020304" pitchFamily="18" charset="0"/>
                <a:cs typeface="Times New Roman" panose="02020603050405020304" pitchFamily="18" charset="0"/>
              </a:rPr>
              <a:t>Cooperative </a:t>
            </a:r>
            <a:r>
              <a:rPr lang="en-US" altLang="zh-CN" dirty="0">
                <a:latin typeface="Times New Roman" panose="02020603050405020304" pitchFamily="18" charset="0"/>
                <a:cs typeface="Times New Roman" panose="02020603050405020304" pitchFamily="18" charset="0"/>
              </a:rPr>
              <a:t>R&amp;D strategy is commonly used by </a:t>
            </a:r>
            <a:r>
              <a:rPr lang="en-US" altLang="zh-CN" dirty="0">
                <a:solidFill>
                  <a:srgbClr val="7030A0"/>
                </a:solidFill>
                <a:latin typeface="Times New Roman" panose="02020603050405020304" pitchFamily="18" charset="0"/>
                <a:cs typeface="Times New Roman" panose="02020603050405020304" pitchFamily="18" charset="0"/>
              </a:rPr>
              <a:t>technological industries, including electronics and new materials</a:t>
            </a:r>
            <a:r>
              <a:rPr lang="en-US" altLang="zh-CN" dirty="0">
                <a:latin typeface="Times New Roman" panose="02020603050405020304" pitchFamily="18" charset="0"/>
                <a:cs typeface="Times New Roman" panose="02020603050405020304" pitchFamily="18" charset="0"/>
              </a:rPr>
              <a:t>, as well as in many bioengineering areas, including medicine and food </a:t>
            </a:r>
            <a:r>
              <a:rPr lang="en-US" altLang="zh-CN" dirty="0" smtClean="0">
                <a:latin typeface="Times New Roman" panose="02020603050405020304" pitchFamily="18" charset="0"/>
                <a:cs typeface="Times New Roman" panose="02020603050405020304" pitchFamily="18" charset="0"/>
              </a:rPr>
              <a:t>fermentation</a:t>
            </a:r>
            <a:r>
              <a:rPr lang="zh-CN" altLang="en-US" dirty="0" smtClean="0">
                <a:latin typeface="Times New Roman" panose="02020603050405020304" pitchFamily="18" charset="0"/>
                <a:cs typeface="Times New Roman" panose="02020603050405020304" pitchFamily="18" charset="0"/>
              </a:rPr>
              <a:t>；</a:t>
            </a:r>
            <a:r>
              <a:rPr lang="en-US" altLang="zh-CN" dirty="0" smtClean="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a:p>
            <a:pPr marL="285750" indent="-285750">
              <a:buFont typeface="Wingdings" pitchFamily="2" charset="2"/>
              <a:buChar char="Ø"/>
            </a:pPr>
            <a:endParaRPr lang="zh-CN" altLang="en-US" dirty="0">
              <a:latin typeface="Times New Roman" pitchFamily="18" charset="0"/>
              <a:cs typeface="Times New Roman" pitchFamily="18" charset="0"/>
            </a:endParaRPr>
          </a:p>
        </p:txBody>
      </p:sp>
      <p:sp>
        <p:nvSpPr>
          <p:cNvPr id="26" name="页脚占位符 4"/>
          <p:cNvSpPr>
            <a:spLocks noGrp="1"/>
          </p:cNvSpPr>
          <p:nvPr>
            <p:ph type="ftr" sz="quarter" idx="11"/>
          </p:nvPr>
        </p:nvSpPr>
        <p:spPr>
          <a:xfrm>
            <a:off x="0" y="6569075"/>
            <a:ext cx="3059832" cy="288925"/>
          </a:xfrm>
        </p:spPr>
        <p:txBody>
          <a:bodyPr/>
          <a:lstStyle/>
          <a:p>
            <a:pPr>
              <a:defRPr/>
            </a:pPr>
            <a:r>
              <a:rPr lang="en-US" altLang="zh-CN" smtClean="0"/>
              <a:t>Xiaolin Xu</a:t>
            </a:r>
            <a:r>
              <a:rPr lang="zh-CN" altLang="en-US" smtClean="0"/>
              <a:t>（ </a:t>
            </a:r>
            <a:r>
              <a:rPr lang="en-US" altLang="zh-CN" smtClean="0"/>
              <a:t>Nanjing University </a:t>
            </a:r>
            <a:r>
              <a:rPr lang="zh-CN" altLang="en-US" smtClean="0"/>
              <a:t>）</a:t>
            </a:r>
            <a:endParaRPr lang="en-US" altLang="zh-CN" dirty="0"/>
          </a:p>
        </p:txBody>
      </p:sp>
      <p:pic>
        <p:nvPicPr>
          <p:cNvPr id="9" name="图片 8" descr="屏幕快照 2019-04-23 上午10.04.24.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80312" y="3072638"/>
            <a:ext cx="860455" cy="825334"/>
          </a:xfrm>
          <a:prstGeom prst="rect">
            <a:avLst/>
          </a:prstGeom>
        </p:spPr>
      </p:pic>
      <p:pic>
        <p:nvPicPr>
          <p:cNvPr id="14" name="图片 13"/>
          <p:cNvPicPr>
            <a:picLocks noChangeAspect="1"/>
          </p:cNvPicPr>
          <p:nvPr/>
        </p:nvPicPr>
        <p:blipFill>
          <a:blip r:embed="rId4"/>
          <a:stretch>
            <a:fillRect/>
          </a:stretch>
        </p:blipFill>
        <p:spPr>
          <a:xfrm>
            <a:off x="4531563" y="3011281"/>
            <a:ext cx="1318833" cy="928275"/>
          </a:xfrm>
          <a:prstGeom prst="rect">
            <a:avLst/>
          </a:prstGeom>
        </p:spPr>
      </p:pic>
      <p:sp>
        <p:nvSpPr>
          <p:cNvPr id="3" name="矩形 2"/>
          <p:cNvSpPr/>
          <p:nvPr/>
        </p:nvSpPr>
        <p:spPr>
          <a:xfrm>
            <a:off x="467544" y="2158032"/>
            <a:ext cx="8496944" cy="892552"/>
          </a:xfrm>
          <a:prstGeom prst="rect">
            <a:avLst/>
          </a:prstGeom>
        </p:spPr>
        <p:txBody>
          <a:bodyPr wrap="square">
            <a:spAutoFit/>
          </a:bodyPr>
          <a:lstStyle/>
          <a:p>
            <a:r>
              <a:rPr lang="en-US" altLang="zh-CN" dirty="0" smtClean="0">
                <a:solidFill>
                  <a:srgbClr val="000000"/>
                </a:solidFill>
                <a:latin typeface="Times New Roman" panose="02020603050405020304" pitchFamily="18" charset="0"/>
                <a:cs typeface="Times New Roman" panose="02020603050405020304" pitchFamily="18" charset="0"/>
              </a:rPr>
              <a:t>“BMW </a:t>
            </a:r>
            <a:r>
              <a:rPr lang="en-US" altLang="zh-CN" dirty="0">
                <a:solidFill>
                  <a:srgbClr val="000000"/>
                </a:solidFill>
                <a:latin typeface="Times New Roman" panose="02020603050405020304" pitchFamily="18" charset="0"/>
                <a:cs typeface="Times New Roman" panose="02020603050405020304" pitchFamily="18" charset="0"/>
              </a:rPr>
              <a:t>and Mercedes-Benz Will Stop Fighting and Join Forces to Make a Better Autonomous </a:t>
            </a:r>
            <a:r>
              <a:rPr lang="en-US" altLang="zh-CN" dirty="0" smtClean="0">
                <a:solidFill>
                  <a:srgbClr val="000000"/>
                </a:solidFill>
                <a:latin typeface="Times New Roman" panose="02020603050405020304" pitchFamily="18" charset="0"/>
                <a:cs typeface="Times New Roman" panose="02020603050405020304" pitchFamily="18" charset="0"/>
              </a:rPr>
              <a:t>Car”</a:t>
            </a:r>
          </a:p>
          <a:p>
            <a:r>
              <a:rPr lang="en-US" altLang="zh-CN" sz="1600" i="1" dirty="0">
                <a:solidFill>
                  <a:srgbClr val="000000"/>
                </a:solidFill>
                <a:latin typeface="Times New Roman" panose="02020603050405020304" pitchFamily="18" charset="0"/>
                <a:cs typeface="Times New Roman" panose="02020603050405020304" pitchFamily="18" charset="0"/>
              </a:rPr>
              <a:t>https://www.caranddriver.com/news/a26572775/bmw-and-mercedes-benz-joint-autonomous-car/</a:t>
            </a:r>
            <a:endParaRPr lang="en-US" altLang="zh-CN" sz="1600" i="1" dirty="0">
              <a:solidFill>
                <a:srgbClr val="000000"/>
              </a:solidFill>
              <a:effectLst/>
              <a:latin typeface="Times New Roman" panose="02020603050405020304" pitchFamily="18" charset="0"/>
              <a:cs typeface="Times New Roman" panose="02020603050405020304" pitchFamily="18" charset="0"/>
            </a:endParaRPr>
          </a:p>
        </p:txBody>
      </p:sp>
      <p:sp>
        <p:nvSpPr>
          <p:cNvPr id="5" name="矩形 4"/>
          <p:cNvSpPr/>
          <p:nvPr/>
        </p:nvSpPr>
        <p:spPr>
          <a:xfrm>
            <a:off x="467544" y="3935590"/>
            <a:ext cx="8496944" cy="1754326"/>
          </a:xfrm>
          <a:prstGeom prst="rect">
            <a:avLst/>
          </a:prstGeom>
        </p:spPr>
        <p:txBody>
          <a:bodyPr wrap="square">
            <a:spAutoFit/>
          </a:bodyPr>
          <a:lstStyle/>
          <a:p>
            <a:r>
              <a:rPr lang="en-US" altLang="zh-CN" dirty="0" smtClean="0">
                <a:latin typeface="Times New Roman" panose="02020603050405020304" pitchFamily="18" charset="0"/>
                <a:cs typeface="Times New Roman" panose="02020603050405020304" pitchFamily="18" charset="0"/>
              </a:rPr>
              <a:t>“Ericsson </a:t>
            </a:r>
            <a:r>
              <a:rPr lang="en-US" altLang="zh-CN" dirty="0">
                <a:latin typeface="Times New Roman" panose="02020603050405020304" pitchFamily="18" charset="0"/>
                <a:cs typeface="Times New Roman" panose="02020603050405020304" pitchFamily="18" charset="0"/>
              </a:rPr>
              <a:t>and OPPO sign initial patent license </a:t>
            </a:r>
            <a:r>
              <a:rPr lang="en-US" altLang="zh-CN" dirty="0" smtClean="0">
                <a:latin typeface="Times New Roman" panose="02020603050405020304" pitchFamily="18" charset="0"/>
                <a:cs typeface="Times New Roman" panose="02020603050405020304" pitchFamily="18" charset="0"/>
              </a:rPr>
              <a:t>agreement”</a:t>
            </a:r>
          </a:p>
          <a:p>
            <a:r>
              <a:rPr lang="en-US" altLang="zh-CN" i="1" dirty="0">
                <a:latin typeface="Times New Roman" panose="02020603050405020304" pitchFamily="18" charset="0"/>
                <a:cs typeface="Times New Roman" panose="02020603050405020304" pitchFamily="18" charset="0"/>
              </a:rPr>
              <a:t>Ericsson (NASDAQ:ERIC) and OPPO have signed a global patent license agreement. This initial agreement includes a cross license covering the 2G, 3G and 4G patent portfolios from both </a:t>
            </a:r>
            <a:r>
              <a:rPr lang="en-US" altLang="zh-CN" i="1" dirty="0" smtClean="0">
                <a:latin typeface="Times New Roman" panose="02020603050405020304" pitchFamily="18" charset="0"/>
                <a:cs typeface="Times New Roman" panose="02020603050405020304" pitchFamily="18" charset="0"/>
              </a:rPr>
              <a:t>companies</a:t>
            </a:r>
          </a:p>
          <a:p>
            <a:r>
              <a:rPr lang="en-US" altLang="zh-CN" sz="1600" i="1" dirty="0">
                <a:latin typeface="Times New Roman" panose="02020603050405020304" pitchFamily="18" charset="0"/>
                <a:cs typeface="Times New Roman" panose="02020603050405020304" pitchFamily="18" charset="0"/>
              </a:rPr>
              <a:t>https://www.ericsson.com/en/press-releases/2019/2/ericsson-and-oppo-sign-initial-patent-license-agreement</a:t>
            </a:r>
            <a:endParaRPr lang="en-US" altLang="zh-CN" sz="1600" i="1" dirty="0">
              <a:effectLst/>
              <a:latin typeface="Times New Roman" panose="02020603050405020304" pitchFamily="18" charset="0"/>
              <a:cs typeface="Times New Roman" panose="02020603050405020304" pitchFamily="18" charset="0"/>
            </a:endParaRPr>
          </a:p>
        </p:txBody>
      </p:sp>
      <p:pic>
        <p:nvPicPr>
          <p:cNvPr id="8" name="图片 7"/>
          <p:cNvPicPr>
            <a:picLocks noChangeAspect="1"/>
          </p:cNvPicPr>
          <p:nvPr/>
        </p:nvPicPr>
        <p:blipFill>
          <a:blip r:embed="rId5"/>
          <a:stretch>
            <a:fillRect/>
          </a:stretch>
        </p:blipFill>
        <p:spPr>
          <a:xfrm>
            <a:off x="4578835" y="5641629"/>
            <a:ext cx="976782" cy="516645"/>
          </a:xfrm>
          <a:prstGeom prst="rect">
            <a:avLst/>
          </a:prstGeom>
        </p:spPr>
      </p:pic>
      <p:pic>
        <p:nvPicPr>
          <p:cNvPr id="10" name="图片 9"/>
          <p:cNvPicPr>
            <a:picLocks noChangeAspect="1"/>
          </p:cNvPicPr>
          <p:nvPr/>
        </p:nvPicPr>
        <p:blipFill>
          <a:blip r:embed="rId6"/>
          <a:stretch>
            <a:fillRect/>
          </a:stretch>
        </p:blipFill>
        <p:spPr>
          <a:xfrm>
            <a:off x="7486395" y="5534094"/>
            <a:ext cx="780035" cy="731714"/>
          </a:xfrm>
          <a:prstGeom prst="rect">
            <a:avLst/>
          </a:prstGeom>
        </p:spPr>
      </p:pic>
      <p:pic>
        <p:nvPicPr>
          <p:cNvPr id="11" name="图片 10"/>
          <p:cNvPicPr>
            <a:picLocks noChangeAspect="1"/>
          </p:cNvPicPr>
          <p:nvPr/>
        </p:nvPicPr>
        <p:blipFill>
          <a:blip r:embed="rId7"/>
          <a:stretch>
            <a:fillRect/>
          </a:stretch>
        </p:blipFill>
        <p:spPr>
          <a:xfrm>
            <a:off x="6084168" y="3260620"/>
            <a:ext cx="809058" cy="464934"/>
          </a:xfrm>
          <a:prstGeom prst="rect">
            <a:avLst/>
          </a:prstGeom>
        </p:spPr>
      </p:pic>
      <p:pic>
        <p:nvPicPr>
          <p:cNvPr id="16" name="图片 15"/>
          <p:cNvPicPr>
            <a:picLocks noChangeAspect="1"/>
          </p:cNvPicPr>
          <p:nvPr/>
        </p:nvPicPr>
        <p:blipFill>
          <a:blip r:embed="rId7"/>
          <a:stretch>
            <a:fillRect/>
          </a:stretch>
        </p:blipFill>
        <p:spPr>
          <a:xfrm>
            <a:off x="6105376" y="5625467"/>
            <a:ext cx="809058" cy="464934"/>
          </a:xfrm>
          <a:prstGeom prst="rect">
            <a:avLst/>
          </a:prstGeom>
        </p:spPr>
      </p:pic>
      <p:cxnSp>
        <p:nvCxnSpPr>
          <p:cNvPr id="15" name="直接箭头连接符 14"/>
          <p:cNvCxnSpPr>
            <a:stCxn id="11" idx="3"/>
          </p:cNvCxnSpPr>
          <p:nvPr/>
        </p:nvCxnSpPr>
        <p:spPr bwMode="auto">
          <a:xfrm>
            <a:off x="6893226" y="3493087"/>
            <a:ext cx="487086" cy="0"/>
          </a:xfrm>
          <a:prstGeom prst="straightConnector1">
            <a:avLst/>
          </a:prstGeom>
          <a:solidFill>
            <a:schemeClr val="bg1"/>
          </a:solidFill>
          <a:ln w="9525" cap="flat" cmpd="sng" algn="ctr">
            <a:solidFill>
              <a:srgbClr val="FF0000"/>
            </a:solidFill>
            <a:prstDash val="solid"/>
            <a:round/>
            <a:headEnd type="none" w="med" len="med"/>
            <a:tailEnd type="triangle"/>
          </a:ln>
          <a:effectLst/>
        </p:spPr>
      </p:cxnSp>
      <p:cxnSp>
        <p:nvCxnSpPr>
          <p:cNvPr id="20" name="直接箭头连接符 19"/>
          <p:cNvCxnSpPr>
            <a:stCxn id="11" idx="1"/>
          </p:cNvCxnSpPr>
          <p:nvPr/>
        </p:nvCxnSpPr>
        <p:spPr bwMode="auto">
          <a:xfrm flipH="1">
            <a:off x="5533415" y="3493087"/>
            <a:ext cx="550753" cy="0"/>
          </a:xfrm>
          <a:prstGeom prst="straightConnector1">
            <a:avLst/>
          </a:prstGeom>
          <a:solidFill>
            <a:schemeClr val="bg1"/>
          </a:solidFill>
          <a:ln w="9525" cap="flat" cmpd="sng" algn="ctr">
            <a:solidFill>
              <a:srgbClr val="FF0000"/>
            </a:solidFill>
            <a:prstDash val="solid"/>
            <a:round/>
            <a:headEnd type="none" w="med" len="med"/>
            <a:tailEnd type="triangle"/>
          </a:ln>
          <a:effectLst/>
        </p:spPr>
      </p:cxnSp>
      <p:cxnSp>
        <p:nvCxnSpPr>
          <p:cNvPr id="23" name="直接箭头连接符 22"/>
          <p:cNvCxnSpPr/>
          <p:nvPr/>
        </p:nvCxnSpPr>
        <p:spPr bwMode="auto">
          <a:xfrm flipH="1">
            <a:off x="5533415" y="5959301"/>
            <a:ext cx="570198" cy="0"/>
          </a:xfrm>
          <a:prstGeom prst="straightConnector1">
            <a:avLst/>
          </a:prstGeom>
          <a:solidFill>
            <a:schemeClr val="bg1"/>
          </a:solidFill>
          <a:ln w="9525" cap="flat" cmpd="sng" algn="ctr">
            <a:solidFill>
              <a:srgbClr val="FF0000"/>
            </a:solidFill>
            <a:prstDash val="solid"/>
            <a:round/>
            <a:headEnd type="none" w="med" len="med"/>
            <a:tailEnd type="triangle"/>
          </a:ln>
          <a:effectLst/>
        </p:spPr>
      </p:cxnSp>
      <p:cxnSp>
        <p:nvCxnSpPr>
          <p:cNvPr id="28" name="直接箭头连接符 27"/>
          <p:cNvCxnSpPr/>
          <p:nvPr/>
        </p:nvCxnSpPr>
        <p:spPr bwMode="auto">
          <a:xfrm>
            <a:off x="6944040" y="5960710"/>
            <a:ext cx="556604" cy="0"/>
          </a:xfrm>
          <a:prstGeom prst="straightConnector1">
            <a:avLst/>
          </a:prstGeom>
          <a:solidFill>
            <a:schemeClr val="bg1"/>
          </a:solidFill>
          <a:ln w="9525"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2375611259"/>
      </p:ext>
    </p:extLst>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 y="188640"/>
            <a:ext cx="3347864" cy="647700"/>
          </a:xfrm>
        </p:spPr>
        <p:txBody>
          <a:bodyPr/>
          <a:lstStyle/>
          <a:p>
            <a:r>
              <a:rPr lang="en-US" altLang="zh-CN" dirty="0">
                <a:latin typeface="Times New Roman" pitchFamily="18" charset="0"/>
                <a:cs typeface="Times New Roman" pitchFamily="18" charset="0"/>
              </a:rPr>
              <a:t>Research Problem</a:t>
            </a:r>
            <a:br>
              <a:rPr lang="en-US" altLang="zh-CN" dirty="0">
                <a:latin typeface="Times New Roman" pitchFamily="18" charset="0"/>
                <a:cs typeface="Times New Roman" pitchFamily="18" charset="0"/>
              </a:rPr>
            </a:br>
            <a:endParaRPr lang="zh-CN" altLang="en-US" dirty="0"/>
          </a:p>
        </p:txBody>
      </p:sp>
      <p:sp>
        <p:nvSpPr>
          <p:cNvPr id="3" name="内容占位符 2"/>
          <p:cNvSpPr>
            <a:spLocks noGrp="1"/>
          </p:cNvSpPr>
          <p:nvPr>
            <p:ph idx="1"/>
          </p:nvPr>
        </p:nvSpPr>
        <p:spPr>
          <a:xfrm>
            <a:off x="323528" y="1340768"/>
            <a:ext cx="8640960" cy="4176464"/>
          </a:xfrm>
        </p:spPr>
        <p:txBody>
          <a:bodyPr>
            <a:normAutofit fontScale="92500" lnSpcReduction="10000"/>
          </a:bodyPr>
          <a:lstStyle/>
          <a:p>
            <a:pPr marL="0" lvl="0" indent="0" algn="just">
              <a:buNone/>
            </a:pPr>
            <a:r>
              <a:rPr lang="en-US" altLang="zh-CN" sz="2400" b="1" dirty="0" smtClean="0">
                <a:solidFill>
                  <a:srgbClr val="FF0000"/>
                </a:solidFill>
                <a:latin typeface="Adobe Myungjo Std M" pitchFamily="18" charset="-128"/>
                <a:ea typeface="Adobe Myungjo Std M" pitchFamily="18" charset="-128"/>
                <a:cs typeface="Times New Roman" pitchFamily="18" charset="0"/>
              </a:rPr>
              <a:t> </a:t>
            </a:r>
          </a:p>
          <a:p>
            <a:pPr marL="0" indent="0" algn="just">
              <a:buNone/>
            </a:pPr>
            <a:r>
              <a:rPr lang="en-US" altLang="zh-CN" sz="2600" b="1" dirty="0" smtClean="0">
                <a:solidFill>
                  <a:srgbClr val="7030A0"/>
                </a:solidFill>
                <a:latin typeface="Times New Roman" panose="02020603050405020304" pitchFamily="18" charset="0"/>
                <a:ea typeface="Adobe Myungjo Std M" pitchFamily="18" charset="-128"/>
                <a:cs typeface="Times New Roman" panose="02020603050405020304" pitchFamily="18" charset="0"/>
              </a:rPr>
              <a:t>We </a:t>
            </a:r>
            <a:r>
              <a:rPr lang="en-US" altLang="zh-CN" sz="2600" b="1" dirty="0">
                <a:solidFill>
                  <a:srgbClr val="7030A0"/>
                </a:solidFill>
                <a:latin typeface="Times New Roman" panose="02020603050405020304" pitchFamily="18" charset="0"/>
                <a:ea typeface="Adobe Myungjo Std M" pitchFamily="18" charset="-128"/>
                <a:cs typeface="Times New Roman" panose="02020603050405020304" pitchFamily="18" charset="0"/>
              </a:rPr>
              <a:t>aim to answer the following research questions: </a:t>
            </a:r>
            <a:endParaRPr lang="en-US" altLang="zh-CN" sz="2600" b="1" dirty="0" smtClean="0">
              <a:solidFill>
                <a:srgbClr val="7030A0"/>
              </a:solidFill>
              <a:latin typeface="Times New Roman" panose="02020603050405020304" pitchFamily="18" charset="0"/>
              <a:ea typeface="Adobe Myungjo Std M" pitchFamily="18" charset="-128"/>
              <a:cs typeface="Times New Roman" panose="02020603050405020304" pitchFamily="18" charset="0"/>
            </a:endParaRPr>
          </a:p>
          <a:p>
            <a:pPr marL="0" indent="0" algn="just">
              <a:buNone/>
            </a:pPr>
            <a:endParaRPr lang="en-US" altLang="zh-CN" sz="2600" b="1" dirty="0">
              <a:solidFill>
                <a:srgbClr val="FF0000"/>
              </a:solidFill>
              <a:latin typeface="Adobe Myungjo Std M" pitchFamily="18" charset="-128"/>
              <a:ea typeface="Adobe Myungjo Std M" pitchFamily="18" charset="-128"/>
              <a:cs typeface="Times New Roman" pitchFamily="18" charset="0"/>
            </a:endParaRPr>
          </a:p>
          <a:p>
            <a:pPr algn="just"/>
            <a:r>
              <a:rPr lang="en-US" altLang="zh-CN" sz="2400" dirty="0" smtClean="0">
                <a:latin typeface="Times New Roman" panose="02020603050405020304" pitchFamily="18" charset="0"/>
                <a:cs typeface="Times New Roman" panose="02020603050405020304" pitchFamily="18" charset="0"/>
              </a:rPr>
              <a:t>What </a:t>
            </a:r>
            <a:r>
              <a:rPr lang="en-US" altLang="zh-CN" sz="2400" dirty="0">
                <a:latin typeface="Times New Roman" panose="02020603050405020304" pitchFamily="18" charset="0"/>
                <a:cs typeface="Times New Roman" panose="02020603050405020304" pitchFamily="18" charset="0"/>
              </a:rPr>
              <a:t>factors will influence the choice of R&amp;D </a:t>
            </a:r>
            <a:r>
              <a:rPr lang="en-US" altLang="zh-CN" sz="2400" dirty="0" smtClean="0">
                <a:latin typeface="Times New Roman" panose="02020603050405020304" pitchFamily="18" charset="0"/>
                <a:cs typeface="Times New Roman" panose="02020603050405020304" pitchFamily="18" charset="0"/>
              </a:rPr>
              <a:t>strategy</a:t>
            </a:r>
            <a:r>
              <a:rPr lang="en-US" altLang="zh-CN" sz="2400" dirty="0" smtClean="0">
                <a:latin typeface="Times New Roman" panose="02020603050405020304" pitchFamily="18" charset="0"/>
                <a:cs typeface="Times New Roman" panose="02020603050405020304" pitchFamily="18" charset="0"/>
              </a:rPr>
              <a:t>, i.e.</a:t>
            </a:r>
            <a:r>
              <a:rPr lang="en-US" altLang="zh-CN" sz="2400" dirty="0" smtClean="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cooperative vs. </a:t>
            </a:r>
            <a:r>
              <a:rPr lang="en-US" altLang="zh-CN" sz="2400" dirty="0" smtClean="0">
                <a:latin typeface="Times New Roman" panose="02020603050405020304" pitchFamily="18" charset="0"/>
                <a:cs typeface="Times New Roman" panose="02020603050405020304" pitchFamily="18" charset="0"/>
              </a:rPr>
              <a:t>non-cooperative </a:t>
            </a:r>
            <a:r>
              <a:rPr lang="en-US" altLang="zh-CN" sz="2400" dirty="0">
                <a:latin typeface="Times New Roman" panose="02020603050405020304" pitchFamily="18" charset="0"/>
                <a:cs typeface="Times New Roman" panose="02020603050405020304" pitchFamily="18" charset="0"/>
              </a:rPr>
              <a:t>R&amp;D? </a:t>
            </a:r>
            <a:endParaRPr lang="en-US" altLang="zh-CN" sz="2400" dirty="0" smtClean="0">
              <a:latin typeface="Times New Roman" panose="02020603050405020304" pitchFamily="18" charset="0"/>
              <a:cs typeface="Times New Roman" panose="02020603050405020304" pitchFamily="18" charset="0"/>
            </a:endParaRPr>
          </a:p>
          <a:p>
            <a:pPr marL="0" indent="0" algn="just">
              <a:buNone/>
            </a:pPr>
            <a:endParaRPr lang="en-US" altLang="zh-CN" sz="2400" dirty="0">
              <a:latin typeface="Times New Roman" panose="02020603050405020304" pitchFamily="18" charset="0"/>
              <a:cs typeface="Times New Roman" panose="02020603050405020304" pitchFamily="18" charset="0"/>
            </a:endParaRPr>
          </a:p>
          <a:p>
            <a:pPr algn="just"/>
            <a:r>
              <a:rPr lang="en-US" altLang="zh-CN" sz="2400" dirty="0" smtClean="0">
                <a:latin typeface="Times New Roman" panose="02020603050405020304" pitchFamily="18" charset="0"/>
                <a:cs typeface="Times New Roman" panose="02020603050405020304" pitchFamily="18" charset="0"/>
              </a:rPr>
              <a:t>How </a:t>
            </a:r>
            <a:r>
              <a:rPr lang="en-US" altLang="zh-CN" sz="2400" dirty="0">
                <a:latin typeface="Times New Roman" panose="02020603050405020304" pitchFamily="18" charset="0"/>
                <a:cs typeface="Times New Roman" panose="02020603050405020304" pitchFamily="18" charset="0"/>
              </a:rPr>
              <a:t>will different R&amp;D strategies affect the performances of duopoly manufacturers and the supplier and, in turn, the social welfare? </a:t>
            </a:r>
            <a:endParaRPr lang="en-US" altLang="zh-CN" sz="2400" dirty="0" smtClean="0">
              <a:latin typeface="Times New Roman" panose="02020603050405020304" pitchFamily="18" charset="0"/>
              <a:cs typeface="Times New Roman" panose="02020603050405020304" pitchFamily="18" charset="0"/>
            </a:endParaRPr>
          </a:p>
          <a:p>
            <a:pPr marL="0" indent="0" algn="just">
              <a:buNone/>
            </a:pPr>
            <a:endParaRPr lang="en-US" altLang="zh-CN" sz="2400" dirty="0">
              <a:latin typeface="Times New Roman" panose="02020603050405020304" pitchFamily="18" charset="0"/>
              <a:cs typeface="Times New Roman" panose="02020603050405020304" pitchFamily="18" charset="0"/>
            </a:endParaRPr>
          </a:p>
          <a:p>
            <a:pPr algn="just"/>
            <a:r>
              <a:rPr lang="en-US" altLang="zh-CN" sz="2400" dirty="0" smtClean="0">
                <a:latin typeface="Times New Roman" panose="02020603050405020304" pitchFamily="18" charset="0"/>
                <a:cs typeface="Times New Roman" panose="02020603050405020304" pitchFamily="18" charset="0"/>
              </a:rPr>
              <a:t>Whether </a:t>
            </a:r>
            <a:r>
              <a:rPr lang="en-US" altLang="zh-CN" sz="2400" dirty="0">
                <a:latin typeface="Times New Roman" panose="02020603050405020304" pitchFamily="18" charset="0"/>
                <a:cs typeface="Times New Roman" panose="02020603050405020304" pitchFamily="18" charset="0"/>
              </a:rPr>
              <a:t>there exists stability and coordination mechanism of cooperative R&amp;D? </a:t>
            </a:r>
          </a:p>
        </p:txBody>
      </p:sp>
      <p:sp>
        <p:nvSpPr>
          <p:cNvPr id="4" name="日期占位符 3"/>
          <p:cNvSpPr>
            <a:spLocks noGrp="1"/>
          </p:cNvSpPr>
          <p:nvPr>
            <p:ph type="dt" sz="half" idx="10"/>
          </p:nvPr>
        </p:nvSpPr>
        <p:spPr>
          <a:xfrm>
            <a:off x="7652304" y="6542040"/>
            <a:ext cx="1332266" cy="315960"/>
          </a:xfrm>
        </p:spPr>
        <p:txBody>
          <a:bodyPr/>
          <a:lstStyle/>
          <a:p>
            <a:pPr>
              <a:defRPr/>
            </a:pPr>
            <a:fld id="{C7A00C6E-0B1A-4B28-8871-A4177219AEE5}" type="datetime4">
              <a:rPr lang="en-US" altLang="zh-CN" smtClean="0">
                <a:solidFill>
                  <a:srgbClr val="292929"/>
                </a:solidFill>
              </a:rPr>
              <a:t>April 25, 2019</a:t>
            </a:fld>
            <a:endParaRPr lang="en-US" altLang="zh-CN" dirty="0">
              <a:solidFill>
                <a:srgbClr val="292929"/>
              </a:solidFill>
            </a:endParaRPr>
          </a:p>
        </p:txBody>
      </p:sp>
      <p:sp>
        <p:nvSpPr>
          <p:cNvPr id="6" name="灯片编号占位符 5"/>
          <p:cNvSpPr>
            <a:spLocks noGrp="1"/>
          </p:cNvSpPr>
          <p:nvPr>
            <p:ph type="sldNum" sz="quarter" idx="12"/>
          </p:nvPr>
        </p:nvSpPr>
        <p:spPr>
          <a:xfrm>
            <a:off x="3851920" y="6554470"/>
            <a:ext cx="933450" cy="288925"/>
          </a:xfrm>
        </p:spPr>
        <p:txBody>
          <a:bodyPr/>
          <a:lstStyle/>
          <a:p>
            <a:fld id="{71E37E66-47ED-4E23-B805-CF9315C51031}" type="slidenum">
              <a:rPr lang="en-US" altLang="zh-CN" smtClean="0">
                <a:solidFill>
                  <a:srgbClr val="292929"/>
                </a:solidFill>
              </a:rPr>
              <a:pPr/>
              <a:t>4</a:t>
            </a:fld>
            <a:endParaRPr lang="en-US" altLang="zh-CN">
              <a:solidFill>
                <a:srgbClr val="292929"/>
              </a:solidFill>
            </a:endParaRPr>
          </a:p>
        </p:txBody>
      </p:sp>
      <p:sp>
        <p:nvSpPr>
          <p:cNvPr id="8" name="页脚占位符 4"/>
          <p:cNvSpPr>
            <a:spLocks noGrp="1"/>
          </p:cNvSpPr>
          <p:nvPr>
            <p:ph type="ftr" sz="quarter" idx="11"/>
          </p:nvPr>
        </p:nvSpPr>
        <p:spPr>
          <a:xfrm>
            <a:off x="0" y="6569075"/>
            <a:ext cx="3059832" cy="288925"/>
          </a:xfrm>
        </p:spPr>
        <p:txBody>
          <a:bodyPr/>
          <a:lstStyle/>
          <a:p>
            <a:pPr>
              <a:defRPr/>
            </a:pPr>
            <a:r>
              <a:rPr lang="en-US" altLang="zh-CN" smtClean="0"/>
              <a:t>Xiaolin Xu</a:t>
            </a:r>
            <a:r>
              <a:rPr lang="zh-CN" altLang="en-US" smtClean="0"/>
              <a:t>（ </a:t>
            </a:r>
            <a:r>
              <a:rPr lang="en-US" altLang="zh-CN" smtClean="0"/>
              <a:t>Nanjing University </a:t>
            </a:r>
            <a:r>
              <a:rPr lang="zh-CN" altLang="en-US" smtClean="0"/>
              <a:t>）</a:t>
            </a:r>
            <a:endParaRPr lang="en-US" altLang="zh-CN" dirty="0"/>
          </a:p>
        </p:txBody>
      </p:sp>
    </p:spTree>
    <p:extLst>
      <p:ext uri="{BB962C8B-B14F-4D97-AF65-F5344CB8AC3E}">
        <p14:creationId xmlns:p14="http://schemas.microsoft.com/office/powerpoint/2010/main" val="317848938"/>
      </p:ext>
    </p:extLst>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bwMode="auto">
          <a:xfrm>
            <a:off x="456185" y="4433318"/>
            <a:ext cx="7992888" cy="2020018"/>
          </a:xfrm>
          <a:prstGeom prst="rect">
            <a:avLst/>
          </a:prstGeom>
          <a:solidFill>
            <a:schemeClr val="bg1"/>
          </a:solidFill>
          <a:ln w="9525" cap="flat" cmpd="sng" algn="ctr">
            <a:solidFill>
              <a:schemeClr val="tx2"/>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fontAlgn="base">
              <a:spcBef>
                <a:spcPct val="0"/>
              </a:spcBef>
              <a:spcAft>
                <a:spcPct val="0"/>
              </a:spcAft>
            </a:pPr>
            <a:endParaRPr lang="zh-CN" altLang="en-US">
              <a:latin typeface="Times New Roman" pitchFamily="18" charset="0"/>
              <a:ea typeface="宋体" pitchFamily="2" charset="-122"/>
            </a:endParaRPr>
          </a:p>
        </p:txBody>
      </p:sp>
      <p:sp>
        <p:nvSpPr>
          <p:cNvPr id="7" name="矩形 6"/>
          <p:cNvSpPr/>
          <p:nvPr/>
        </p:nvSpPr>
        <p:spPr bwMode="auto">
          <a:xfrm>
            <a:off x="456185" y="1558101"/>
            <a:ext cx="7992888" cy="2448272"/>
          </a:xfrm>
          <a:prstGeom prst="rect">
            <a:avLst/>
          </a:prstGeom>
          <a:solidFill>
            <a:schemeClr val="bg1"/>
          </a:solidFill>
          <a:ln w="9525" cap="flat" cmpd="sng" algn="ctr">
            <a:solidFill>
              <a:schemeClr val="tx2"/>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Times New Roman" pitchFamily="18" charset="0"/>
              <a:ea typeface="宋体" pitchFamily="2" charset="-122"/>
            </a:endParaRPr>
          </a:p>
        </p:txBody>
      </p:sp>
      <p:sp>
        <p:nvSpPr>
          <p:cNvPr id="2" name="标题 1"/>
          <p:cNvSpPr>
            <a:spLocks noGrp="1"/>
          </p:cNvSpPr>
          <p:nvPr>
            <p:ph type="title"/>
          </p:nvPr>
        </p:nvSpPr>
        <p:spPr>
          <a:xfrm>
            <a:off x="178668" y="217289"/>
            <a:ext cx="8135937" cy="647700"/>
          </a:xfrm>
        </p:spPr>
        <p:txBody>
          <a:bodyPr/>
          <a:lstStyle/>
          <a:p>
            <a:r>
              <a:rPr lang="en-US" altLang="zh-CN" dirty="0">
                <a:latin typeface="Times New Roman" pitchFamily="18" charset="0"/>
                <a:cs typeface="Times New Roman" pitchFamily="18" charset="0"/>
              </a:rPr>
              <a:t>Literature Review</a:t>
            </a:r>
            <a:endParaRPr lang="zh-CN" altLang="en-US" dirty="0"/>
          </a:p>
        </p:txBody>
      </p:sp>
      <p:sp>
        <p:nvSpPr>
          <p:cNvPr id="3" name="内容占位符 2"/>
          <p:cNvSpPr>
            <a:spLocks noGrp="1"/>
          </p:cNvSpPr>
          <p:nvPr>
            <p:ph idx="1"/>
          </p:nvPr>
        </p:nvSpPr>
        <p:spPr>
          <a:xfrm>
            <a:off x="456185" y="1089247"/>
            <a:ext cx="7716215" cy="5479828"/>
          </a:xfrm>
        </p:spPr>
        <p:txBody>
          <a:bodyPr/>
          <a:lstStyle/>
          <a:p>
            <a:pPr marL="0" indent="0" algn="just">
              <a:buClrTx/>
              <a:buSzPct val="73000"/>
              <a:buNone/>
            </a:pPr>
            <a:r>
              <a:rPr lang="en-US" altLang="zh-CN" sz="2400" dirty="0">
                <a:latin typeface="Times New Roman" pitchFamily="18" charset="0"/>
                <a:ea typeface="Adobe Myungjo Std M" pitchFamily="18" charset="-128"/>
                <a:cs typeface="Times New Roman" pitchFamily="18" charset="0"/>
              </a:rPr>
              <a:t>i ) </a:t>
            </a:r>
            <a:r>
              <a:rPr lang="en-US" altLang="zh-CN" sz="2400" dirty="0">
                <a:latin typeface="Times New Roman" panose="02020603050405020304" pitchFamily="18" charset="0"/>
                <a:cs typeface="Times New Roman" panose="02020603050405020304" pitchFamily="18" charset="0"/>
              </a:rPr>
              <a:t>H</a:t>
            </a:r>
            <a:r>
              <a:rPr lang="en-US" altLang="zh-CN" sz="2400" dirty="0" smtClean="0">
                <a:latin typeface="Times New Roman" panose="02020603050405020304" pitchFamily="18" charset="0"/>
                <a:cs typeface="Times New Roman" panose="02020603050405020304" pitchFamily="18" charset="0"/>
              </a:rPr>
              <a:t>orizontal </a:t>
            </a:r>
            <a:r>
              <a:rPr lang="en-US" altLang="zh-CN" sz="2400" dirty="0">
                <a:latin typeface="Times New Roman" panose="02020603050405020304" pitchFamily="18" charset="0"/>
                <a:cs typeface="Times New Roman" panose="02020603050405020304" pitchFamily="18" charset="0"/>
              </a:rPr>
              <a:t>cooperative R&amp;D among firms </a:t>
            </a:r>
            <a:endParaRPr lang="zh-CN" altLang="zh-CN" sz="2400" b="1" dirty="0">
              <a:latin typeface="Times New Roman" pitchFamily="18" charset="0"/>
              <a:cs typeface="Times New Roman" pitchFamily="18" charset="0"/>
            </a:endParaRPr>
          </a:p>
          <a:p>
            <a:pPr>
              <a:buClrTx/>
              <a:buFont typeface="Wingdings" panose="05000000000000000000" pitchFamily="2" charset="2"/>
              <a:buChar char="Ø"/>
            </a:pPr>
            <a:r>
              <a:rPr lang="en-US" altLang="zh-CN" sz="1800" dirty="0">
                <a:latin typeface="Times New Roman" panose="02020603050405020304" pitchFamily="18" charset="0"/>
                <a:cs typeface="Times New Roman" panose="02020603050405020304" pitchFamily="18" charset="0"/>
              </a:rPr>
              <a:t>AJ model </a:t>
            </a:r>
          </a:p>
          <a:p>
            <a:pPr marL="0" indent="0" algn="just">
              <a:buNone/>
            </a:pPr>
            <a:r>
              <a:rPr lang="en-US" altLang="zh-CN" sz="1800" dirty="0" smtClean="0">
                <a:latin typeface="Times New Roman" panose="02020603050405020304" pitchFamily="18" charset="0"/>
                <a:cs typeface="Times New Roman" panose="02020603050405020304" pitchFamily="18" charset="0"/>
              </a:rPr>
              <a:t>              </a:t>
            </a:r>
            <a:r>
              <a:rPr lang="en-US" altLang="zh-CN" sz="1400" dirty="0" smtClean="0">
                <a:latin typeface="Times New Roman" panose="02020603050405020304" pitchFamily="18" charset="0"/>
                <a:cs typeface="Times New Roman" panose="02020603050405020304" pitchFamily="18" charset="0"/>
              </a:rPr>
              <a:t>(</a:t>
            </a:r>
            <a:r>
              <a:rPr lang="en-US" altLang="zh-CN" sz="1400" dirty="0" err="1">
                <a:latin typeface="Times New Roman" panose="02020603050405020304" pitchFamily="18" charset="0"/>
                <a:cs typeface="Times New Roman" panose="02020603050405020304" pitchFamily="18" charset="0"/>
              </a:rPr>
              <a:t>D’Aspremont</a:t>
            </a:r>
            <a:r>
              <a:rPr lang="en-US" altLang="zh-CN" sz="1400" dirty="0">
                <a:latin typeface="Times New Roman" panose="02020603050405020304" pitchFamily="18" charset="0"/>
                <a:cs typeface="Times New Roman" panose="02020603050405020304" pitchFamily="18" charset="0"/>
              </a:rPr>
              <a:t> and </a:t>
            </a:r>
            <a:r>
              <a:rPr lang="en-US" altLang="zh-CN" sz="1400" dirty="0" err="1">
                <a:latin typeface="Times New Roman" panose="02020603050405020304" pitchFamily="18" charset="0"/>
                <a:cs typeface="Times New Roman" panose="02020603050405020304" pitchFamily="18" charset="0"/>
              </a:rPr>
              <a:t>Jacquemin</a:t>
            </a:r>
            <a:r>
              <a:rPr lang="en-US" altLang="zh-CN" sz="1400" dirty="0">
                <a:latin typeface="Times New Roman" panose="02020603050405020304" pitchFamily="18" charset="0"/>
                <a:cs typeface="Times New Roman" panose="02020603050405020304" pitchFamily="18" charset="0"/>
              </a:rPr>
              <a:t> </a:t>
            </a:r>
            <a:r>
              <a:rPr lang="en-US" altLang="zh-CN" sz="1400" dirty="0" smtClean="0">
                <a:latin typeface="Times New Roman" panose="02020603050405020304" pitchFamily="18" charset="0"/>
                <a:cs typeface="Times New Roman" panose="02020603050405020304" pitchFamily="18" charset="0"/>
              </a:rPr>
              <a:t>1988)</a:t>
            </a:r>
            <a:endParaRPr lang="zh-CN" altLang="zh-CN" sz="1400" dirty="0">
              <a:latin typeface="Times New Roman" panose="02020603050405020304" pitchFamily="18" charset="0"/>
              <a:cs typeface="Times New Roman" panose="02020603050405020304" pitchFamily="18" charset="0"/>
            </a:endParaRPr>
          </a:p>
          <a:p>
            <a:pPr>
              <a:buClrTx/>
              <a:buFont typeface="Wingdings" panose="05000000000000000000" pitchFamily="2" charset="2"/>
              <a:buChar char="Ø"/>
            </a:pPr>
            <a:r>
              <a:rPr lang="en-US" altLang="zh-CN" sz="1800" dirty="0">
                <a:latin typeface="Times New Roman" panose="02020603050405020304" pitchFamily="18" charset="0"/>
                <a:cs typeface="Times New Roman" panose="02020603050405020304" pitchFamily="18" charset="0"/>
              </a:rPr>
              <a:t>KMZ model </a:t>
            </a:r>
          </a:p>
          <a:p>
            <a:pPr marL="0" indent="0" algn="just">
              <a:buNone/>
            </a:pPr>
            <a:r>
              <a:rPr lang="en-US" altLang="zh-CN" sz="1400" dirty="0" smtClean="0">
                <a:latin typeface="Times New Roman" panose="02020603050405020304" pitchFamily="18" charset="0"/>
                <a:cs typeface="Times New Roman" panose="02020603050405020304" pitchFamily="18" charset="0"/>
              </a:rPr>
              <a:t>                  (</a:t>
            </a:r>
            <a:r>
              <a:rPr lang="en-US" altLang="zh-CN" sz="1400" dirty="0" err="1">
                <a:latin typeface="Times New Roman" panose="02020603050405020304" pitchFamily="18" charset="0"/>
                <a:cs typeface="Times New Roman" panose="02020603050405020304" pitchFamily="18" charset="0"/>
              </a:rPr>
              <a:t>Kamien</a:t>
            </a:r>
            <a:r>
              <a:rPr lang="en-US" altLang="zh-CN" sz="1400" dirty="0">
                <a:latin typeface="Times New Roman" panose="02020603050405020304" pitchFamily="18" charset="0"/>
                <a:cs typeface="Times New Roman" panose="02020603050405020304" pitchFamily="18" charset="0"/>
              </a:rPr>
              <a:t>, Morton I., Muller E., and </a:t>
            </a:r>
            <a:r>
              <a:rPr lang="en-US" altLang="zh-CN" sz="1400" dirty="0" err="1">
                <a:latin typeface="Times New Roman" panose="02020603050405020304" pitchFamily="18" charset="0"/>
                <a:cs typeface="Times New Roman" panose="02020603050405020304" pitchFamily="18" charset="0"/>
              </a:rPr>
              <a:t>Zang</a:t>
            </a:r>
            <a:r>
              <a:rPr lang="en-US" altLang="zh-CN" sz="1400" dirty="0">
                <a:latin typeface="Times New Roman" panose="02020603050405020304" pitchFamily="18" charset="0"/>
                <a:cs typeface="Times New Roman" panose="02020603050405020304" pitchFamily="18" charset="0"/>
              </a:rPr>
              <a:t> I. </a:t>
            </a:r>
            <a:r>
              <a:rPr lang="en-US" altLang="zh-CN" sz="1400" dirty="0" smtClean="0">
                <a:latin typeface="Times New Roman" panose="02020603050405020304" pitchFamily="18" charset="0"/>
                <a:cs typeface="Times New Roman" panose="02020603050405020304" pitchFamily="18" charset="0"/>
              </a:rPr>
              <a:t>1992)</a:t>
            </a:r>
            <a:endParaRPr lang="zh-CN" altLang="zh-CN" sz="1400" dirty="0">
              <a:latin typeface="Times New Roman" panose="02020603050405020304" pitchFamily="18" charset="0"/>
              <a:cs typeface="Times New Roman" panose="02020603050405020304" pitchFamily="18" charset="0"/>
            </a:endParaRPr>
          </a:p>
          <a:p>
            <a:pPr>
              <a:buClrTx/>
              <a:buFont typeface="Wingdings" panose="05000000000000000000" pitchFamily="2" charset="2"/>
              <a:buChar char="Ø"/>
            </a:pPr>
            <a:r>
              <a:rPr lang="en-US" altLang="zh-CN" sz="1800" dirty="0" smtClean="0">
                <a:latin typeface="Times New Roman" panose="02020603050405020304" pitchFamily="18" charset="0"/>
                <a:cs typeface="Times New Roman" panose="02020603050405020304" pitchFamily="18" charset="0"/>
              </a:rPr>
              <a:t>Comparison </a:t>
            </a:r>
            <a:r>
              <a:rPr lang="en-US" altLang="zh-CN" sz="1800" dirty="0">
                <a:latin typeface="Times New Roman" panose="02020603050405020304" pitchFamily="18" charset="0"/>
                <a:cs typeface="Times New Roman" panose="02020603050405020304" pitchFamily="18" charset="0"/>
              </a:rPr>
              <a:t>of the AJ </a:t>
            </a:r>
            <a:r>
              <a:rPr lang="en-US" altLang="zh-CN" sz="1800" dirty="0" err="1">
                <a:latin typeface="Times New Roman" panose="02020603050405020304" pitchFamily="18" charset="0"/>
                <a:cs typeface="Times New Roman" panose="02020603050405020304" pitchFamily="18" charset="0"/>
              </a:rPr>
              <a:t>modeland</a:t>
            </a:r>
            <a:r>
              <a:rPr lang="en-US" altLang="zh-CN" sz="1800" dirty="0">
                <a:latin typeface="Times New Roman" panose="02020603050405020304" pitchFamily="18" charset="0"/>
                <a:cs typeface="Times New Roman" panose="02020603050405020304" pitchFamily="18" charset="0"/>
              </a:rPr>
              <a:t> the KMZ model </a:t>
            </a:r>
          </a:p>
          <a:p>
            <a:pPr marL="0" indent="0" algn="just">
              <a:buNone/>
            </a:pPr>
            <a:r>
              <a:rPr lang="en-US" altLang="zh-CN" sz="1400" dirty="0" smtClean="0">
                <a:latin typeface="Times New Roman" panose="02020603050405020304" pitchFamily="18" charset="0"/>
                <a:cs typeface="Times New Roman" panose="02020603050405020304" pitchFamily="18" charset="0"/>
              </a:rPr>
              <a:t>                  (</a:t>
            </a:r>
            <a:r>
              <a:rPr lang="is-IS" altLang="zh-CN" sz="1400" dirty="0">
                <a:latin typeface="Times New Roman" panose="02020603050405020304" pitchFamily="18" charset="0"/>
                <a:cs typeface="Times New Roman" panose="02020603050405020304" pitchFamily="18" charset="0"/>
              </a:rPr>
              <a:t>Amir </a:t>
            </a:r>
            <a:r>
              <a:rPr lang="is-IS" altLang="zh-CN" sz="1400" dirty="0" smtClean="0">
                <a:latin typeface="Times New Roman" panose="02020603050405020304" pitchFamily="18" charset="0"/>
                <a:cs typeface="Times New Roman" panose="02020603050405020304" pitchFamily="18" charset="0"/>
              </a:rPr>
              <a:t>2000</a:t>
            </a:r>
            <a:r>
              <a:rPr lang="en-US" altLang="zh-CN" sz="1400" dirty="0" smtClean="0">
                <a:latin typeface="Times New Roman" panose="02020603050405020304" pitchFamily="18" charset="0"/>
                <a:cs typeface="Times New Roman" panose="02020603050405020304" pitchFamily="18" charset="0"/>
              </a:rPr>
              <a:t>;</a:t>
            </a:r>
            <a:r>
              <a:rPr lang="en-US" altLang="zh-CN" sz="1400" dirty="0">
                <a:latin typeface="Times New Roman" panose="02020603050405020304" pitchFamily="18" charset="0"/>
                <a:cs typeface="Times New Roman" panose="02020603050405020304" pitchFamily="18" charset="0"/>
              </a:rPr>
              <a:t> </a:t>
            </a:r>
            <a:r>
              <a:rPr lang="en-US" altLang="zh-CN" sz="1400" dirty="0" err="1">
                <a:latin typeface="Times New Roman" panose="02020603050405020304" pitchFamily="18" charset="0"/>
                <a:cs typeface="Times New Roman" panose="02020603050405020304" pitchFamily="18" charset="0"/>
              </a:rPr>
              <a:t>Stepanova</a:t>
            </a:r>
            <a:r>
              <a:rPr lang="en-US" altLang="zh-CN" sz="1400" dirty="0">
                <a:latin typeface="Times New Roman" panose="02020603050405020304" pitchFamily="18" charset="0"/>
                <a:cs typeface="Times New Roman" panose="02020603050405020304" pitchFamily="18" charset="0"/>
              </a:rPr>
              <a:t> and </a:t>
            </a:r>
            <a:r>
              <a:rPr lang="en-US" altLang="zh-CN" sz="1400" dirty="0" err="1">
                <a:latin typeface="Times New Roman" panose="02020603050405020304" pitchFamily="18" charset="0"/>
                <a:cs typeface="Times New Roman" panose="02020603050405020304" pitchFamily="18" charset="0"/>
              </a:rPr>
              <a:t>Tesoriere</a:t>
            </a:r>
            <a:r>
              <a:rPr lang="en-US" altLang="zh-CN" sz="1400" dirty="0">
                <a:latin typeface="Times New Roman" panose="02020603050405020304" pitchFamily="18" charset="0"/>
                <a:cs typeface="Times New Roman" panose="02020603050405020304" pitchFamily="18" charset="0"/>
              </a:rPr>
              <a:t> </a:t>
            </a:r>
            <a:r>
              <a:rPr lang="en-US" altLang="zh-CN" sz="1400" dirty="0" smtClean="0">
                <a:latin typeface="Times New Roman" panose="02020603050405020304" pitchFamily="18" charset="0"/>
                <a:cs typeface="Times New Roman" panose="02020603050405020304" pitchFamily="18" charset="0"/>
              </a:rPr>
              <a:t>2011)</a:t>
            </a:r>
            <a:endParaRPr lang="zh-CN" altLang="zh-CN" sz="1400" dirty="0">
              <a:latin typeface="Times New Roman" panose="02020603050405020304" pitchFamily="18" charset="0"/>
              <a:cs typeface="Times New Roman" panose="02020603050405020304" pitchFamily="18" charset="0"/>
            </a:endParaRPr>
          </a:p>
          <a:p>
            <a:pPr>
              <a:buClrTx/>
              <a:buFont typeface="Wingdings" panose="05000000000000000000" pitchFamily="2" charset="2"/>
              <a:buChar char="Ø"/>
            </a:pPr>
            <a:r>
              <a:rPr lang="en-US" altLang="zh-CN" sz="1800" dirty="0" smtClean="0">
                <a:latin typeface="Times New Roman" panose="02020603050405020304" pitchFamily="18" charset="0"/>
                <a:cs typeface="Times New Roman" panose="02020603050405020304" pitchFamily="18" charset="0"/>
              </a:rPr>
              <a:t>Dynamic </a:t>
            </a:r>
            <a:r>
              <a:rPr lang="en-US" altLang="zh-CN" sz="1800" dirty="0" smtClean="0">
                <a:latin typeface="Times New Roman" panose="02020603050405020304" pitchFamily="18" charset="0"/>
                <a:cs typeface="Times New Roman" panose="02020603050405020304" pitchFamily="18" charset="0"/>
              </a:rPr>
              <a:t>AJ model </a:t>
            </a:r>
            <a:endParaRPr lang="en-US" altLang="zh-CN" sz="1800" dirty="0">
              <a:latin typeface="Times New Roman" panose="02020603050405020304" pitchFamily="18" charset="0"/>
              <a:cs typeface="Times New Roman" panose="02020603050405020304" pitchFamily="18" charset="0"/>
            </a:endParaRPr>
          </a:p>
          <a:p>
            <a:pPr marL="0" indent="0" algn="just">
              <a:buNone/>
            </a:pPr>
            <a:r>
              <a:rPr lang="en-US" altLang="zh-CN" sz="1800" i="1" dirty="0" smtClean="0">
                <a:latin typeface="Times New Roman" pitchFamily="18" charset="0"/>
                <a:cs typeface="Times New Roman" pitchFamily="18" charset="0"/>
              </a:rPr>
              <a:t>             </a:t>
            </a:r>
            <a:r>
              <a:rPr lang="en-US" altLang="zh-CN" sz="1800" i="1" dirty="0" smtClean="0">
                <a:latin typeface="Times New Roman" pitchFamily="18" charset="0"/>
                <a:cs typeface="Times New Roman" pitchFamily="18" charset="0"/>
              </a:rPr>
              <a:t> </a:t>
            </a:r>
            <a:r>
              <a:rPr lang="en-US" altLang="zh-CN" sz="1400" dirty="0" smtClean="0">
                <a:latin typeface="Times New Roman" panose="02020603050405020304" pitchFamily="18" charset="0"/>
                <a:cs typeface="Times New Roman" panose="02020603050405020304" pitchFamily="18" charset="0"/>
              </a:rPr>
              <a:t>(</a:t>
            </a:r>
            <a:r>
              <a:rPr lang="en-US" altLang="zh-CN" sz="1400" dirty="0">
                <a:latin typeface="Times New Roman" panose="02020603050405020304" pitchFamily="18" charset="0"/>
                <a:cs typeface="Times New Roman" panose="02020603050405020304" pitchFamily="18" charset="0"/>
              </a:rPr>
              <a:t>Cellini and </a:t>
            </a:r>
            <a:r>
              <a:rPr lang="en-US" altLang="zh-CN" sz="1400" dirty="0" err="1">
                <a:latin typeface="Times New Roman" panose="02020603050405020304" pitchFamily="18" charset="0"/>
                <a:cs typeface="Times New Roman" panose="02020603050405020304" pitchFamily="18" charset="0"/>
              </a:rPr>
              <a:t>Lambertini</a:t>
            </a:r>
            <a:r>
              <a:rPr lang="en-US" altLang="zh-CN" sz="1400" dirty="0">
                <a:latin typeface="Times New Roman" panose="02020603050405020304" pitchFamily="18" charset="0"/>
                <a:cs typeface="Times New Roman" panose="02020603050405020304" pitchFamily="18" charset="0"/>
              </a:rPr>
              <a:t> </a:t>
            </a:r>
            <a:r>
              <a:rPr lang="en-US" altLang="zh-CN" sz="1400" dirty="0" smtClean="0">
                <a:latin typeface="Times New Roman" panose="02020603050405020304" pitchFamily="18" charset="0"/>
                <a:cs typeface="Times New Roman" panose="02020603050405020304" pitchFamily="18" charset="0"/>
              </a:rPr>
              <a:t>2009; </a:t>
            </a:r>
            <a:r>
              <a:rPr lang="en-US" altLang="zh-CN" sz="1400" dirty="0" err="1">
                <a:latin typeface="Times New Roman" panose="02020603050405020304" pitchFamily="18" charset="0"/>
                <a:cs typeface="Times New Roman" panose="02020603050405020304" pitchFamily="18" charset="0"/>
              </a:rPr>
              <a:t>Smrkolj</a:t>
            </a:r>
            <a:r>
              <a:rPr lang="en-US" altLang="zh-CN" sz="1400" dirty="0">
                <a:latin typeface="Times New Roman" panose="02020603050405020304" pitchFamily="18" charset="0"/>
                <a:cs typeface="Times New Roman" panose="02020603050405020304" pitchFamily="18" charset="0"/>
              </a:rPr>
              <a:t> and Wagener </a:t>
            </a:r>
            <a:r>
              <a:rPr lang="en-US" altLang="zh-CN" sz="1400" dirty="0" smtClean="0">
                <a:latin typeface="Times New Roman" panose="02020603050405020304" pitchFamily="18" charset="0"/>
                <a:cs typeface="Times New Roman" panose="02020603050405020304" pitchFamily="18" charset="0"/>
              </a:rPr>
              <a:t>2016)</a:t>
            </a:r>
            <a:endParaRPr lang="en-US" altLang="zh-CN" sz="1400" dirty="0">
              <a:latin typeface="Times New Roman" panose="02020603050405020304" pitchFamily="18" charset="0"/>
              <a:cs typeface="Times New Roman" panose="02020603050405020304" pitchFamily="18" charset="0"/>
            </a:endParaRPr>
          </a:p>
          <a:p>
            <a:pPr marL="0" indent="0">
              <a:buNone/>
            </a:pPr>
            <a:r>
              <a:rPr lang="en-US" altLang="zh-CN" sz="2400" dirty="0">
                <a:latin typeface="Times New Roman" panose="02020603050405020304" pitchFamily="18" charset="0"/>
                <a:cs typeface="Times New Roman" panose="02020603050405020304" pitchFamily="18" charset="0"/>
              </a:rPr>
              <a:t>ii) </a:t>
            </a:r>
            <a:r>
              <a:rPr lang="en-US" altLang="zh-CN" sz="2400" dirty="0" smtClean="0">
                <a:latin typeface="Times New Roman" panose="02020603050405020304" pitchFamily="18" charset="0"/>
                <a:cs typeface="Times New Roman" panose="02020603050405020304" pitchFamily="18" charset="0"/>
              </a:rPr>
              <a:t>Vertical </a:t>
            </a:r>
            <a:r>
              <a:rPr lang="en-US" altLang="zh-CN" sz="2400" dirty="0">
                <a:latin typeface="Times New Roman" panose="02020603050405020304" pitchFamily="18" charset="0"/>
                <a:cs typeface="Times New Roman" panose="02020603050405020304" pitchFamily="18" charset="0"/>
              </a:rPr>
              <a:t>cooperative R&amp;D </a:t>
            </a:r>
          </a:p>
          <a:p>
            <a:pPr>
              <a:buClr>
                <a:schemeClr val="tx2"/>
              </a:buClr>
              <a:buFont typeface="Wingdings" pitchFamily="2" charset="2"/>
              <a:buChar char="Ø"/>
            </a:pPr>
            <a:r>
              <a:rPr lang="en-US" altLang="zh-CN" sz="1800" dirty="0" smtClean="0">
                <a:latin typeface="Times New Roman" panose="02020603050405020304" pitchFamily="18" charset="0"/>
                <a:cs typeface="Times New Roman" panose="02020603050405020304" pitchFamily="18" charset="0"/>
              </a:rPr>
              <a:t>Vertical </a:t>
            </a:r>
            <a:r>
              <a:rPr lang="en-US" altLang="zh-CN" sz="1800" dirty="0">
                <a:latin typeface="Times New Roman" panose="02020603050405020304" pitchFamily="18" charset="0"/>
                <a:cs typeface="Times New Roman" panose="02020603050405020304" pitchFamily="18" charset="0"/>
              </a:rPr>
              <a:t>R&amp;D spillovers between upstream and downstream </a:t>
            </a:r>
            <a:r>
              <a:rPr lang="en-US" altLang="zh-CN" sz="1800" dirty="0" smtClean="0">
                <a:latin typeface="Times New Roman" panose="02020603050405020304" pitchFamily="18" charset="0"/>
                <a:cs typeface="Times New Roman" panose="02020603050405020304" pitchFamily="18" charset="0"/>
              </a:rPr>
              <a:t>firm  </a:t>
            </a:r>
            <a:endParaRPr lang="en-US" altLang="zh-CN" sz="1800" dirty="0" smtClean="0">
              <a:latin typeface="Times New Roman" panose="02020603050405020304" pitchFamily="18" charset="0"/>
              <a:cs typeface="Times New Roman" panose="02020603050405020304" pitchFamily="18" charset="0"/>
            </a:endParaRPr>
          </a:p>
          <a:p>
            <a:pPr marL="0" indent="0">
              <a:buClr>
                <a:schemeClr val="tx2"/>
              </a:buClr>
              <a:buNone/>
            </a:pPr>
            <a:r>
              <a:rPr lang="en-US" altLang="zh-CN" sz="1800" dirty="0">
                <a:latin typeface="Times New Roman" panose="02020603050405020304" pitchFamily="18" charset="0"/>
                <a:cs typeface="Times New Roman" panose="02020603050405020304" pitchFamily="18" charset="0"/>
              </a:rPr>
              <a:t> </a:t>
            </a:r>
            <a:r>
              <a:rPr lang="en-US" altLang="zh-CN" sz="1800" dirty="0" smtClean="0">
                <a:latin typeface="Times New Roman" panose="02020603050405020304" pitchFamily="18" charset="0"/>
                <a:cs typeface="Times New Roman" panose="02020603050405020304" pitchFamily="18" charset="0"/>
              </a:rPr>
              <a:t>             </a:t>
            </a:r>
            <a:r>
              <a:rPr lang="en-US" altLang="zh-CN" sz="1800" dirty="0" smtClean="0">
                <a:latin typeface="Times New Roman" panose="02020603050405020304" pitchFamily="18" charset="0"/>
                <a:cs typeface="Times New Roman" panose="02020603050405020304" pitchFamily="18" charset="0"/>
              </a:rPr>
              <a:t> </a:t>
            </a:r>
            <a:r>
              <a:rPr lang="en-US" altLang="zh-CN" sz="1400" dirty="0" smtClean="0">
                <a:latin typeface="Times New Roman" panose="02020603050405020304" pitchFamily="18" charset="0"/>
                <a:cs typeface="Times New Roman" panose="02020603050405020304" pitchFamily="18" charset="0"/>
              </a:rPr>
              <a:t>(</a:t>
            </a:r>
            <a:r>
              <a:rPr lang="is-IS" altLang="zh-CN" sz="1400" dirty="0" smtClean="0">
                <a:latin typeface="Times New Roman" panose="02020603050405020304" pitchFamily="18" charset="0"/>
                <a:cs typeface="Times New Roman" panose="02020603050405020304" pitchFamily="18" charset="0"/>
              </a:rPr>
              <a:t>Atallah2002</a:t>
            </a:r>
            <a:r>
              <a:rPr lang="en-US" altLang="zh-CN" sz="1400" dirty="0" smtClean="0">
                <a:latin typeface="Times New Roman" panose="02020603050405020304" pitchFamily="18" charset="0"/>
                <a:cs typeface="Times New Roman" panose="02020603050405020304" pitchFamily="18" charset="0"/>
              </a:rPr>
              <a:t>)</a:t>
            </a:r>
            <a:endParaRPr lang="en-US" altLang="zh-CN" sz="1400" dirty="0">
              <a:latin typeface="Times New Roman" panose="02020603050405020304" pitchFamily="18" charset="0"/>
              <a:cs typeface="Times New Roman" panose="02020603050405020304" pitchFamily="18" charset="0"/>
            </a:endParaRPr>
          </a:p>
          <a:p>
            <a:pPr>
              <a:buClrTx/>
              <a:buFont typeface="Wingdings" panose="05000000000000000000" pitchFamily="2" charset="2"/>
              <a:buChar char="Ø"/>
            </a:pPr>
            <a:r>
              <a:rPr lang="en-US" altLang="zh-CN" sz="1800" dirty="0" smtClean="0">
                <a:latin typeface="Times New Roman" pitchFamily="18" charset="0"/>
                <a:cs typeface="Times New Roman" pitchFamily="18" charset="0"/>
              </a:rPr>
              <a:t>Vertically </a:t>
            </a:r>
            <a:r>
              <a:rPr lang="en-US" altLang="zh-CN" sz="1800" dirty="0">
                <a:latin typeface="Times New Roman" pitchFamily="18" charset="0"/>
                <a:cs typeface="Times New Roman" pitchFamily="18" charset="0"/>
              </a:rPr>
              <a:t>related </a:t>
            </a:r>
            <a:r>
              <a:rPr lang="en-US" altLang="zh-CN" sz="1800" dirty="0" smtClean="0">
                <a:latin typeface="Times New Roman" pitchFamily="18" charset="0"/>
                <a:cs typeface="Times New Roman" pitchFamily="18" charset="0"/>
              </a:rPr>
              <a:t>duopolies      </a:t>
            </a:r>
            <a:endParaRPr lang="en-US" altLang="zh-CN" sz="1800" dirty="0" smtClean="0">
              <a:latin typeface="Times New Roman" pitchFamily="18" charset="0"/>
              <a:cs typeface="Times New Roman" pitchFamily="18" charset="0"/>
            </a:endParaRPr>
          </a:p>
          <a:p>
            <a:pPr marL="0" indent="0">
              <a:buClrTx/>
              <a:buNone/>
            </a:pPr>
            <a:r>
              <a:rPr lang="en-US" altLang="zh-CN" sz="1800" dirty="0">
                <a:latin typeface="Times New Roman" pitchFamily="18" charset="0"/>
                <a:cs typeface="Times New Roman" pitchFamily="18" charset="0"/>
              </a:rPr>
              <a:t> </a:t>
            </a:r>
            <a:r>
              <a:rPr lang="en-US" altLang="zh-CN" sz="1800" dirty="0" smtClean="0">
                <a:latin typeface="Times New Roman" pitchFamily="18" charset="0"/>
                <a:cs typeface="Times New Roman" pitchFamily="18" charset="0"/>
              </a:rPr>
              <a:t>            </a:t>
            </a:r>
            <a:r>
              <a:rPr lang="en-US" altLang="zh-CN" sz="1800" dirty="0" smtClean="0">
                <a:latin typeface="Times New Roman" pitchFamily="18" charset="0"/>
                <a:cs typeface="Times New Roman" pitchFamily="18" charset="0"/>
              </a:rPr>
              <a:t>  </a:t>
            </a:r>
            <a:r>
              <a:rPr lang="en-US" altLang="zh-CN" sz="1400" dirty="0" smtClean="0">
                <a:latin typeface="Times New Roman" panose="02020603050405020304" pitchFamily="18" charset="0"/>
                <a:cs typeface="Times New Roman" panose="02020603050405020304" pitchFamily="18" charset="0"/>
              </a:rPr>
              <a:t>(</a:t>
            </a:r>
            <a:r>
              <a:rPr lang="is-IS" altLang="zh-CN" sz="1400" dirty="0">
                <a:latin typeface="Times New Roman" panose="02020603050405020304" pitchFamily="18" charset="0"/>
                <a:cs typeface="Times New Roman" panose="02020603050405020304" pitchFamily="18" charset="0"/>
              </a:rPr>
              <a:t>Ishii </a:t>
            </a:r>
            <a:r>
              <a:rPr lang="is-IS" altLang="zh-CN" sz="1400" dirty="0" smtClean="0">
                <a:latin typeface="Times New Roman" panose="02020603050405020304" pitchFamily="18" charset="0"/>
                <a:cs typeface="Times New Roman" panose="02020603050405020304" pitchFamily="18" charset="0"/>
              </a:rPr>
              <a:t>2004</a:t>
            </a:r>
            <a:r>
              <a:rPr lang="en-US" altLang="zh-CN" sz="1400" dirty="0" smtClean="0">
                <a:latin typeface="Times New Roman" panose="02020603050405020304" pitchFamily="18" charset="0"/>
                <a:cs typeface="Times New Roman" panose="02020603050405020304" pitchFamily="18" charset="0"/>
              </a:rPr>
              <a:t>)</a:t>
            </a:r>
            <a:endParaRPr lang="en-US" altLang="zh-CN" sz="1400" dirty="0">
              <a:latin typeface="Times New Roman" panose="02020603050405020304" pitchFamily="18" charset="0"/>
              <a:cs typeface="Times New Roman" panose="02020603050405020304" pitchFamily="18" charset="0"/>
            </a:endParaRPr>
          </a:p>
          <a:p>
            <a:pPr>
              <a:buClrTx/>
              <a:buFont typeface="Wingdings" panose="05000000000000000000" pitchFamily="2" charset="2"/>
              <a:buChar char="Ø"/>
            </a:pPr>
            <a:r>
              <a:rPr lang="en-US" altLang="zh-CN" sz="1800" dirty="0" smtClean="0">
                <a:latin typeface="Times New Roman" pitchFamily="18" charset="0"/>
                <a:cs typeface="Times New Roman" pitchFamily="18" charset="0"/>
              </a:rPr>
              <a:t>Firms</a:t>
            </a:r>
            <a:r>
              <a:rPr lang="en-US" altLang="zh-CN" sz="1800" dirty="0">
                <a:latin typeface="Times New Roman" pitchFamily="18" charset="0"/>
                <a:cs typeface="Times New Roman" pitchFamily="18" charset="0"/>
              </a:rPr>
              <a:t>’ R&amp;D cooperation behavior in a supply chain </a:t>
            </a:r>
          </a:p>
          <a:p>
            <a:pPr marL="0" indent="0">
              <a:buNone/>
            </a:pPr>
            <a:r>
              <a:rPr lang="en-US" altLang="zh-CN" sz="1800" dirty="0" smtClean="0">
                <a:latin typeface="Times New Roman" pitchFamily="18" charset="0"/>
                <a:cs typeface="Times New Roman" pitchFamily="18" charset="0"/>
              </a:rPr>
              <a:t>            </a:t>
            </a:r>
            <a:r>
              <a:rPr lang="en-US" altLang="zh-CN" sz="1400" dirty="0" smtClean="0">
                <a:latin typeface="Times New Roman" panose="02020603050405020304" pitchFamily="18" charset="0"/>
                <a:cs typeface="Times New Roman" panose="02020603050405020304" pitchFamily="18" charset="0"/>
              </a:rPr>
              <a:t>(</a:t>
            </a:r>
            <a:r>
              <a:rPr lang="nb-NO" altLang="zh-CN" sz="1400" dirty="0">
                <a:latin typeface="Times New Roman" panose="02020603050405020304" pitchFamily="18" charset="0"/>
                <a:cs typeface="Times New Roman" panose="02020603050405020304" pitchFamily="18" charset="0"/>
              </a:rPr>
              <a:t>Ge et al. </a:t>
            </a:r>
            <a:r>
              <a:rPr lang="nb-NO" altLang="zh-CN" sz="1400" dirty="0" smtClean="0">
                <a:latin typeface="Times New Roman" panose="02020603050405020304" pitchFamily="18" charset="0"/>
                <a:cs typeface="Times New Roman" panose="02020603050405020304" pitchFamily="18" charset="0"/>
              </a:rPr>
              <a:t>2014;</a:t>
            </a:r>
            <a:r>
              <a:rPr lang="is-IS" altLang="zh-CN" sz="1400" dirty="0">
                <a:latin typeface="Times New Roman" panose="02020603050405020304" pitchFamily="18" charset="0"/>
                <a:cs typeface="Times New Roman" panose="02020603050405020304" pitchFamily="18" charset="0"/>
              </a:rPr>
              <a:t> Xu et al. </a:t>
            </a:r>
            <a:r>
              <a:rPr lang="is-IS" altLang="zh-CN" sz="1400" dirty="0" smtClean="0">
                <a:latin typeface="Times New Roman" panose="02020603050405020304" pitchFamily="18" charset="0"/>
                <a:cs typeface="Times New Roman" panose="02020603050405020304" pitchFamily="18" charset="0"/>
              </a:rPr>
              <a:t>2015;</a:t>
            </a:r>
            <a:r>
              <a:rPr lang="nb-NO" altLang="zh-CN" sz="1400" dirty="0">
                <a:latin typeface="Times New Roman" panose="02020603050405020304" pitchFamily="18" charset="0"/>
                <a:cs typeface="Times New Roman" panose="02020603050405020304" pitchFamily="18" charset="0"/>
              </a:rPr>
              <a:t> </a:t>
            </a:r>
            <a:r>
              <a:rPr lang="nb-NO" altLang="zh-CN" sz="1400" dirty="0" err="1">
                <a:latin typeface="Times New Roman" panose="02020603050405020304" pitchFamily="18" charset="0"/>
                <a:cs typeface="Times New Roman" panose="02020603050405020304" pitchFamily="18" charset="0"/>
              </a:rPr>
              <a:t>Zeng</a:t>
            </a:r>
            <a:r>
              <a:rPr lang="nb-NO" altLang="zh-CN" sz="1400" dirty="0">
                <a:latin typeface="Times New Roman" panose="02020603050405020304" pitchFamily="18" charset="0"/>
                <a:cs typeface="Times New Roman" panose="02020603050405020304" pitchFamily="18" charset="0"/>
              </a:rPr>
              <a:t> et al. </a:t>
            </a:r>
            <a:r>
              <a:rPr lang="nb-NO" altLang="zh-CN" sz="1400" dirty="0" smtClean="0">
                <a:latin typeface="Times New Roman" panose="02020603050405020304" pitchFamily="18" charset="0"/>
                <a:cs typeface="Times New Roman" panose="02020603050405020304" pitchFamily="18" charset="0"/>
              </a:rPr>
              <a:t>2017</a:t>
            </a:r>
            <a:r>
              <a:rPr lang="en-US" altLang="zh-CN" sz="1400" dirty="0" smtClean="0">
                <a:latin typeface="Times New Roman" panose="02020603050405020304" pitchFamily="18" charset="0"/>
                <a:cs typeface="Times New Roman" panose="02020603050405020304" pitchFamily="18" charset="0"/>
              </a:rPr>
              <a:t>)</a:t>
            </a:r>
            <a:endParaRPr lang="en-US" altLang="zh-CN" sz="1400" dirty="0">
              <a:latin typeface="Times New Roman" panose="02020603050405020304" pitchFamily="18" charset="0"/>
              <a:cs typeface="Times New Roman" panose="02020603050405020304" pitchFamily="18" charset="0"/>
            </a:endParaRPr>
          </a:p>
          <a:p>
            <a:pPr marL="0" indent="0" algn="just">
              <a:buNone/>
            </a:pPr>
            <a:endParaRPr lang="zh-CN" altLang="zh-CN" sz="1400" dirty="0"/>
          </a:p>
          <a:p>
            <a:endParaRPr lang="zh-CN" altLang="en-US" sz="2400" dirty="0"/>
          </a:p>
        </p:txBody>
      </p:sp>
      <p:sp>
        <p:nvSpPr>
          <p:cNvPr id="4" name="日期占位符 3"/>
          <p:cNvSpPr>
            <a:spLocks noGrp="1"/>
          </p:cNvSpPr>
          <p:nvPr>
            <p:ph type="dt" sz="half" idx="10"/>
          </p:nvPr>
        </p:nvSpPr>
        <p:spPr>
          <a:xfrm>
            <a:off x="7649182" y="6569075"/>
            <a:ext cx="1330845" cy="288926"/>
          </a:xfrm>
        </p:spPr>
        <p:txBody>
          <a:bodyPr/>
          <a:lstStyle/>
          <a:p>
            <a:pPr>
              <a:defRPr/>
            </a:pPr>
            <a:fld id="{569844F6-9231-4034-AE29-BA34AE83ADCA}" type="datetime4">
              <a:rPr lang="en-US" altLang="zh-CN" smtClean="0">
                <a:solidFill>
                  <a:srgbClr val="292929"/>
                </a:solidFill>
              </a:rPr>
              <a:t>April 25, 2019</a:t>
            </a:fld>
            <a:endParaRPr lang="en-US" altLang="zh-CN" dirty="0">
              <a:solidFill>
                <a:srgbClr val="292929"/>
              </a:solidFill>
            </a:endParaRPr>
          </a:p>
        </p:txBody>
      </p:sp>
      <p:sp>
        <p:nvSpPr>
          <p:cNvPr id="6" name="灯片编号占位符 5"/>
          <p:cNvSpPr>
            <a:spLocks noGrp="1"/>
          </p:cNvSpPr>
          <p:nvPr>
            <p:ph type="sldNum" sz="quarter" idx="12"/>
          </p:nvPr>
        </p:nvSpPr>
        <p:spPr>
          <a:xfrm>
            <a:off x="3779912" y="6569075"/>
            <a:ext cx="933450" cy="288925"/>
          </a:xfrm>
        </p:spPr>
        <p:txBody>
          <a:bodyPr/>
          <a:lstStyle/>
          <a:p>
            <a:fld id="{71E37E66-47ED-4E23-B805-CF9315C51031}" type="slidenum">
              <a:rPr lang="en-US" altLang="zh-CN" smtClean="0">
                <a:solidFill>
                  <a:srgbClr val="292929"/>
                </a:solidFill>
              </a:rPr>
              <a:pPr/>
              <a:t>5</a:t>
            </a:fld>
            <a:endParaRPr lang="en-US" altLang="zh-CN" dirty="0">
              <a:solidFill>
                <a:srgbClr val="292929"/>
              </a:solidFill>
            </a:endParaRPr>
          </a:p>
        </p:txBody>
      </p:sp>
      <p:sp>
        <p:nvSpPr>
          <p:cNvPr id="10" name="页脚占位符 4"/>
          <p:cNvSpPr>
            <a:spLocks noGrp="1"/>
          </p:cNvSpPr>
          <p:nvPr>
            <p:ph type="ftr" sz="quarter" idx="11"/>
          </p:nvPr>
        </p:nvSpPr>
        <p:spPr>
          <a:xfrm>
            <a:off x="0" y="6569075"/>
            <a:ext cx="3059832" cy="288925"/>
          </a:xfrm>
        </p:spPr>
        <p:txBody>
          <a:bodyPr/>
          <a:lstStyle/>
          <a:p>
            <a:pPr>
              <a:defRPr/>
            </a:pPr>
            <a:r>
              <a:rPr lang="en-US" altLang="zh-CN" smtClean="0"/>
              <a:t>Xiaolin Xu</a:t>
            </a:r>
            <a:r>
              <a:rPr lang="zh-CN" altLang="en-US" smtClean="0"/>
              <a:t>（ </a:t>
            </a:r>
            <a:r>
              <a:rPr lang="en-US" altLang="zh-CN" smtClean="0"/>
              <a:t>Nanjing University </a:t>
            </a:r>
            <a:r>
              <a:rPr lang="zh-CN" altLang="en-US" smtClean="0"/>
              <a:t>）</a:t>
            </a:r>
            <a:endParaRPr lang="en-US" altLang="zh-CN" dirty="0"/>
          </a:p>
        </p:txBody>
      </p:sp>
    </p:spTree>
    <p:extLst>
      <p:ext uri="{BB962C8B-B14F-4D97-AF65-F5344CB8AC3E}">
        <p14:creationId xmlns:p14="http://schemas.microsoft.com/office/powerpoint/2010/main" val="4203573284"/>
      </p:ext>
    </p:extLst>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p:nvPr/>
        </p:nvSpPr>
        <p:spPr bwMode="auto">
          <a:xfrm>
            <a:off x="354698" y="3186777"/>
            <a:ext cx="8609789" cy="3122543"/>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Times New Roman" pitchFamily="18" charset="0"/>
              <a:ea typeface="宋体" pitchFamily="2" charset="-122"/>
            </a:endParaRPr>
          </a:p>
        </p:txBody>
      </p:sp>
      <p:sp>
        <p:nvSpPr>
          <p:cNvPr id="2" name="标题 1"/>
          <p:cNvSpPr>
            <a:spLocks noGrp="1"/>
          </p:cNvSpPr>
          <p:nvPr>
            <p:ph type="title"/>
          </p:nvPr>
        </p:nvSpPr>
        <p:spPr/>
        <p:txBody>
          <a:bodyPr/>
          <a:lstStyle/>
          <a:p>
            <a:r>
              <a:rPr lang="en-US" altLang="zh-CN" dirty="0">
                <a:latin typeface="Times New Roman" pitchFamily="18" charset="0"/>
                <a:cs typeface="Times New Roman" pitchFamily="18" charset="0"/>
              </a:rPr>
              <a:t>Literature Review</a:t>
            </a:r>
            <a:endParaRPr lang="zh-CN" altLang="en-US" dirty="0"/>
          </a:p>
        </p:txBody>
      </p:sp>
      <p:sp>
        <p:nvSpPr>
          <p:cNvPr id="4" name="日期占位符 3"/>
          <p:cNvSpPr>
            <a:spLocks noGrp="1"/>
          </p:cNvSpPr>
          <p:nvPr>
            <p:ph type="dt" sz="half" idx="10"/>
          </p:nvPr>
        </p:nvSpPr>
        <p:spPr>
          <a:xfrm>
            <a:off x="7740352" y="6569075"/>
            <a:ext cx="1327944" cy="288925"/>
          </a:xfrm>
        </p:spPr>
        <p:txBody>
          <a:bodyPr/>
          <a:lstStyle/>
          <a:p>
            <a:pPr>
              <a:defRPr/>
            </a:pPr>
            <a:fld id="{06FBB200-D51D-43C2-B127-C518D164380F}" type="datetime4">
              <a:rPr lang="en-US" altLang="zh-CN" smtClean="0">
                <a:solidFill>
                  <a:srgbClr val="292929"/>
                </a:solidFill>
              </a:rPr>
              <a:t>April 25, 2019</a:t>
            </a:fld>
            <a:endParaRPr lang="en-US" altLang="zh-CN" dirty="0">
              <a:solidFill>
                <a:srgbClr val="292929"/>
              </a:solidFill>
            </a:endParaRPr>
          </a:p>
        </p:txBody>
      </p:sp>
      <p:sp>
        <p:nvSpPr>
          <p:cNvPr id="6" name="灯片编号占位符 5"/>
          <p:cNvSpPr>
            <a:spLocks noGrp="1"/>
          </p:cNvSpPr>
          <p:nvPr>
            <p:ph type="sldNum" sz="quarter" idx="12"/>
          </p:nvPr>
        </p:nvSpPr>
        <p:spPr>
          <a:xfrm>
            <a:off x="3757334" y="6572758"/>
            <a:ext cx="933450" cy="288925"/>
          </a:xfrm>
        </p:spPr>
        <p:txBody>
          <a:bodyPr/>
          <a:lstStyle/>
          <a:p>
            <a:fld id="{71E37E66-47ED-4E23-B805-CF9315C51031}" type="slidenum">
              <a:rPr lang="en-US" altLang="zh-CN" smtClean="0">
                <a:solidFill>
                  <a:srgbClr val="292929"/>
                </a:solidFill>
              </a:rPr>
              <a:pPr/>
              <a:t>6</a:t>
            </a:fld>
            <a:endParaRPr lang="en-US" altLang="zh-CN" dirty="0">
              <a:solidFill>
                <a:srgbClr val="292929"/>
              </a:solidFill>
            </a:endParaRPr>
          </a:p>
        </p:txBody>
      </p:sp>
      <p:sp>
        <p:nvSpPr>
          <p:cNvPr id="8" name="矩形 7"/>
          <p:cNvSpPr/>
          <p:nvPr/>
        </p:nvSpPr>
        <p:spPr>
          <a:xfrm>
            <a:off x="354698" y="1876706"/>
            <a:ext cx="8208912" cy="923330"/>
          </a:xfrm>
          <a:prstGeom prst="rect">
            <a:avLst/>
          </a:prstGeom>
        </p:spPr>
        <p:txBody>
          <a:bodyPr wrap="square">
            <a:spAutoFit/>
          </a:bodyPr>
          <a:lstStyle/>
          <a:p>
            <a:pPr algn="just"/>
            <a:r>
              <a:rPr lang="en-US" altLang="zh-CN" b="1" dirty="0">
                <a:solidFill>
                  <a:srgbClr val="7030A0"/>
                </a:solidFill>
                <a:latin typeface="Times New Roman" panose="02020603050405020304" pitchFamily="18" charset="0"/>
                <a:cs typeface="Times New Roman" panose="02020603050405020304" pitchFamily="18" charset="0"/>
              </a:rPr>
              <a:t>(1) AJ </a:t>
            </a:r>
            <a:r>
              <a:rPr lang="en-US" altLang="zh-CN" b="1" dirty="0">
                <a:solidFill>
                  <a:srgbClr val="7030A0"/>
                </a:solidFill>
                <a:latin typeface="Times New Roman" panose="02020603050405020304" pitchFamily="18" charset="0"/>
                <a:cs typeface="Times New Roman" panose="02020603050405020304" pitchFamily="18" charset="0"/>
              </a:rPr>
              <a:t>model points out that, when the level of technology spillovers is small, the firms’ equilibrium R&amp;D output levels under the mixed game are lower than the one under the fully </a:t>
            </a:r>
            <a:r>
              <a:rPr lang="en-US" altLang="zh-CN" b="1" dirty="0">
                <a:solidFill>
                  <a:srgbClr val="7030A0"/>
                </a:solidFill>
                <a:latin typeface="Times New Roman" panose="02020603050405020304" pitchFamily="18" charset="0"/>
                <a:cs typeface="Times New Roman" panose="02020603050405020304" pitchFamily="18" charset="0"/>
              </a:rPr>
              <a:t>non-cooperative </a:t>
            </a:r>
            <a:r>
              <a:rPr lang="en-US" altLang="zh-CN" b="1" dirty="0">
                <a:solidFill>
                  <a:srgbClr val="7030A0"/>
                </a:solidFill>
                <a:latin typeface="Times New Roman" panose="02020603050405020304" pitchFamily="18" charset="0"/>
                <a:cs typeface="Times New Roman" panose="02020603050405020304" pitchFamily="18" charset="0"/>
              </a:rPr>
              <a:t>game. </a:t>
            </a:r>
          </a:p>
        </p:txBody>
      </p:sp>
      <p:sp>
        <p:nvSpPr>
          <p:cNvPr id="10" name="TextBox 9"/>
          <p:cNvSpPr txBox="1"/>
          <p:nvPr/>
        </p:nvSpPr>
        <p:spPr>
          <a:xfrm>
            <a:off x="354699" y="1028301"/>
            <a:ext cx="8249551" cy="830997"/>
          </a:xfrm>
          <a:prstGeom prst="rect">
            <a:avLst/>
          </a:prstGeom>
          <a:noFill/>
        </p:spPr>
        <p:txBody>
          <a:bodyPr wrap="square" rtlCol="0">
            <a:spAutoFit/>
          </a:bodyPr>
          <a:lstStyle/>
          <a:p>
            <a:pPr algn="just"/>
            <a:r>
              <a:rPr lang="en-US" altLang="zh-CN" sz="2400" dirty="0" smtClean="0">
                <a:latin typeface="Times New Roman" panose="02020603050405020304" pitchFamily="18" charset="0"/>
                <a:cs typeface="Times New Roman" panose="02020603050405020304" pitchFamily="18" charset="0"/>
              </a:rPr>
              <a:t>Our works </a:t>
            </a:r>
            <a:r>
              <a:rPr lang="en-US" altLang="zh-CN" sz="2400" dirty="0">
                <a:latin typeface="Times New Roman" panose="02020603050405020304" pitchFamily="18" charset="0"/>
                <a:cs typeface="Times New Roman" panose="02020603050405020304" pitchFamily="18" charset="0"/>
              </a:rPr>
              <a:t>are significantly different from those of the AJ model, which are mainly shown in the following two aspects: </a:t>
            </a:r>
          </a:p>
        </p:txBody>
      </p:sp>
      <p:sp>
        <p:nvSpPr>
          <p:cNvPr id="11" name="页脚占位符 4"/>
          <p:cNvSpPr>
            <a:spLocks noGrp="1"/>
          </p:cNvSpPr>
          <p:nvPr>
            <p:ph type="ftr" sz="quarter" idx="11"/>
          </p:nvPr>
        </p:nvSpPr>
        <p:spPr>
          <a:xfrm>
            <a:off x="0" y="6569075"/>
            <a:ext cx="3059832" cy="288925"/>
          </a:xfrm>
        </p:spPr>
        <p:txBody>
          <a:bodyPr/>
          <a:lstStyle/>
          <a:p>
            <a:pPr>
              <a:defRPr/>
            </a:pPr>
            <a:r>
              <a:rPr lang="en-US" altLang="zh-CN" smtClean="0"/>
              <a:t>Xiaolin Xu</a:t>
            </a:r>
            <a:r>
              <a:rPr lang="zh-CN" altLang="en-US" smtClean="0"/>
              <a:t>（ </a:t>
            </a:r>
            <a:r>
              <a:rPr lang="en-US" altLang="zh-CN" smtClean="0"/>
              <a:t>Nanjing University </a:t>
            </a:r>
            <a:r>
              <a:rPr lang="zh-CN" altLang="en-US" smtClean="0"/>
              <a:t>）</a:t>
            </a:r>
            <a:endParaRPr lang="en-US" altLang="zh-CN" dirty="0"/>
          </a:p>
        </p:txBody>
      </p:sp>
      <p:sp>
        <p:nvSpPr>
          <p:cNvPr id="5" name="矩形 4"/>
          <p:cNvSpPr/>
          <p:nvPr/>
        </p:nvSpPr>
        <p:spPr>
          <a:xfrm>
            <a:off x="404654" y="3247786"/>
            <a:ext cx="8411351" cy="923330"/>
          </a:xfrm>
          <a:prstGeom prst="rect">
            <a:avLst/>
          </a:prstGeom>
        </p:spPr>
        <p:txBody>
          <a:bodyPr wrap="square">
            <a:spAutoFit/>
          </a:bodyPr>
          <a:lstStyle/>
          <a:p>
            <a:pPr marL="285750" indent="-285750" algn="just">
              <a:buFont typeface="Wingdings" panose="05000000000000000000" pitchFamily="2" charset="2"/>
              <a:buChar char="Ø"/>
            </a:pPr>
            <a:r>
              <a:rPr lang="en-US" altLang="zh-CN" i="1" dirty="0">
                <a:latin typeface="Times New Roman" panose="02020603050405020304" pitchFamily="18" charset="0"/>
                <a:cs typeface="Times New Roman" panose="02020603050405020304" pitchFamily="18" charset="0"/>
              </a:rPr>
              <a:t>when the level of </a:t>
            </a:r>
            <a:r>
              <a:rPr lang="en-US" altLang="zh-CN" i="1" dirty="0">
                <a:solidFill>
                  <a:srgbClr val="FF0000"/>
                </a:solidFill>
                <a:latin typeface="Times New Roman" panose="02020603050405020304" pitchFamily="18" charset="0"/>
                <a:cs typeface="Times New Roman" panose="02020603050405020304" pitchFamily="18" charset="0"/>
              </a:rPr>
              <a:t>technology spillovers is small </a:t>
            </a:r>
            <a:r>
              <a:rPr lang="en-US" altLang="zh-CN" i="1" dirty="0">
                <a:latin typeface="Times New Roman" panose="02020603050405020304" pitchFamily="18" charset="0"/>
                <a:cs typeface="Times New Roman" panose="02020603050405020304" pitchFamily="18" charset="0"/>
              </a:rPr>
              <a:t>and the initial </a:t>
            </a:r>
            <a:r>
              <a:rPr lang="en-US" altLang="zh-CN" i="1" dirty="0">
                <a:solidFill>
                  <a:srgbClr val="FF0000"/>
                </a:solidFill>
                <a:latin typeface="Times New Roman" panose="02020603050405020304" pitchFamily="18" charset="0"/>
                <a:cs typeface="Times New Roman" panose="02020603050405020304" pitchFamily="18" charset="0"/>
              </a:rPr>
              <a:t>marginal production costs </a:t>
            </a:r>
            <a:r>
              <a:rPr lang="en-US" altLang="zh-CN" i="1" dirty="0">
                <a:latin typeface="Times New Roman" panose="02020603050405020304" pitchFamily="18" charset="0"/>
                <a:cs typeface="Times New Roman" panose="02020603050405020304" pitchFamily="18" charset="0"/>
              </a:rPr>
              <a:t>of the downstream firms </a:t>
            </a:r>
            <a:r>
              <a:rPr lang="en-US" altLang="zh-CN" i="1" dirty="0">
                <a:solidFill>
                  <a:srgbClr val="FF0000"/>
                </a:solidFill>
                <a:latin typeface="Times New Roman" panose="02020603050405020304" pitchFamily="18" charset="0"/>
                <a:cs typeface="Times New Roman" panose="02020603050405020304" pitchFamily="18" charset="0"/>
              </a:rPr>
              <a:t>are large</a:t>
            </a:r>
            <a:r>
              <a:rPr lang="en-US" altLang="zh-CN" i="1" dirty="0">
                <a:latin typeface="Times New Roman" panose="02020603050405020304" pitchFamily="18" charset="0"/>
                <a:cs typeface="Times New Roman" panose="02020603050405020304" pitchFamily="18" charset="0"/>
              </a:rPr>
              <a:t>, the firms’ equilibrium R&amp;D output levels under the mixed game are lower than the one under the fully </a:t>
            </a:r>
            <a:r>
              <a:rPr lang="en-US" altLang="zh-CN" i="1" dirty="0" err="1">
                <a:latin typeface="Times New Roman" panose="02020603050405020304" pitchFamily="18" charset="0"/>
                <a:cs typeface="Times New Roman" panose="02020603050405020304" pitchFamily="18" charset="0"/>
              </a:rPr>
              <a:t>noncooperative</a:t>
            </a:r>
            <a:r>
              <a:rPr lang="en-US" altLang="zh-CN" i="1" dirty="0">
                <a:latin typeface="Times New Roman" panose="02020603050405020304" pitchFamily="18" charset="0"/>
                <a:cs typeface="Times New Roman" panose="02020603050405020304" pitchFamily="18" charset="0"/>
              </a:rPr>
              <a:t> </a:t>
            </a:r>
            <a:r>
              <a:rPr lang="en-US" altLang="zh-CN" i="1" dirty="0" smtClean="0">
                <a:latin typeface="Times New Roman" panose="02020603050405020304" pitchFamily="18" charset="0"/>
                <a:cs typeface="Times New Roman" panose="02020603050405020304" pitchFamily="18" charset="0"/>
              </a:rPr>
              <a:t>game;</a:t>
            </a:r>
            <a:endParaRPr lang="zh-CN" altLang="en-US" i="1" dirty="0"/>
          </a:p>
        </p:txBody>
      </p:sp>
      <p:sp>
        <p:nvSpPr>
          <p:cNvPr id="7" name="矩形 6"/>
          <p:cNvSpPr/>
          <p:nvPr/>
        </p:nvSpPr>
        <p:spPr>
          <a:xfrm>
            <a:off x="403633" y="4260294"/>
            <a:ext cx="8310041" cy="923330"/>
          </a:xfrm>
          <a:prstGeom prst="rect">
            <a:avLst/>
          </a:prstGeom>
        </p:spPr>
        <p:txBody>
          <a:bodyPr wrap="square">
            <a:spAutoFit/>
          </a:bodyPr>
          <a:lstStyle/>
          <a:p>
            <a:pPr marL="285750" indent="-285750" algn="just">
              <a:buFont typeface="Wingdings" panose="05000000000000000000" pitchFamily="2" charset="2"/>
              <a:buChar char="Ø"/>
            </a:pPr>
            <a:r>
              <a:rPr lang="en-US" altLang="zh-CN" i="1" dirty="0" smtClean="0">
                <a:latin typeface="Times New Roman" panose="02020603050405020304" pitchFamily="18" charset="0"/>
                <a:cs typeface="Times New Roman" panose="02020603050405020304" pitchFamily="18" charset="0"/>
              </a:rPr>
              <a:t>when </a:t>
            </a:r>
            <a:r>
              <a:rPr lang="en-US" altLang="zh-CN" i="1" dirty="0">
                <a:latin typeface="Times New Roman" panose="02020603050405020304" pitchFamily="18" charset="0"/>
                <a:cs typeface="Times New Roman" panose="02020603050405020304" pitchFamily="18" charset="0"/>
              </a:rPr>
              <a:t>both the level of </a:t>
            </a:r>
            <a:r>
              <a:rPr lang="en-US" altLang="zh-CN" i="1" dirty="0">
                <a:solidFill>
                  <a:srgbClr val="FF0000"/>
                </a:solidFill>
                <a:latin typeface="Times New Roman" panose="02020603050405020304" pitchFamily="18" charset="0"/>
                <a:cs typeface="Times New Roman" panose="02020603050405020304" pitchFamily="18" charset="0"/>
              </a:rPr>
              <a:t>technology spillovers </a:t>
            </a:r>
            <a:r>
              <a:rPr lang="en-US" altLang="zh-CN" i="1" dirty="0">
                <a:latin typeface="Times New Roman" panose="02020603050405020304" pitchFamily="18" charset="0"/>
                <a:cs typeface="Times New Roman" panose="02020603050405020304" pitchFamily="18" charset="0"/>
              </a:rPr>
              <a:t>and the initial </a:t>
            </a:r>
            <a:r>
              <a:rPr lang="en-US" altLang="zh-CN" i="1" dirty="0">
                <a:solidFill>
                  <a:srgbClr val="FF0000"/>
                </a:solidFill>
                <a:latin typeface="Times New Roman" panose="02020603050405020304" pitchFamily="18" charset="0"/>
                <a:cs typeface="Times New Roman" panose="02020603050405020304" pitchFamily="18" charset="0"/>
              </a:rPr>
              <a:t>marginal production costs </a:t>
            </a:r>
            <a:r>
              <a:rPr lang="en-US" altLang="zh-CN" i="1" dirty="0">
                <a:latin typeface="Times New Roman" panose="02020603050405020304" pitchFamily="18" charset="0"/>
                <a:cs typeface="Times New Roman" panose="02020603050405020304" pitchFamily="18" charset="0"/>
              </a:rPr>
              <a:t>of the downstream firms are </a:t>
            </a:r>
            <a:r>
              <a:rPr lang="en-US" altLang="zh-CN" i="1" dirty="0">
                <a:solidFill>
                  <a:srgbClr val="FF0000"/>
                </a:solidFill>
                <a:latin typeface="Times New Roman" panose="02020603050405020304" pitchFamily="18" charset="0"/>
                <a:cs typeface="Times New Roman" panose="02020603050405020304" pitchFamily="18" charset="0"/>
              </a:rPr>
              <a:t>large</a:t>
            </a:r>
            <a:r>
              <a:rPr lang="en-US" altLang="zh-CN" i="1" dirty="0">
                <a:latin typeface="Times New Roman" panose="02020603050405020304" pitchFamily="18" charset="0"/>
                <a:cs typeface="Times New Roman" panose="02020603050405020304" pitchFamily="18" charset="0"/>
              </a:rPr>
              <a:t>, the firms’ equilibrium R&amp;D output levels under the mixed game are greater than the one under the fully </a:t>
            </a:r>
            <a:r>
              <a:rPr lang="en-US" altLang="zh-CN" i="1" dirty="0" err="1">
                <a:latin typeface="Times New Roman" panose="02020603050405020304" pitchFamily="18" charset="0"/>
                <a:cs typeface="Times New Roman" panose="02020603050405020304" pitchFamily="18" charset="0"/>
              </a:rPr>
              <a:t>noncooperative</a:t>
            </a:r>
            <a:r>
              <a:rPr lang="en-US" altLang="zh-CN" i="1" dirty="0">
                <a:latin typeface="Times New Roman" panose="02020603050405020304" pitchFamily="18" charset="0"/>
                <a:cs typeface="Times New Roman" panose="02020603050405020304" pitchFamily="18" charset="0"/>
              </a:rPr>
              <a:t> </a:t>
            </a:r>
            <a:r>
              <a:rPr lang="en-US" altLang="zh-CN" i="1" dirty="0" smtClean="0">
                <a:latin typeface="Times New Roman" panose="02020603050405020304" pitchFamily="18" charset="0"/>
                <a:cs typeface="Times New Roman" panose="02020603050405020304" pitchFamily="18" charset="0"/>
              </a:rPr>
              <a:t>game</a:t>
            </a:r>
            <a:r>
              <a:rPr lang="en-US" altLang="zh-CN" i="1" dirty="0">
                <a:latin typeface="Times New Roman" panose="02020603050405020304" pitchFamily="18" charset="0"/>
                <a:cs typeface="Times New Roman" panose="02020603050405020304" pitchFamily="18" charset="0"/>
              </a:rPr>
              <a:t>;</a:t>
            </a:r>
            <a:endParaRPr lang="zh-CN" altLang="en-US" i="1" dirty="0"/>
          </a:p>
        </p:txBody>
      </p:sp>
      <p:sp>
        <p:nvSpPr>
          <p:cNvPr id="12" name="矩形 11"/>
          <p:cNvSpPr/>
          <p:nvPr/>
        </p:nvSpPr>
        <p:spPr>
          <a:xfrm>
            <a:off x="410794" y="5272802"/>
            <a:ext cx="8399070" cy="923330"/>
          </a:xfrm>
          <a:prstGeom prst="rect">
            <a:avLst/>
          </a:prstGeom>
        </p:spPr>
        <p:txBody>
          <a:bodyPr wrap="square">
            <a:spAutoFit/>
          </a:bodyPr>
          <a:lstStyle/>
          <a:p>
            <a:pPr marL="285750" lvl="0" indent="-285750" algn="just">
              <a:buFont typeface="Wingdings" panose="05000000000000000000" pitchFamily="2" charset="2"/>
              <a:buChar char="Ø"/>
              <a:defRPr/>
            </a:pPr>
            <a:r>
              <a:rPr lang="en-US" altLang="zh-CN" i="1" dirty="0" smtClean="0">
                <a:latin typeface="Times New Roman" panose="02020603050405020304" pitchFamily="18" charset="0"/>
                <a:cs typeface="Times New Roman" panose="02020603050405020304" pitchFamily="18" charset="0"/>
              </a:rPr>
              <a:t>when </a:t>
            </a:r>
            <a:r>
              <a:rPr lang="en-US" altLang="zh-CN" i="1" dirty="0">
                <a:latin typeface="Times New Roman" panose="02020603050405020304" pitchFamily="18" charset="0"/>
                <a:cs typeface="Times New Roman" panose="02020603050405020304" pitchFamily="18" charset="0"/>
              </a:rPr>
              <a:t>the initial </a:t>
            </a:r>
            <a:r>
              <a:rPr lang="en-US" altLang="zh-CN" i="1" dirty="0">
                <a:solidFill>
                  <a:srgbClr val="FF0000"/>
                </a:solidFill>
                <a:latin typeface="Times New Roman" panose="02020603050405020304" pitchFamily="18" charset="0"/>
                <a:cs typeface="Times New Roman" panose="02020603050405020304" pitchFamily="18" charset="0"/>
              </a:rPr>
              <a:t>marginal production costs </a:t>
            </a:r>
            <a:r>
              <a:rPr lang="en-US" altLang="zh-CN" i="1" dirty="0">
                <a:latin typeface="Times New Roman" panose="02020603050405020304" pitchFamily="18" charset="0"/>
                <a:cs typeface="Times New Roman" panose="02020603050405020304" pitchFamily="18" charset="0"/>
              </a:rPr>
              <a:t>of the downstream firms are </a:t>
            </a:r>
            <a:r>
              <a:rPr lang="en-US" altLang="zh-CN" i="1" dirty="0">
                <a:solidFill>
                  <a:srgbClr val="FF0000"/>
                </a:solidFill>
                <a:latin typeface="Times New Roman" panose="02020603050405020304" pitchFamily="18" charset="0"/>
                <a:cs typeface="Times New Roman" panose="02020603050405020304" pitchFamily="18" charset="0"/>
              </a:rPr>
              <a:t>small</a:t>
            </a:r>
            <a:r>
              <a:rPr lang="en-US" altLang="zh-CN" i="1" dirty="0">
                <a:latin typeface="Times New Roman" panose="02020603050405020304" pitchFamily="18" charset="0"/>
                <a:cs typeface="Times New Roman" panose="02020603050405020304" pitchFamily="18" charset="0"/>
              </a:rPr>
              <a:t>, regardless of the level of technology </a:t>
            </a:r>
            <a:r>
              <a:rPr lang="en-US" altLang="zh-CN" i="1" dirty="0" smtClean="0">
                <a:latin typeface="Times New Roman" panose="02020603050405020304" pitchFamily="18" charset="0"/>
                <a:cs typeface="Times New Roman" panose="02020603050405020304" pitchFamily="18" charset="0"/>
              </a:rPr>
              <a:t>spillovers, </a:t>
            </a:r>
            <a:r>
              <a:rPr lang="en-US" altLang="zh-CN" i="1" dirty="0">
                <a:latin typeface="Times New Roman" panose="02020603050405020304" pitchFamily="18" charset="0"/>
                <a:cs typeface="Times New Roman" panose="02020603050405020304" pitchFamily="18" charset="0"/>
              </a:rPr>
              <a:t>the firms’ equilibrium R&amp;D output levels under the mixed game are equal to the one under the fully </a:t>
            </a:r>
            <a:r>
              <a:rPr lang="en-US" altLang="zh-CN" i="1" dirty="0" err="1">
                <a:latin typeface="Times New Roman" panose="02020603050405020304" pitchFamily="18" charset="0"/>
                <a:cs typeface="Times New Roman" panose="02020603050405020304" pitchFamily="18" charset="0"/>
              </a:rPr>
              <a:t>noncooperative</a:t>
            </a:r>
            <a:r>
              <a:rPr lang="en-US" altLang="zh-CN" i="1" dirty="0">
                <a:latin typeface="Times New Roman" panose="02020603050405020304" pitchFamily="18" charset="0"/>
                <a:cs typeface="Times New Roman" panose="02020603050405020304" pitchFamily="18" charset="0"/>
              </a:rPr>
              <a:t> </a:t>
            </a:r>
            <a:r>
              <a:rPr lang="en-US" altLang="zh-CN" i="1" dirty="0" smtClean="0">
                <a:latin typeface="Times New Roman" panose="02020603050405020304" pitchFamily="18" charset="0"/>
                <a:cs typeface="Times New Roman" panose="02020603050405020304" pitchFamily="18" charset="0"/>
              </a:rPr>
              <a:t>game</a:t>
            </a:r>
            <a:r>
              <a:rPr lang="en-US" altLang="zh-CN" i="1" dirty="0">
                <a:latin typeface="Times New Roman" panose="02020603050405020304" pitchFamily="18" charset="0"/>
                <a:cs typeface="Times New Roman" panose="02020603050405020304" pitchFamily="18" charset="0"/>
              </a:rPr>
              <a:t>;</a:t>
            </a:r>
          </a:p>
        </p:txBody>
      </p:sp>
      <p:sp>
        <p:nvSpPr>
          <p:cNvPr id="13" name="矩形 12"/>
          <p:cNvSpPr/>
          <p:nvPr/>
        </p:nvSpPr>
        <p:spPr>
          <a:xfrm>
            <a:off x="468313" y="2817445"/>
            <a:ext cx="2537874" cy="369332"/>
          </a:xfrm>
          <a:prstGeom prst="rect">
            <a:avLst/>
          </a:prstGeom>
        </p:spPr>
        <p:txBody>
          <a:bodyPr wrap="none">
            <a:spAutoFit/>
          </a:bodyPr>
          <a:lstStyle/>
          <a:p>
            <a:pPr algn="just"/>
            <a:r>
              <a:rPr lang="en-US" altLang="zh-CN" dirty="0">
                <a:latin typeface="Times New Roman" panose="02020603050405020304" pitchFamily="18" charset="0"/>
                <a:cs typeface="Times New Roman" panose="02020603050405020304" pitchFamily="18" charset="0"/>
              </a:rPr>
              <a:t>Our work indicates that:  </a:t>
            </a:r>
          </a:p>
        </p:txBody>
      </p:sp>
    </p:spTree>
    <p:extLst>
      <p:ext uri="{BB962C8B-B14F-4D97-AF65-F5344CB8AC3E}">
        <p14:creationId xmlns:p14="http://schemas.microsoft.com/office/powerpoint/2010/main" val="4291818155"/>
      </p:ext>
    </p:extLst>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bwMode="auto">
          <a:xfrm>
            <a:off x="468313" y="3331001"/>
            <a:ext cx="8496174" cy="2474263"/>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Times New Roman" pitchFamily="18" charset="0"/>
              <a:ea typeface="宋体" pitchFamily="2" charset="-122"/>
            </a:endParaRPr>
          </a:p>
        </p:txBody>
      </p:sp>
      <p:sp>
        <p:nvSpPr>
          <p:cNvPr id="2" name="标题 1"/>
          <p:cNvSpPr>
            <a:spLocks noGrp="1"/>
          </p:cNvSpPr>
          <p:nvPr>
            <p:ph type="title"/>
          </p:nvPr>
        </p:nvSpPr>
        <p:spPr/>
        <p:txBody>
          <a:bodyPr/>
          <a:lstStyle/>
          <a:p>
            <a:r>
              <a:rPr lang="en-US" altLang="zh-CN" dirty="0">
                <a:latin typeface="Times New Roman" pitchFamily="18" charset="0"/>
                <a:cs typeface="Times New Roman" pitchFamily="18" charset="0"/>
              </a:rPr>
              <a:t>Literature Review</a:t>
            </a:r>
            <a:endParaRPr kumimoji="1" lang="zh-CN" altLang="en-US" dirty="0"/>
          </a:p>
        </p:txBody>
      </p:sp>
      <p:sp>
        <p:nvSpPr>
          <p:cNvPr id="4" name="日期占位符 3"/>
          <p:cNvSpPr>
            <a:spLocks noGrp="1"/>
          </p:cNvSpPr>
          <p:nvPr>
            <p:ph type="dt" sz="half" idx="10"/>
          </p:nvPr>
        </p:nvSpPr>
        <p:spPr>
          <a:xfrm>
            <a:off x="7740352" y="6550522"/>
            <a:ext cx="1293813" cy="288925"/>
          </a:xfrm>
        </p:spPr>
        <p:txBody>
          <a:bodyPr/>
          <a:lstStyle/>
          <a:p>
            <a:pPr>
              <a:defRPr/>
            </a:pPr>
            <a:fld id="{A5DCBEB0-C9F4-4169-B2A0-557A14CBCF43}" type="datetime4">
              <a:rPr lang="en-US" altLang="zh-CN" smtClean="0">
                <a:solidFill>
                  <a:srgbClr val="292929"/>
                </a:solidFill>
              </a:rPr>
              <a:t>April 25, 2019</a:t>
            </a:fld>
            <a:endParaRPr lang="en-US" altLang="zh-CN" dirty="0">
              <a:solidFill>
                <a:srgbClr val="292929"/>
              </a:solidFill>
            </a:endParaRPr>
          </a:p>
        </p:txBody>
      </p:sp>
      <p:sp>
        <p:nvSpPr>
          <p:cNvPr id="5" name="页脚占位符 4"/>
          <p:cNvSpPr>
            <a:spLocks noGrp="1"/>
          </p:cNvSpPr>
          <p:nvPr>
            <p:ph type="ftr" sz="quarter" idx="11"/>
          </p:nvPr>
        </p:nvSpPr>
        <p:spPr>
          <a:xfrm>
            <a:off x="0" y="6552093"/>
            <a:ext cx="5257800" cy="288925"/>
          </a:xfrm>
        </p:spPr>
        <p:txBody>
          <a:bodyPr/>
          <a:lstStyle/>
          <a:p>
            <a:pPr>
              <a:defRPr/>
            </a:pPr>
            <a:r>
              <a:rPr lang="en-US" altLang="zh-CN" dirty="0" err="1" smtClean="0"/>
              <a:t>Xiaolin</a:t>
            </a:r>
            <a:r>
              <a:rPr lang="en-US" altLang="zh-CN" dirty="0" smtClean="0"/>
              <a:t> Xu</a:t>
            </a:r>
            <a:r>
              <a:rPr lang="zh-CN" altLang="en-US" dirty="0" smtClean="0"/>
              <a:t>（ </a:t>
            </a:r>
            <a:r>
              <a:rPr lang="en-US" altLang="zh-CN" dirty="0" smtClean="0"/>
              <a:t>Nanjing University </a:t>
            </a:r>
            <a:r>
              <a:rPr lang="zh-CN" altLang="en-US" dirty="0" smtClean="0"/>
              <a:t>）</a:t>
            </a:r>
            <a:endParaRPr lang="en-US" altLang="zh-CN" dirty="0"/>
          </a:p>
        </p:txBody>
      </p:sp>
      <p:sp>
        <p:nvSpPr>
          <p:cNvPr id="6" name="幻灯片编号占位符 5"/>
          <p:cNvSpPr>
            <a:spLocks noGrp="1"/>
          </p:cNvSpPr>
          <p:nvPr>
            <p:ph type="sldNum" sz="quarter" idx="12"/>
          </p:nvPr>
        </p:nvSpPr>
        <p:spPr>
          <a:xfrm>
            <a:off x="3995936" y="6550521"/>
            <a:ext cx="933450" cy="288925"/>
          </a:xfrm>
        </p:spPr>
        <p:txBody>
          <a:bodyPr/>
          <a:lstStyle/>
          <a:p>
            <a:fld id="{71E37E66-47ED-4E23-B805-CF9315C51031}" type="slidenum">
              <a:rPr lang="en-US" altLang="zh-CN" smtClean="0">
                <a:solidFill>
                  <a:srgbClr val="292929"/>
                </a:solidFill>
              </a:rPr>
              <a:pPr/>
              <a:t>7</a:t>
            </a:fld>
            <a:endParaRPr lang="en-US" altLang="zh-CN">
              <a:solidFill>
                <a:srgbClr val="292929"/>
              </a:solidFill>
            </a:endParaRPr>
          </a:p>
        </p:txBody>
      </p:sp>
      <p:sp>
        <p:nvSpPr>
          <p:cNvPr id="7" name="矩形 6"/>
          <p:cNvSpPr/>
          <p:nvPr/>
        </p:nvSpPr>
        <p:spPr>
          <a:xfrm>
            <a:off x="392246" y="1484784"/>
            <a:ext cx="8565852" cy="954107"/>
          </a:xfrm>
          <a:prstGeom prst="rect">
            <a:avLst/>
          </a:prstGeom>
        </p:spPr>
        <p:txBody>
          <a:bodyPr wrap="square">
            <a:spAutoFit/>
          </a:bodyPr>
          <a:lstStyle/>
          <a:p>
            <a:pPr algn="just"/>
            <a:r>
              <a:rPr lang="zh-CN" altLang="en-US" sz="2000" dirty="0" smtClean="0">
                <a:latin typeface="Times New Roman" panose="02020603050405020304" pitchFamily="18" charset="0"/>
                <a:cs typeface="Times New Roman" panose="02020603050405020304" pitchFamily="18" charset="0"/>
              </a:rPr>
              <a:t>（</a:t>
            </a:r>
            <a:r>
              <a:rPr lang="en-US" altLang="zh-CN" sz="2000" dirty="0" smtClean="0">
                <a:latin typeface="Times New Roman" panose="02020603050405020304" pitchFamily="18" charset="0"/>
                <a:cs typeface="Times New Roman" panose="02020603050405020304" pitchFamily="18" charset="0"/>
              </a:rPr>
              <a:t>2</a:t>
            </a:r>
            <a:r>
              <a:rPr lang="zh-CN" altLang="en-US" sz="2000" dirty="0" smtClean="0">
                <a:latin typeface="Times New Roman" panose="02020603050405020304" pitchFamily="18" charset="0"/>
                <a:cs typeface="Times New Roman" panose="02020603050405020304" pitchFamily="18" charset="0"/>
              </a:rPr>
              <a:t>）</a:t>
            </a:r>
            <a:r>
              <a:rPr lang="en-US" altLang="zh-CN" b="1" dirty="0" smtClean="0">
                <a:solidFill>
                  <a:srgbClr val="7030A0"/>
                </a:solidFill>
                <a:latin typeface="Times New Roman" panose="02020603050405020304" pitchFamily="18" charset="0"/>
                <a:cs typeface="Times New Roman" panose="02020603050405020304" pitchFamily="18" charset="0"/>
              </a:rPr>
              <a:t>AJ </a:t>
            </a:r>
            <a:r>
              <a:rPr lang="en-US" altLang="zh-CN" b="1" dirty="0">
                <a:solidFill>
                  <a:srgbClr val="7030A0"/>
                </a:solidFill>
                <a:latin typeface="Times New Roman" panose="02020603050405020304" pitchFamily="18" charset="0"/>
                <a:cs typeface="Times New Roman" panose="02020603050405020304" pitchFamily="18" charset="0"/>
              </a:rPr>
              <a:t>model points out that, when the level of technology spillovers is large, the social welfare under the mixed game is greater than the one under the </a:t>
            </a:r>
            <a:r>
              <a:rPr lang="en-US" altLang="zh-CN" b="1" dirty="0" err="1">
                <a:solidFill>
                  <a:srgbClr val="7030A0"/>
                </a:solidFill>
                <a:latin typeface="Times New Roman" panose="02020603050405020304" pitchFamily="18" charset="0"/>
                <a:cs typeface="Times New Roman" panose="02020603050405020304" pitchFamily="18" charset="0"/>
              </a:rPr>
              <a:t>noncooperative</a:t>
            </a:r>
            <a:r>
              <a:rPr lang="en-US" altLang="zh-CN" b="1" dirty="0">
                <a:solidFill>
                  <a:srgbClr val="7030A0"/>
                </a:solidFill>
                <a:latin typeface="Times New Roman" panose="02020603050405020304" pitchFamily="18" charset="0"/>
                <a:cs typeface="Times New Roman" panose="02020603050405020304" pitchFamily="18" charset="0"/>
              </a:rPr>
              <a:t> game. </a:t>
            </a:r>
          </a:p>
        </p:txBody>
      </p:sp>
      <p:sp>
        <p:nvSpPr>
          <p:cNvPr id="8" name="矩形 7"/>
          <p:cNvSpPr/>
          <p:nvPr/>
        </p:nvSpPr>
        <p:spPr>
          <a:xfrm>
            <a:off x="468313" y="2787457"/>
            <a:ext cx="8413719" cy="2862322"/>
          </a:xfrm>
          <a:prstGeom prst="rect">
            <a:avLst/>
          </a:prstGeom>
        </p:spPr>
        <p:txBody>
          <a:bodyPr wrap="square">
            <a:spAutoFit/>
          </a:bodyPr>
          <a:lstStyle/>
          <a:p>
            <a:pPr algn="just"/>
            <a:r>
              <a:rPr lang="en-US" altLang="zh-CN" sz="2000" dirty="0" smtClean="0">
                <a:latin typeface="Times New Roman" panose="02020603050405020304" pitchFamily="18" charset="0"/>
                <a:cs typeface="Times New Roman" panose="02020603050405020304" pitchFamily="18" charset="0"/>
              </a:rPr>
              <a:t>Our </a:t>
            </a:r>
            <a:r>
              <a:rPr lang="en-US" altLang="zh-CN" sz="2000" dirty="0">
                <a:latin typeface="Times New Roman" panose="02020603050405020304" pitchFamily="18" charset="0"/>
                <a:cs typeface="Times New Roman" panose="02020603050405020304" pitchFamily="18" charset="0"/>
              </a:rPr>
              <a:t>work indicates </a:t>
            </a:r>
            <a:r>
              <a:rPr lang="en-US" altLang="zh-CN" sz="2000" dirty="0" smtClean="0">
                <a:latin typeface="Times New Roman" panose="02020603050405020304" pitchFamily="18" charset="0"/>
                <a:cs typeface="Times New Roman" panose="02020603050405020304" pitchFamily="18" charset="0"/>
              </a:rPr>
              <a:t>that:  </a:t>
            </a:r>
          </a:p>
          <a:p>
            <a:pPr algn="just"/>
            <a:endParaRPr lang="en-US" altLang="zh-CN" sz="2000" dirty="0" smtClean="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altLang="zh-CN" sz="2000" i="1" dirty="0" smtClean="0">
                <a:latin typeface="Times New Roman" panose="02020603050405020304" pitchFamily="18" charset="0"/>
                <a:cs typeface="Times New Roman" panose="02020603050405020304" pitchFamily="18" charset="0"/>
              </a:rPr>
              <a:t>when </a:t>
            </a:r>
            <a:r>
              <a:rPr lang="en-US" altLang="zh-CN" sz="2000" i="1" dirty="0">
                <a:latin typeface="Times New Roman" panose="02020603050405020304" pitchFamily="18" charset="0"/>
                <a:cs typeface="Times New Roman" panose="02020603050405020304" pitchFamily="18" charset="0"/>
              </a:rPr>
              <a:t>both the level of </a:t>
            </a:r>
            <a:r>
              <a:rPr lang="en-US" altLang="zh-CN" sz="2000" i="1" dirty="0">
                <a:solidFill>
                  <a:srgbClr val="FF0000"/>
                </a:solidFill>
                <a:latin typeface="Times New Roman" panose="02020603050405020304" pitchFamily="18" charset="0"/>
                <a:cs typeface="Times New Roman" panose="02020603050405020304" pitchFamily="18" charset="0"/>
              </a:rPr>
              <a:t>technology spillovers </a:t>
            </a:r>
            <a:r>
              <a:rPr lang="en-US" altLang="zh-CN" sz="2000" i="1" dirty="0">
                <a:latin typeface="Times New Roman" panose="02020603050405020304" pitchFamily="18" charset="0"/>
                <a:cs typeface="Times New Roman" panose="02020603050405020304" pitchFamily="18" charset="0"/>
              </a:rPr>
              <a:t>and the </a:t>
            </a:r>
            <a:r>
              <a:rPr lang="en-US" altLang="zh-CN" sz="2000" i="1" dirty="0">
                <a:solidFill>
                  <a:srgbClr val="FF0000"/>
                </a:solidFill>
                <a:latin typeface="Times New Roman" panose="02020603050405020304" pitchFamily="18" charset="0"/>
                <a:cs typeface="Times New Roman" panose="02020603050405020304" pitchFamily="18" charset="0"/>
              </a:rPr>
              <a:t>initial marginal production costs</a:t>
            </a:r>
            <a:r>
              <a:rPr lang="en-US" altLang="zh-CN" sz="2000" i="1" dirty="0">
                <a:latin typeface="Times New Roman" panose="02020603050405020304" pitchFamily="18" charset="0"/>
                <a:cs typeface="Times New Roman" panose="02020603050405020304" pitchFamily="18" charset="0"/>
              </a:rPr>
              <a:t> of the downstream firms are </a:t>
            </a:r>
            <a:r>
              <a:rPr lang="en-US" altLang="zh-CN" sz="2000" i="1" dirty="0">
                <a:solidFill>
                  <a:srgbClr val="FF0000"/>
                </a:solidFill>
                <a:latin typeface="Times New Roman" panose="02020603050405020304" pitchFamily="18" charset="0"/>
                <a:cs typeface="Times New Roman" panose="02020603050405020304" pitchFamily="18" charset="0"/>
              </a:rPr>
              <a:t>large</a:t>
            </a:r>
            <a:r>
              <a:rPr lang="en-US" altLang="zh-CN" sz="2000" i="1" dirty="0">
                <a:latin typeface="Times New Roman" panose="02020603050405020304" pitchFamily="18" charset="0"/>
                <a:cs typeface="Times New Roman" panose="02020603050405020304" pitchFamily="18" charset="0"/>
              </a:rPr>
              <a:t>, the social welfare under mixed game is greater than the one under fully </a:t>
            </a:r>
            <a:r>
              <a:rPr lang="en-US" altLang="zh-CN" sz="2000" i="1" dirty="0" err="1">
                <a:latin typeface="Times New Roman" panose="02020603050405020304" pitchFamily="18" charset="0"/>
                <a:cs typeface="Times New Roman" panose="02020603050405020304" pitchFamily="18" charset="0"/>
              </a:rPr>
              <a:t>noncooperative</a:t>
            </a:r>
            <a:r>
              <a:rPr lang="en-US" altLang="zh-CN" sz="2000" i="1" dirty="0">
                <a:latin typeface="Times New Roman" panose="02020603050405020304" pitchFamily="18" charset="0"/>
                <a:cs typeface="Times New Roman" panose="02020603050405020304" pitchFamily="18" charset="0"/>
              </a:rPr>
              <a:t> game. </a:t>
            </a:r>
            <a:endParaRPr lang="en-US" altLang="zh-CN" sz="2000" i="1" dirty="0" smtClean="0">
              <a:latin typeface="Times New Roman" panose="02020603050405020304" pitchFamily="18" charset="0"/>
              <a:cs typeface="Times New Roman" panose="02020603050405020304" pitchFamily="18" charset="0"/>
            </a:endParaRPr>
          </a:p>
          <a:p>
            <a:pPr algn="just"/>
            <a:endParaRPr lang="en-US" altLang="zh-CN" sz="2000" i="1" dirty="0" smtClean="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altLang="zh-CN" sz="2000" i="1" dirty="0" smtClean="0">
                <a:latin typeface="Times New Roman" panose="02020603050405020304" pitchFamily="18" charset="0"/>
                <a:cs typeface="Times New Roman" panose="02020603050405020304" pitchFamily="18" charset="0"/>
              </a:rPr>
              <a:t>when </a:t>
            </a:r>
            <a:r>
              <a:rPr lang="en-US" altLang="zh-CN" sz="2000" i="1" dirty="0">
                <a:latin typeface="Times New Roman" panose="02020603050405020304" pitchFamily="18" charset="0"/>
                <a:cs typeface="Times New Roman" panose="02020603050405020304" pitchFamily="18" charset="0"/>
              </a:rPr>
              <a:t>both the level of </a:t>
            </a:r>
            <a:r>
              <a:rPr lang="en-US" altLang="zh-CN" sz="2000" i="1" dirty="0">
                <a:solidFill>
                  <a:srgbClr val="FF0000"/>
                </a:solidFill>
                <a:latin typeface="Times New Roman" panose="02020603050405020304" pitchFamily="18" charset="0"/>
                <a:cs typeface="Times New Roman" panose="02020603050405020304" pitchFamily="18" charset="0"/>
              </a:rPr>
              <a:t>technology spillovers is large </a:t>
            </a:r>
            <a:r>
              <a:rPr lang="en-US" altLang="zh-CN" sz="2000" i="1" dirty="0">
                <a:latin typeface="Times New Roman" panose="02020603050405020304" pitchFamily="18" charset="0"/>
                <a:cs typeface="Times New Roman" panose="02020603050405020304" pitchFamily="18" charset="0"/>
              </a:rPr>
              <a:t>and </a:t>
            </a:r>
            <a:r>
              <a:rPr lang="en-US" altLang="zh-CN" sz="2000" i="1" dirty="0">
                <a:solidFill>
                  <a:srgbClr val="FF0000"/>
                </a:solidFill>
                <a:latin typeface="Times New Roman" panose="02020603050405020304" pitchFamily="18" charset="0"/>
                <a:cs typeface="Times New Roman" panose="02020603050405020304" pitchFamily="18" charset="0"/>
              </a:rPr>
              <a:t>the initial marginal production costs</a:t>
            </a:r>
            <a:r>
              <a:rPr lang="en-US" altLang="zh-CN" sz="2000" i="1" dirty="0">
                <a:latin typeface="Times New Roman" panose="02020603050405020304" pitchFamily="18" charset="0"/>
                <a:cs typeface="Times New Roman" panose="02020603050405020304" pitchFamily="18" charset="0"/>
              </a:rPr>
              <a:t> of the downstream firms </a:t>
            </a:r>
            <a:r>
              <a:rPr lang="en-US" altLang="zh-CN" sz="2000" i="1" dirty="0">
                <a:solidFill>
                  <a:srgbClr val="FF0000"/>
                </a:solidFill>
                <a:latin typeface="Times New Roman" panose="02020603050405020304" pitchFamily="18" charset="0"/>
                <a:cs typeface="Times New Roman" panose="02020603050405020304" pitchFamily="18" charset="0"/>
              </a:rPr>
              <a:t>are small</a:t>
            </a:r>
            <a:r>
              <a:rPr lang="en-US" altLang="zh-CN" sz="2000" i="1" dirty="0">
                <a:latin typeface="Times New Roman" panose="02020603050405020304" pitchFamily="18" charset="0"/>
                <a:cs typeface="Times New Roman" panose="02020603050405020304" pitchFamily="18" charset="0"/>
              </a:rPr>
              <a:t>, the social welfare under mixed game is equal to the one under fully </a:t>
            </a:r>
            <a:r>
              <a:rPr lang="en-US" altLang="zh-CN" sz="2000" i="1" dirty="0" err="1">
                <a:latin typeface="Times New Roman" panose="02020603050405020304" pitchFamily="18" charset="0"/>
                <a:cs typeface="Times New Roman" panose="02020603050405020304" pitchFamily="18" charset="0"/>
              </a:rPr>
              <a:t>noncooperative</a:t>
            </a:r>
            <a:r>
              <a:rPr lang="en-US" altLang="zh-CN" sz="2000" i="1" dirty="0">
                <a:latin typeface="Times New Roman" panose="02020603050405020304" pitchFamily="18" charset="0"/>
                <a:cs typeface="Times New Roman" panose="02020603050405020304" pitchFamily="18" charset="0"/>
              </a:rPr>
              <a:t> game. </a:t>
            </a:r>
          </a:p>
        </p:txBody>
      </p:sp>
    </p:spTree>
    <p:extLst>
      <p:ext uri="{BB962C8B-B14F-4D97-AF65-F5344CB8AC3E}">
        <p14:creationId xmlns:p14="http://schemas.microsoft.com/office/powerpoint/2010/main" val="146341664"/>
      </p:ext>
    </p:extLst>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Times New Roman" pitchFamily="18" charset="0"/>
                <a:cs typeface="Times New Roman" pitchFamily="18" charset="0"/>
              </a:rPr>
              <a:t>Literature Review</a:t>
            </a:r>
            <a:endParaRPr kumimoji="1" lang="zh-CN" altLang="en-US" dirty="0"/>
          </a:p>
        </p:txBody>
      </p:sp>
      <p:sp>
        <p:nvSpPr>
          <p:cNvPr id="4" name="日期占位符 3"/>
          <p:cNvSpPr>
            <a:spLocks noGrp="1"/>
          </p:cNvSpPr>
          <p:nvPr>
            <p:ph type="dt" sz="half" idx="10"/>
          </p:nvPr>
        </p:nvSpPr>
        <p:spPr>
          <a:xfrm>
            <a:off x="7740352" y="6541819"/>
            <a:ext cx="1293813" cy="288925"/>
          </a:xfrm>
        </p:spPr>
        <p:txBody>
          <a:bodyPr/>
          <a:lstStyle/>
          <a:p>
            <a:pPr>
              <a:defRPr/>
            </a:pPr>
            <a:fld id="{C3AC2E53-BA0E-4CB7-81EB-46261BB651A1}" type="datetime4">
              <a:rPr lang="en-US" altLang="zh-CN" smtClean="0">
                <a:solidFill>
                  <a:srgbClr val="292929"/>
                </a:solidFill>
              </a:rPr>
              <a:t>April 25, 2019</a:t>
            </a:fld>
            <a:endParaRPr lang="en-US" altLang="zh-CN" dirty="0">
              <a:solidFill>
                <a:srgbClr val="292929"/>
              </a:solidFill>
            </a:endParaRPr>
          </a:p>
        </p:txBody>
      </p:sp>
      <p:sp>
        <p:nvSpPr>
          <p:cNvPr id="5" name="页脚占位符 4"/>
          <p:cNvSpPr>
            <a:spLocks noGrp="1"/>
          </p:cNvSpPr>
          <p:nvPr>
            <p:ph type="ftr" sz="quarter" idx="11"/>
          </p:nvPr>
        </p:nvSpPr>
        <p:spPr>
          <a:xfrm>
            <a:off x="179512" y="6505859"/>
            <a:ext cx="5257800" cy="288925"/>
          </a:xfrm>
        </p:spPr>
        <p:txBody>
          <a:bodyPr/>
          <a:lstStyle/>
          <a:p>
            <a:pPr>
              <a:defRPr/>
            </a:pPr>
            <a:r>
              <a:rPr lang="en-US" altLang="zh-CN" smtClean="0"/>
              <a:t>Xiaolin Xu</a:t>
            </a:r>
            <a:r>
              <a:rPr lang="zh-CN" altLang="en-US" smtClean="0"/>
              <a:t>（ </a:t>
            </a:r>
            <a:r>
              <a:rPr lang="en-US" altLang="zh-CN" smtClean="0"/>
              <a:t>Nanjing University </a:t>
            </a:r>
            <a:r>
              <a:rPr lang="zh-CN" altLang="en-US" smtClean="0"/>
              <a:t>）</a:t>
            </a:r>
            <a:endParaRPr lang="en-US" altLang="zh-CN"/>
          </a:p>
        </p:txBody>
      </p:sp>
      <p:sp>
        <p:nvSpPr>
          <p:cNvPr id="6" name="幻灯片编号占位符 5"/>
          <p:cNvSpPr>
            <a:spLocks noGrp="1"/>
          </p:cNvSpPr>
          <p:nvPr>
            <p:ph type="sldNum" sz="quarter" idx="12"/>
          </p:nvPr>
        </p:nvSpPr>
        <p:spPr>
          <a:xfrm>
            <a:off x="3923928" y="6558801"/>
            <a:ext cx="933450" cy="288925"/>
          </a:xfrm>
        </p:spPr>
        <p:txBody>
          <a:bodyPr/>
          <a:lstStyle/>
          <a:p>
            <a:fld id="{71E37E66-47ED-4E23-B805-CF9315C51031}" type="slidenum">
              <a:rPr lang="en-US" altLang="zh-CN" smtClean="0">
                <a:solidFill>
                  <a:srgbClr val="292929"/>
                </a:solidFill>
              </a:rPr>
              <a:pPr/>
              <a:t>8</a:t>
            </a:fld>
            <a:endParaRPr lang="en-US" altLang="zh-CN" dirty="0">
              <a:solidFill>
                <a:srgbClr val="292929"/>
              </a:solidFill>
            </a:endParaRPr>
          </a:p>
        </p:txBody>
      </p:sp>
      <p:sp>
        <p:nvSpPr>
          <p:cNvPr id="7" name="矩形 6"/>
          <p:cNvSpPr/>
          <p:nvPr/>
        </p:nvSpPr>
        <p:spPr>
          <a:xfrm>
            <a:off x="373901" y="1484784"/>
            <a:ext cx="8208912" cy="4401205"/>
          </a:xfrm>
          <a:prstGeom prst="rect">
            <a:avLst/>
          </a:prstGeom>
        </p:spPr>
        <p:txBody>
          <a:bodyPr wrap="square">
            <a:spAutoFit/>
          </a:bodyPr>
          <a:lstStyle/>
          <a:p>
            <a:pPr indent="457200" algn="just"/>
            <a:r>
              <a:rPr lang="en-US" altLang="zh-CN" sz="2000" dirty="0" smtClean="0">
                <a:latin typeface="Times New Roman" panose="02020603050405020304" pitchFamily="18" charset="0"/>
                <a:cs typeface="Times New Roman" panose="02020603050405020304" pitchFamily="18" charset="0"/>
              </a:rPr>
              <a:t>Different </a:t>
            </a:r>
            <a:r>
              <a:rPr lang="en-US" altLang="zh-CN" sz="2000" dirty="0">
                <a:latin typeface="Times New Roman" panose="02020603050405020304" pitchFamily="18" charset="0"/>
                <a:cs typeface="Times New Roman" panose="02020603050405020304" pitchFamily="18" charset="0"/>
              </a:rPr>
              <a:t>from the assumption that the initial marginal production costs of duopoly firms in AJ model are equal, our work also makes a partial discussion for the case of the equal initial marginal production costs of the two downstream firms in the supply chain environment. </a:t>
            </a:r>
            <a:endParaRPr lang="en-US" altLang="zh-CN" sz="2000" dirty="0" smtClean="0">
              <a:latin typeface="Times New Roman" panose="02020603050405020304" pitchFamily="18" charset="0"/>
              <a:cs typeface="Times New Roman" panose="02020603050405020304" pitchFamily="18" charset="0"/>
            </a:endParaRPr>
          </a:p>
          <a:p>
            <a:pPr indent="457200" algn="just"/>
            <a:r>
              <a:rPr lang="en-US" altLang="zh-CN" sz="2000" dirty="0" smtClean="0">
                <a:latin typeface="Times New Roman" panose="02020603050405020304" pitchFamily="18" charset="0"/>
                <a:cs typeface="Times New Roman" panose="02020603050405020304" pitchFamily="18" charset="0"/>
              </a:rPr>
              <a:t>We </a:t>
            </a:r>
            <a:r>
              <a:rPr lang="en-US" altLang="zh-CN" sz="2000" dirty="0">
                <a:latin typeface="Times New Roman" panose="02020603050405020304" pitchFamily="18" charset="0"/>
                <a:cs typeface="Times New Roman" panose="02020603050405020304" pitchFamily="18" charset="0"/>
              </a:rPr>
              <a:t>focus on whether one downstream firm will carry out R&amp;D and the other downstream firm won’t carry out R&amp;D. </a:t>
            </a:r>
            <a:r>
              <a:rPr lang="en-US" altLang="zh-CN" sz="2000" dirty="0">
                <a:solidFill>
                  <a:srgbClr val="FF0000"/>
                </a:solidFill>
                <a:latin typeface="Times New Roman" panose="02020603050405020304" pitchFamily="18" charset="0"/>
                <a:cs typeface="Times New Roman" panose="02020603050405020304" pitchFamily="18" charset="0"/>
              </a:rPr>
              <a:t>We show </a:t>
            </a:r>
            <a:r>
              <a:rPr lang="en-US" altLang="zh-CN" sz="2000" dirty="0" smtClean="0">
                <a:solidFill>
                  <a:srgbClr val="FF0000"/>
                </a:solidFill>
                <a:latin typeface="Times New Roman" panose="02020603050405020304" pitchFamily="18" charset="0"/>
                <a:cs typeface="Times New Roman" panose="02020603050405020304" pitchFamily="18" charset="0"/>
              </a:rPr>
              <a:t>that:</a:t>
            </a:r>
          </a:p>
          <a:p>
            <a:pPr indent="457200" algn="just"/>
            <a:endParaRPr lang="en-US" altLang="zh-CN" sz="2000" dirty="0">
              <a:solidFill>
                <a:srgbClr val="FF0000"/>
              </a:solidFill>
              <a:latin typeface="Times New Roman" panose="02020603050405020304" pitchFamily="18" charset="0"/>
              <a:cs typeface="Times New Roman" panose="02020603050405020304" pitchFamily="18" charset="0"/>
            </a:endParaRPr>
          </a:p>
          <a:p>
            <a:pPr indent="457200" algn="just"/>
            <a:r>
              <a:rPr lang="en-US" altLang="zh-CN" sz="2000" i="1" dirty="0" smtClean="0">
                <a:solidFill>
                  <a:srgbClr val="FF0000"/>
                </a:solidFill>
                <a:latin typeface="Times New Roman" panose="02020603050405020304" pitchFamily="18" charset="0"/>
                <a:cs typeface="Times New Roman" panose="02020603050405020304" pitchFamily="18" charset="0"/>
              </a:rPr>
              <a:t>when </a:t>
            </a:r>
            <a:r>
              <a:rPr lang="en-US" altLang="zh-CN" sz="2000" i="1" dirty="0">
                <a:solidFill>
                  <a:srgbClr val="FF0000"/>
                </a:solidFill>
                <a:latin typeface="Times New Roman" panose="02020603050405020304" pitchFamily="18" charset="0"/>
                <a:cs typeface="Times New Roman" panose="02020603050405020304" pitchFamily="18" charset="0"/>
              </a:rPr>
              <a:t>the initial marginal production costs of the two downstream firms are not equal, it is possible that one downstream firm will carry out R&amp;D activity and the other downstream firm won’t carry out R&amp;D activity</a:t>
            </a:r>
            <a:r>
              <a:rPr lang="en-US" altLang="zh-CN" sz="2000" i="1" dirty="0">
                <a:latin typeface="Times New Roman" panose="02020603050405020304" pitchFamily="18" charset="0"/>
                <a:cs typeface="Times New Roman" panose="02020603050405020304" pitchFamily="18" charset="0"/>
              </a:rPr>
              <a:t>. </a:t>
            </a:r>
            <a:endParaRPr lang="en-US" altLang="zh-CN" sz="2000" i="1" dirty="0" smtClean="0">
              <a:latin typeface="Times New Roman" panose="02020603050405020304" pitchFamily="18" charset="0"/>
              <a:cs typeface="Times New Roman" panose="02020603050405020304" pitchFamily="18" charset="0"/>
            </a:endParaRPr>
          </a:p>
          <a:p>
            <a:pPr indent="457200" algn="just"/>
            <a:endParaRPr lang="en-US" altLang="zh-CN" sz="2000" dirty="0">
              <a:latin typeface="Times New Roman" panose="02020603050405020304" pitchFamily="18" charset="0"/>
              <a:cs typeface="Times New Roman" panose="02020603050405020304" pitchFamily="18" charset="0"/>
            </a:endParaRPr>
          </a:p>
          <a:p>
            <a:pPr indent="457200" algn="just"/>
            <a:r>
              <a:rPr lang="en-US" altLang="zh-CN" sz="2000" dirty="0" smtClean="0">
                <a:latin typeface="Times New Roman" panose="02020603050405020304" pitchFamily="18" charset="0"/>
                <a:cs typeface="Times New Roman" panose="02020603050405020304" pitchFamily="18" charset="0"/>
              </a:rPr>
              <a:t>This </a:t>
            </a:r>
            <a:r>
              <a:rPr lang="en-US" altLang="zh-CN" sz="2000" dirty="0">
                <a:latin typeface="Times New Roman" panose="02020603050405020304" pitchFamily="18" charset="0"/>
                <a:cs typeface="Times New Roman" panose="02020603050405020304" pitchFamily="18" charset="0"/>
              </a:rPr>
              <a:t>occurs in neither AJ model nor the case of the equal initial marginal production costs of the two downstream firms in the supply chain environment studied in this paper. </a:t>
            </a:r>
          </a:p>
        </p:txBody>
      </p:sp>
    </p:spTree>
    <p:extLst>
      <p:ext uri="{BB962C8B-B14F-4D97-AF65-F5344CB8AC3E}">
        <p14:creationId xmlns:p14="http://schemas.microsoft.com/office/powerpoint/2010/main" val="1899008891"/>
      </p:ext>
    </p:extLst>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p:cNvSpPr/>
          <p:nvPr/>
        </p:nvSpPr>
        <p:spPr bwMode="auto">
          <a:xfrm>
            <a:off x="3779912" y="1576493"/>
            <a:ext cx="1962799" cy="1089389"/>
          </a:xfrm>
          <a:prstGeom prst="rect">
            <a:avLst/>
          </a:prstGeom>
          <a:solidFill>
            <a:schemeClr val="bg1"/>
          </a:solidFill>
          <a:ln w="952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Times New Roman" pitchFamily="18" charset="0"/>
              <a:ea typeface="宋体" pitchFamily="2" charset="-122"/>
            </a:endParaRPr>
          </a:p>
        </p:txBody>
      </p:sp>
      <p:sp>
        <p:nvSpPr>
          <p:cNvPr id="2" name="标题 1"/>
          <p:cNvSpPr>
            <a:spLocks noGrp="1"/>
          </p:cNvSpPr>
          <p:nvPr>
            <p:ph type="title"/>
          </p:nvPr>
        </p:nvSpPr>
        <p:spPr>
          <a:xfrm>
            <a:off x="83125" y="260021"/>
            <a:ext cx="8135937" cy="647700"/>
          </a:xfrm>
        </p:spPr>
        <p:txBody>
          <a:bodyPr/>
          <a:lstStyle/>
          <a:p>
            <a:r>
              <a:rPr lang="en-US" altLang="zh-CN" dirty="0">
                <a:latin typeface="Times New Roman" pitchFamily="18" charset="0"/>
                <a:cs typeface="Times New Roman" pitchFamily="18" charset="0"/>
              </a:rPr>
              <a:t>Model Description</a:t>
            </a:r>
            <a:br>
              <a:rPr lang="en-US" altLang="zh-CN" dirty="0">
                <a:latin typeface="Times New Roman" pitchFamily="18" charset="0"/>
                <a:cs typeface="Times New Roman" pitchFamily="18" charset="0"/>
              </a:rPr>
            </a:br>
            <a:endParaRPr lang="zh-CN" altLang="en-US" dirty="0"/>
          </a:p>
        </p:txBody>
      </p:sp>
      <p:sp>
        <p:nvSpPr>
          <p:cNvPr id="4" name="日期占位符 3"/>
          <p:cNvSpPr>
            <a:spLocks noGrp="1"/>
          </p:cNvSpPr>
          <p:nvPr>
            <p:ph type="dt" sz="half" idx="10"/>
          </p:nvPr>
        </p:nvSpPr>
        <p:spPr>
          <a:xfrm>
            <a:off x="7574258" y="6541701"/>
            <a:ext cx="1435557" cy="297171"/>
          </a:xfrm>
        </p:spPr>
        <p:txBody>
          <a:bodyPr/>
          <a:lstStyle/>
          <a:p>
            <a:pPr>
              <a:defRPr/>
            </a:pPr>
            <a:fld id="{FF1E390D-EDD4-46CE-9CF9-4EED533D79E2}" type="datetime4">
              <a:rPr lang="en-US" altLang="zh-CN" smtClean="0">
                <a:solidFill>
                  <a:srgbClr val="292929"/>
                </a:solidFill>
              </a:rPr>
              <a:t>April 25, 2019</a:t>
            </a:fld>
            <a:endParaRPr lang="en-US" altLang="zh-CN" dirty="0">
              <a:solidFill>
                <a:srgbClr val="292929"/>
              </a:solidFill>
            </a:endParaRPr>
          </a:p>
        </p:txBody>
      </p:sp>
      <p:sp>
        <p:nvSpPr>
          <p:cNvPr id="6" name="灯片编号占位符 5"/>
          <p:cNvSpPr>
            <a:spLocks noGrp="1"/>
          </p:cNvSpPr>
          <p:nvPr>
            <p:ph type="sldNum" sz="quarter" idx="12"/>
          </p:nvPr>
        </p:nvSpPr>
        <p:spPr>
          <a:xfrm>
            <a:off x="3875140" y="6545823"/>
            <a:ext cx="933450" cy="288925"/>
          </a:xfrm>
        </p:spPr>
        <p:txBody>
          <a:bodyPr/>
          <a:lstStyle/>
          <a:p>
            <a:fld id="{71E37E66-47ED-4E23-B805-CF9315C51031}" type="slidenum">
              <a:rPr lang="en-US" altLang="zh-CN" smtClean="0">
                <a:solidFill>
                  <a:srgbClr val="292929"/>
                </a:solidFill>
              </a:rPr>
              <a:pPr/>
              <a:t>9</a:t>
            </a:fld>
            <a:endParaRPr lang="en-US" altLang="zh-CN" dirty="0">
              <a:solidFill>
                <a:srgbClr val="292929"/>
              </a:solidFill>
            </a:endParaRPr>
          </a:p>
        </p:txBody>
      </p:sp>
      <p:sp>
        <p:nvSpPr>
          <p:cNvPr id="7" name="TextBox 6"/>
          <p:cNvSpPr txBox="1"/>
          <p:nvPr/>
        </p:nvSpPr>
        <p:spPr>
          <a:xfrm>
            <a:off x="212455" y="4242135"/>
            <a:ext cx="8496944" cy="400110"/>
          </a:xfrm>
          <a:prstGeom prst="rect">
            <a:avLst/>
          </a:prstGeom>
          <a:noFill/>
        </p:spPr>
        <p:txBody>
          <a:bodyPr wrap="square" rtlCol="0">
            <a:spAutoFit/>
          </a:bodyPr>
          <a:lstStyle/>
          <a:p>
            <a:pPr marL="342900" indent="-342900">
              <a:buFont typeface="Wingdings" pitchFamily="2" charset="2"/>
              <a:buChar char="Ø"/>
            </a:pPr>
            <a:r>
              <a:rPr lang="en-US" altLang="zh-CN" sz="2000" dirty="0" smtClean="0">
                <a:latin typeface="Times New Roman" panose="02020603050405020304" pitchFamily="18" charset="0"/>
                <a:cs typeface="Times New Roman" panose="02020603050405020304" pitchFamily="18" charset="0"/>
              </a:rPr>
              <a:t>Inverse </a:t>
            </a:r>
            <a:r>
              <a:rPr lang="en-US" altLang="zh-CN" sz="2000" dirty="0">
                <a:latin typeface="Times New Roman" panose="02020603050405020304" pitchFamily="18" charset="0"/>
                <a:cs typeface="Times New Roman" panose="02020603050405020304" pitchFamily="18" charset="0"/>
              </a:rPr>
              <a:t>demand </a:t>
            </a:r>
            <a:r>
              <a:rPr lang="en-US" altLang="zh-CN" sz="2000" dirty="0" smtClean="0">
                <a:latin typeface="Times New Roman" panose="02020603050405020304" pitchFamily="18" charset="0"/>
                <a:cs typeface="Times New Roman" panose="02020603050405020304" pitchFamily="18" charset="0"/>
              </a:rPr>
              <a:t>function</a:t>
            </a:r>
            <a:endParaRPr lang="en-US" altLang="zh-CN" sz="2000" dirty="0">
              <a:latin typeface="Times New Roman" panose="02020603050405020304" pitchFamily="18" charset="0"/>
              <a:cs typeface="Times New Roman" panose="02020603050405020304" pitchFamily="18" charset="0"/>
            </a:endParaRPr>
          </a:p>
        </p:txBody>
      </p:sp>
      <p:sp>
        <p:nvSpPr>
          <p:cNvPr id="13" name="TextBox 12"/>
          <p:cNvSpPr txBox="1"/>
          <p:nvPr/>
        </p:nvSpPr>
        <p:spPr>
          <a:xfrm>
            <a:off x="232897" y="4897351"/>
            <a:ext cx="7650850" cy="400110"/>
          </a:xfrm>
          <a:prstGeom prst="rect">
            <a:avLst/>
          </a:prstGeom>
          <a:noFill/>
        </p:spPr>
        <p:txBody>
          <a:bodyPr wrap="square" rtlCol="0">
            <a:spAutoFit/>
          </a:bodyPr>
          <a:lstStyle/>
          <a:p>
            <a:pPr marL="342900" indent="-342900">
              <a:buFont typeface="Wingdings" pitchFamily="2" charset="2"/>
              <a:buChar char="Ø"/>
            </a:pPr>
            <a:r>
              <a:rPr lang="en-US" altLang="zh-CN" sz="2000" dirty="0">
                <a:latin typeface="Times New Roman" panose="02020603050405020304" pitchFamily="18" charset="0"/>
                <a:cs typeface="Times New Roman" panose="02020603050405020304" pitchFamily="18" charset="0"/>
              </a:rPr>
              <a:t>M</a:t>
            </a:r>
            <a:r>
              <a:rPr lang="en-US" altLang="zh-CN" sz="2000" dirty="0" smtClean="0">
                <a:latin typeface="Times New Roman" panose="02020603050405020304" pitchFamily="18" charset="0"/>
                <a:cs typeface="Times New Roman" panose="02020603050405020304" pitchFamily="18" charset="0"/>
              </a:rPr>
              <a:t>arginal </a:t>
            </a:r>
            <a:r>
              <a:rPr lang="en-US" altLang="zh-CN" sz="2000" dirty="0">
                <a:latin typeface="Times New Roman" panose="02020603050405020304" pitchFamily="18" charset="0"/>
                <a:cs typeface="Times New Roman" panose="02020603050405020304" pitchFamily="18" charset="0"/>
              </a:rPr>
              <a:t>production cost of manufacturer </a:t>
            </a:r>
            <a:r>
              <a:rPr lang="en-US" altLang="zh-CN" sz="2000" dirty="0" err="1">
                <a:latin typeface="Times New Roman" panose="02020603050405020304" pitchFamily="18" charset="0"/>
                <a:cs typeface="Times New Roman" panose="02020603050405020304" pitchFamily="18" charset="0"/>
              </a:rPr>
              <a:t>i</a:t>
            </a:r>
            <a:r>
              <a:rPr lang="en-US" altLang="zh-CN" sz="2000" dirty="0">
                <a:latin typeface="Times New Roman" panose="02020603050405020304" pitchFamily="18" charset="0"/>
                <a:cs typeface="Times New Roman" panose="02020603050405020304" pitchFamily="18" charset="0"/>
              </a:rPr>
              <a:t> after R&amp;D investments </a:t>
            </a:r>
            <a:r>
              <a:rPr lang="en-US" altLang="zh-CN" sz="2000" dirty="0" smtClean="0">
                <a:latin typeface="Times New Roman" panose="02020603050405020304" pitchFamily="18" charset="0"/>
                <a:cs typeface="Times New Roman" panose="02020603050405020304" pitchFamily="18" charset="0"/>
              </a:rPr>
              <a:t>is</a:t>
            </a:r>
            <a:endParaRPr lang="en-US" altLang="zh-CN" sz="2000" dirty="0" smtClean="0">
              <a:latin typeface="Times New Roman" panose="02020603050405020304" pitchFamily="18" charset="0"/>
              <a:cs typeface="Times New Roman" panose="02020603050405020304" pitchFamily="18" charset="0"/>
            </a:endParaRPr>
          </a:p>
        </p:txBody>
      </p:sp>
      <p:sp>
        <p:nvSpPr>
          <p:cNvPr id="14" name="TextBox 13"/>
          <p:cNvSpPr txBox="1"/>
          <p:nvPr/>
        </p:nvSpPr>
        <p:spPr>
          <a:xfrm>
            <a:off x="242246" y="5658753"/>
            <a:ext cx="8462744" cy="400110"/>
          </a:xfrm>
          <a:prstGeom prst="rect">
            <a:avLst/>
          </a:prstGeom>
          <a:noFill/>
        </p:spPr>
        <p:txBody>
          <a:bodyPr wrap="square" rtlCol="0">
            <a:spAutoFit/>
          </a:bodyPr>
          <a:lstStyle/>
          <a:p>
            <a:pPr marL="342900" indent="-342900">
              <a:buFont typeface="Wingdings" pitchFamily="2" charset="2"/>
              <a:buChar char="Ø"/>
            </a:pPr>
            <a:r>
              <a:rPr lang="en-US" altLang="zh-CN" sz="2000" dirty="0" smtClean="0">
                <a:latin typeface="Times New Roman" panose="02020603050405020304" pitchFamily="18" charset="0"/>
                <a:cs typeface="Times New Roman" panose="02020603050405020304" pitchFamily="18" charset="0"/>
              </a:rPr>
              <a:t>R</a:t>
            </a:r>
            <a:r>
              <a:rPr lang="en-US" altLang="zh-CN" sz="2000" dirty="0">
                <a:latin typeface="Times New Roman" panose="02020603050405020304" pitchFamily="18" charset="0"/>
                <a:cs typeface="Times New Roman" panose="02020603050405020304" pitchFamily="18" charset="0"/>
              </a:rPr>
              <a:t>&amp;D investment cost incurred by manufacturer </a:t>
            </a:r>
            <a:r>
              <a:rPr lang="en-US" altLang="zh-CN" sz="2000" dirty="0" err="1" smtClean="0">
                <a:latin typeface="Times New Roman" panose="02020603050405020304" pitchFamily="18" charset="0"/>
                <a:cs typeface="Times New Roman" panose="02020603050405020304" pitchFamily="18" charset="0"/>
              </a:rPr>
              <a:t>i</a:t>
            </a:r>
            <a:endParaRPr lang="en-US" altLang="zh-CN" sz="2000" dirty="0">
              <a:latin typeface="Times New Roman" panose="02020603050405020304" pitchFamily="18" charset="0"/>
              <a:cs typeface="Times New Roman" panose="02020603050405020304" pitchFamily="18" charset="0"/>
            </a:endParaRPr>
          </a:p>
        </p:txBody>
      </p:sp>
      <p:sp>
        <p:nvSpPr>
          <p:cNvPr id="16" name="TextBox 15"/>
          <p:cNvSpPr txBox="1"/>
          <p:nvPr/>
        </p:nvSpPr>
        <p:spPr>
          <a:xfrm>
            <a:off x="181316" y="2654993"/>
            <a:ext cx="8639156" cy="707886"/>
          </a:xfrm>
          <a:prstGeom prst="rect">
            <a:avLst/>
          </a:prstGeom>
          <a:noFill/>
        </p:spPr>
        <p:txBody>
          <a:bodyPr wrap="square" rtlCol="0">
            <a:spAutoFit/>
          </a:bodyPr>
          <a:lstStyle/>
          <a:p>
            <a:pPr marL="342900" indent="-342900" algn="just">
              <a:buFont typeface="Wingdings" pitchFamily="2" charset="2"/>
              <a:buChar char="Ø"/>
            </a:pPr>
            <a:r>
              <a:rPr lang="en-US" altLang="zh-CN" sz="2000" dirty="0" smtClean="0">
                <a:latin typeface="Times New Roman" panose="02020603050405020304" pitchFamily="18" charset="0"/>
                <a:cs typeface="Times New Roman" panose="02020603050405020304" pitchFamily="18" charset="0"/>
              </a:rPr>
              <a:t>One </a:t>
            </a:r>
            <a:r>
              <a:rPr lang="en-US" altLang="zh-CN" sz="2000" dirty="0">
                <a:latin typeface="Times New Roman" panose="02020603050405020304" pitchFamily="18" charset="0"/>
                <a:cs typeface="Times New Roman" panose="02020603050405020304" pitchFamily="18" charset="0"/>
              </a:rPr>
              <a:t>component supplier and two symmetric manufacturers under a </a:t>
            </a:r>
            <a:r>
              <a:rPr lang="en-US" altLang="zh-CN" sz="2000" dirty="0" err="1">
                <a:latin typeface="Times New Roman" panose="02020603050405020304" pitchFamily="18" charset="0"/>
                <a:cs typeface="Times New Roman" panose="02020603050405020304" pitchFamily="18" charset="0"/>
              </a:rPr>
              <a:t>Stackelberg</a:t>
            </a:r>
            <a:r>
              <a:rPr lang="en-US" altLang="zh-CN" sz="2000" dirty="0">
                <a:latin typeface="Times New Roman" panose="02020603050405020304" pitchFamily="18" charset="0"/>
                <a:cs typeface="Times New Roman" panose="02020603050405020304" pitchFamily="18" charset="0"/>
              </a:rPr>
              <a:t> setting with the </a:t>
            </a:r>
            <a:r>
              <a:rPr lang="en-US" altLang="zh-CN" sz="2000" dirty="0">
                <a:solidFill>
                  <a:srgbClr val="FF0000"/>
                </a:solidFill>
                <a:latin typeface="Times New Roman" panose="02020603050405020304" pitchFamily="18" charset="0"/>
                <a:cs typeface="Times New Roman" panose="02020603050405020304" pitchFamily="18" charset="0"/>
              </a:rPr>
              <a:t>downstream manufacturers being the leaders</a:t>
            </a:r>
            <a:r>
              <a:rPr lang="en-US" altLang="zh-CN" sz="2000" dirty="0">
                <a:latin typeface="Times New Roman" panose="02020603050405020304" pitchFamily="18" charset="0"/>
                <a:cs typeface="Times New Roman" panose="02020603050405020304" pitchFamily="18" charset="0"/>
              </a:rPr>
              <a:t>. </a:t>
            </a:r>
          </a:p>
        </p:txBody>
      </p:sp>
      <p:sp>
        <p:nvSpPr>
          <p:cNvPr id="30" name="页脚占位符 4"/>
          <p:cNvSpPr>
            <a:spLocks noGrp="1"/>
          </p:cNvSpPr>
          <p:nvPr>
            <p:ph type="ftr" sz="quarter" idx="11"/>
          </p:nvPr>
        </p:nvSpPr>
        <p:spPr>
          <a:xfrm>
            <a:off x="0" y="6569075"/>
            <a:ext cx="3059832" cy="288925"/>
          </a:xfrm>
        </p:spPr>
        <p:txBody>
          <a:bodyPr/>
          <a:lstStyle/>
          <a:p>
            <a:pPr>
              <a:defRPr/>
            </a:pPr>
            <a:r>
              <a:rPr lang="en-US" altLang="zh-CN" smtClean="0"/>
              <a:t>Xiaolin Xu</a:t>
            </a:r>
            <a:r>
              <a:rPr lang="zh-CN" altLang="en-US" smtClean="0"/>
              <a:t>（ </a:t>
            </a:r>
            <a:r>
              <a:rPr lang="en-US" altLang="zh-CN" smtClean="0"/>
              <a:t>Nanjing University </a:t>
            </a:r>
            <a:r>
              <a:rPr lang="zh-CN" altLang="en-US" smtClean="0"/>
              <a:t>）</a:t>
            </a:r>
            <a:endParaRPr lang="en-US" altLang="zh-CN" dirty="0"/>
          </a:p>
        </p:txBody>
      </p:sp>
      <p:sp>
        <p:nvSpPr>
          <p:cNvPr id="29" name="矩形 28"/>
          <p:cNvSpPr/>
          <p:nvPr/>
        </p:nvSpPr>
        <p:spPr>
          <a:xfrm>
            <a:off x="101095" y="1079675"/>
            <a:ext cx="8208912" cy="461665"/>
          </a:xfrm>
          <a:prstGeom prst="rect">
            <a:avLst/>
          </a:prstGeom>
        </p:spPr>
        <p:txBody>
          <a:bodyPr wrap="square">
            <a:spAutoFit/>
          </a:bodyPr>
          <a:lstStyle/>
          <a:p>
            <a:r>
              <a:rPr lang="en-US" altLang="zh-CN" sz="2400" dirty="0">
                <a:solidFill>
                  <a:srgbClr val="FF0000"/>
                </a:solidFill>
                <a:latin typeface="Times New Roman" panose="02020603050405020304" pitchFamily="18" charset="0"/>
                <a:cs typeface="Times New Roman" panose="02020603050405020304" pitchFamily="18" charset="0"/>
              </a:rPr>
              <a:t>Basic Model Settings </a:t>
            </a:r>
          </a:p>
        </p:txBody>
      </p:sp>
      <p:pic>
        <p:nvPicPr>
          <p:cNvPr id="5" name="图片 4" descr="屏幕快照 2019-04-23 上午10.21.23.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40997" y="4571939"/>
            <a:ext cx="1676400" cy="330200"/>
          </a:xfrm>
          <a:prstGeom prst="rect">
            <a:avLst/>
          </a:prstGeom>
        </p:spPr>
      </p:pic>
      <p:pic>
        <p:nvPicPr>
          <p:cNvPr id="8" name="图片 7" descr="屏幕快照 2019-04-23 上午10.21.36.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39211" y="5357295"/>
            <a:ext cx="2603500" cy="330200"/>
          </a:xfrm>
          <a:prstGeom prst="rect">
            <a:avLst/>
          </a:prstGeom>
        </p:spPr>
      </p:pic>
      <p:pic>
        <p:nvPicPr>
          <p:cNvPr id="9" name="图片 8" descr="屏幕快照 2019-04-23 上午10.21.52.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18797" y="6032607"/>
            <a:ext cx="1320800" cy="419100"/>
          </a:xfrm>
          <a:prstGeom prst="rect">
            <a:avLst/>
          </a:prstGeom>
        </p:spPr>
      </p:pic>
      <p:sp>
        <p:nvSpPr>
          <p:cNvPr id="3" name="矩形 2"/>
          <p:cNvSpPr/>
          <p:nvPr/>
        </p:nvSpPr>
        <p:spPr bwMode="auto">
          <a:xfrm>
            <a:off x="1907704" y="1903054"/>
            <a:ext cx="1008112" cy="432048"/>
          </a:xfrm>
          <a:prstGeom prst="rect">
            <a:avLst/>
          </a:prstGeom>
          <a:solidFill>
            <a:schemeClr val="bg1"/>
          </a:solidFill>
          <a:ln w="952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CN" dirty="0" smtClean="0">
                <a:latin typeface="Times New Roman" pitchFamily="18" charset="0"/>
                <a:ea typeface="宋体" pitchFamily="2" charset="-122"/>
              </a:rPr>
              <a:t>Supplier</a:t>
            </a:r>
            <a:endParaRPr kumimoji="0" lang="zh-CN" altLang="en-US" sz="1800" b="0" i="0" u="none" strike="noStrike" cap="none" normalizeH="0" baseline="0" dirty="0" smtClean="0">
              <a:ln>
                <a:noFill/>
              </a:ln>
              <a:solidFill>
                <a:schemeClr val="tx1"/>
              </a:solidFill>
              <a:effectLst/>
              <a:latin typeface="Times New Roman" pitchFamily="18" charset="0"/>
              <a:ea typeface="宋体" pitchFamily="2" charset="-122"/>
            </a:endParaRPr>
          </a:p>
        </p:txBody>
      </p:sp>
      <p:sp>
        <p:nvSpPr>
          <p:cNvPr id="15" name="矩形 14"/>
          <p:cNvSpPr/>
          <p:nvPr/>
        </p:nvSpPr>
        <p:spPr bwMode="auto">
          <a:xfrm>
            <a:off x="3875140" y="1624048"/>
            <a:ext cx="1488949" cy="432048"/>
          </a:xfrm>
          <a:prstGeom prst="rect">
            <a:avLst/>
          </a:prstGeom>
          <a:solidFill>
            <a:schemeClr val="bg1"/>
          </a:solidFill>
          <a:ln w="952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fontAlgn="base">
              <a:spcBef>
                <a:spcPct val="0"/>
              </a:spcBef>
              <a:spcAft>
                <a:spcPct val="0"/>
              </a:spcAft>
            </a:pPr>
            <a:r>
              <a:rPr lang="en-US" altLang="zh-CN" dirty="0" smtClean="0">
                <a:latin typeface="Times New Roman" panose="02020603050405020304" pitchFamily="18" charset="0"/>
                <a:cs typeface="Times New Roman" panose="02020603050405020304" pitchFamily="18" charset="0"/>
              </a:rPr>
              <a:t>Manufacturer </a:t>
            </a:r>
            <a:r>
              <a:rPr lang="en-US" altLang="zh-CN" dirty="0">
                <a:latin typeface="Times New Roman" panose="02020603050405020304" pitchFamily="18" charset="0"/>
                <a:cs typeface="Times New Roman" panose="02020603050405020304" pitchFamily="18" charset="0"/>
              </a:rPr>
              <a:t>1</a:t>
            </a:r>
            <a:endParaRPr kumimoji="0" lang="zh-CN" altLang="en-US" sz="1800" b="0" i="0" u="none" strike="noStrike" cap="none" normalizeH="0" baseline="0" dirty="0" smtClean="0">
              <a:ln>
                <a:noFill/>
              </a:ln>
              <a:solidFill>
                <a:schemeClr val="tx1"/>
              </a:solidFill>
              <a:effectLst/>
              <a:latin typeface="Times New Roman" pitchFamily="18" charset="0"/>
              <a:ea typeface="宋体" pitchFamily="2" charset="-122"/>
            </a:endParaRPr>
          </a:p>
        </p:txBody>
      </p:sp>
      <p:sp>
        <p:nvSpPr>
          <p:cNvPr id="17" name="矩形 16"/>
          <p:cNvSpPr/>
          <p:nvPr/>
        </p:nvSpPr>
        <p:spPr bwMode="auto">
          <a:xfrm>
            <a:off x="3875141" y="2167137"/>
            <a:ext cx="1488948" cy="432048"/>
          </a:xfrm>
          <a:prstGeom prst="rect">
            <a:avLst/>
          </a:prstGeom>
          <a:solidFill>
            <a:schemeClr val="bg1"/>
          </a:solidFill>
          <a:ln w="952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fontAlgn="base">
              <a:spcBef>
                <a:spcPct val="0"/>
              </a:spcBef>
              <a:spcAft>
                <a:spcPct val="0"/>
              </a:spcAft>
            </a:pPr>
            <a:r>
              <a:rPr lang="en-US" altLang="zh-CN" dirty="0" smtClean="0">
                <a:latin typeface="Times New Roman" panose="02020603050405020304" pitchFamily="18" charset="0"/>
                <a:cs typeface="Times New Roman" panose="02020603050405020304" pitchFamily="18" charset="0"/>
              </a:rPr>
              <a:t>Manufacturer 2</a:t>
            </a:r>
            <a:endParaRPr kumimoji="0" lang="zh-CN" altLang="en-US" sz="1800" b="0" i="0" u="none" strike="noStrike" cap="none" normalizeH="0" baseline="0" dirty="0" smtClean="0">
              <a:ln>
                <a:noFill/>
              </a:ln>
              <a:solidFill>
                <a:schemeClr val="tx1"/>
              </a:solidFill>
              <a:effectLst/>
              <a:latin typeface="Times New Roman" pitchFamily="18" charset="0"/>
              <a:ea typeface="宋体" pitchFamily="2" charset="-122"/>
            </a:endParaRPr>
          </a:p>
        </p:txBody>
      </p:sp>
      <p:cxnSp>
        <p:nvCxnSpPr>
          <p:cNvPr id="18" name="直接箭头连接符 17"/>
          <p:cNvCxnSpPr>
            <a:stCxn id="3" idx="3"/>
            <a:endCxn id="28" idx="1"/>
          </p:cNvCxnSpPr>
          <p:nvPr/>
        </p:nvCxnSpPr>
        <p:spPr bwMode="auto">
          <a:xfrm>
            <a:off x="2915816" y="2119078"/>
            <a:ext cx="864096" cy="2110"/>
          </a:xfrm>
          <a:prstGeom prst="straightConnector1">
            <a:avLst/>
          </a:prstGeom>
          <a:solidFill>
            <a:schemeClr val="bg1"/>
          </a:solidFill>
          <a:ln w="9525" cap="flat" cmpd="sng" algn="ctr">
            <a:solidFill>
              <a:srgbClr val="FF0000"/>
            </a:solidFill>
            <a:prstDash val="solid"/>
            <a:round/>
            <a:headEnd type="none" w="med" len="med"/>
            <a:tailEnd type="triangle"/>
          </a:ln>
          <a:effectLst/>
        </p:spPr>
      </p:cxnSp>
      <p:sp>
        <p:nvSpPr>
          <p:cNvPr id="27" name="椭圆 26"/>
          <p:cNvSpPr/>
          <p:nvPr/>
        </p:nvSpPr>
        <p:spPr bwMode="auto">
          <a:xfrm>
            <a:off x="6726941" y="1790391"/>
            <a:ext cx="941403" cy="663347"/>
          </a:xfrm>
          <a:prstGeom prst="ellipse">
            <a:avLst/>
          </a:prstGeom>
          <a:solidFill>
            <a:schemeClr val="bg1"/>
          </a:solidFill>
          <a:ln w="952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smtClean="0">
                <a:ln>
                  <a:noFill/>
                </a:ln>
                <a:solidFill>
                  <a:schemeClr val="tx1"/>
                </a:solidFill>
                <a:effectLst/>
                <a:latin typeface="Times New Roman" pitchFamily="18" charset="0"/>
                <a:ea typeface="宋体" pitchFamily="2" charset="-122"/>
              </a:rPr>
              <a:t>Market</a:t>
            </a:r>
            <a:endParaRPr kumimoji="0" lang="zh-CN" altLang="en-US" sz="1800" b="0" i="0" u="none" strike="noStrike" cap="none" normalizeH="0" baseline="0" dirty="0" smtClean="0">
              <a:ln>
                <a:noFill/>
              </a:ln>
              <a:solidFill>
                <a:schemeClr val="tx1"/>
              </a:solidFill>
              <a:effectLst/>
              <a:latin typeface="Times New Roman" pitchFamily="18" charset="0"/>
              <a:ea typeface="宋体" pitchFamily="2" charset="-122"/>
            </a:endParaRPr>
          </a:p>
        </p:txBody>
      </p:sp>
      <p:cxnSp>
        <p:nvCxnSpPr>
          <p:cNvPr id="36" name="直接箭头连接符 35"/>
          <p:cNvCxnSpPr>
            <a:stCxn id="28" idx="3"/>
            <a:endCxn id="27" idx="2"/>
          </p:cNvCxnSpPr>
          <p:nvPr/>
        </p:nvCxnSpPr>
        <p:spPr bwMode="auto">
          <a:xfrm>
            <a:off x="5742711" y="2121188"/>
            <a:ext cx="984230" cy="877"/>
          </a:xfrm>
          <a:prstGeom prst="straightConnector1">
            <a:avLst/>
          </a:prstGeom>
          <a:solidFill>
            <a:schemeClr val="bg1"/>
          </a:solidFill>
          <a:ln w="9525" cap="flat" cmpd="sng" algn="ctr">
            <a:solidFill>
              <a:srgbClr val="FF0000"/>
            </a:solidFill>
            <a:prstDash val="solid"/>
            <a:round/>
            <a:headEnd type="none" w="med" len="med"/>
            <a:tailEnd type="triangle"/>
          </a:ln>
          <a:effectLst/>
        </p:spPr>
      </p:cxnSp>
      <mc:AlternateContent xmlns:mc="http://schemas.openxmlformats.org/markup-compatibility/2006">
        <mc:Choice xmlns:a14="http://schemas.microsoft.com/office/drawing/2010/main" Requires="a14">
          <p:sp>
            <p:nvSpPr>
              <p:cNvPr id="38" name="文本框 37"/>
              <p:cNvSpPr txBox="1"/>
              <p:nvPr/>
            </p:nvSpPr>
            <p:spPr>
              <a:xfrm>
                <a:off x="6173085" y="1742595"/>
                <a:ext cx="362472" cy="300660"/>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𝑝</m:t>
                          </m:r>
                        </m:e>
                        <m:sup/>
                      </m:sSup>
                    </m:oMath>
                  </m:oMathPara>
                </a14:m>
                <a:endParaRPr lang="zh-CN" altLang="en-US" dirty="0"/>
              </a:p>
            </p:txBody>
          </p:sp>
        </mc:Choice>
        <mc:Fallback>
          <p:sp>
            <p:nvSpPr>
              <p:cNvPr id="38" name="文本框 37"/>
              <p:cNvSpPr txBox="1">
                <a:spLocks noRot="1" noChangeAspect="1" noMove="1" noResize="1" noEditPoints="1" noAdjustHandles="1" noChangeArrowheads="1" noChangeShapeType="1" noTextEdit="1"/>
              </p:cNvSpPr>
              <p:nvPr/>
            </p:nvSpPr>
            <p:spPr>
              <a:xfrm>
                <a:off x="6173085" y="1742595"/>
                <a:ext cx="362472" cy="300660"/>
              </a:xfrm>
              <a:prstGeom prst="rect">
                <a:avLst/>
              </a:prstGeom>
              <a:blipFill>
                <a:blip r:embed="rId5"/>
                <a:stretch>
                  <a:fillRect l="-15254" b="-2653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9" name="文本框 38"/>
              <p:cNvSpPr txBox="1"/>
              <p:nvPr/>
            </p:nvSpPr>
            <p:spPr>
              <a:xfrm>
                <a:off x="2230524" y="2285334"/>
                <a:ext cx="285719"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𝑢</m:t>
                          </m:r>
                        </m:sub>
                      </m:sSub>
                    </m:oMath>
                  </m:oMathPara>
                </a14:m>
                <a:endParaRPr lang="zh-CN" altLang="en-US" dirty="0"/>
              </a:p>
            </p:txBody>
          </p:sp>
        </mc:Choice>
        <mc:Fallback>
          <p:sp>
            <p:nvSpPr>
              <p:cNvPr id="39" name="文本框 38"/>
              <p:cNvSpPr txBox="1">
                <a:spLocks noRot="1" noChangeAspect="1" noMove="1" noResize="1" noEditPoints="1" noAdjustHandles="1" noChangeArrowheads="1" noChangeShapeType="1" noTextEdit="1"/>
              </p:cNvSpPr>
              <p:nvPr/>
            </p:nvSpPr>
            <p:spPr>
              <a:xfrm>
                <a:off x="2230524" y="2285334"/>
                <a:ext cx="285719" cy="276999"/>
              </a:xfrm>
              <a:prstGeom prst="rect">
                <a:avLst/>
              </a:prstGeom>
              <a:blipFill>
                <a:blip r:embed="rId6"/>
                <a:stretch>
                  <a:fillRect l="-10638" b="-13333"/>
                </a:stretch>
              </a:blipFill>
            </p:spPr>
            <p:txBody>
              <a:bodyPr/>
              <a:lstStyle/>
              <a:p>
                <a:r>
                  <a:rPr lang="zh-CN" altLang="en-US">
                    <a:noFill/>
                  </a:rPr>
                  <a:t> </a:t>
                </a:r>
              </a:p>
            </p:txBody>
          </p:sp>
        </mc:Fallback>
      </mc:AlternateContent>
      <p:sp>
        <p:nvSpPr>
          <p:cNvPr id="40" name="矩形 39"/>
          <p:cNvSpPr/>
          <p:nvPr/>
        </p:nvSpPr>
        <p:spPr>
          <a:xfrm>
            <a:off x="232897" y="3468731"/>
            <a:ext cx="8911103" cy="707886"/>
          </a:xfrm>
          <a:prstGeom prst="rect">
            <a:avLst/>
          </a:prstGeom>
        </p:spPr>
        <p:txBody>
          <a:bodyPr wrap="square">
            <a:spAutoFit/>
          </a:bodyPr>
          <a:lstStyle/>
          <a:p>
            <a:pPr marL="342900" indent="-342900">
              <a:buFont typeface="Wingdings" panose="05000000000000000000" pitchFamily="2" charset="2"/>
              <a:buChar char="Ø"/>
            </a:pPr>
            <a:r>
              <a:rPr lang="en-US" altLang="zh-CN" sz="2000" dirty="0" smtClean="0">
                <a:latin typeface="Times New Roman" panose="02020603050405020304" pitchFamily="18" charset="0"/>
                <a:cs typeface="Times New Roman" panose="02020603050405020304" pitchFamily="18" charset="0"/>
              </a:rPr>
              <a:t>Supplier </a:t>
            </a:r>
            <a:r>
              <a:rPr lang="en-US" altLang="zh-CN" sz="2000" dirty="0">
                <a:latin typeface="Times New Roman" panose="02020603050405020304" pitchFamily="18" charset="0"/>
                <a:cs typeface="Times New Roman" panose="02020603050405020304" pitchFamily="18" charset="0"/>
              </a:rPr>
              <a:t>produces the component at unit cost </a:t>
            </a:r>
            <a:r>
              <a:rPr lang="en-US" altLang="zh-CN" sz="900" dirty="0" smtClean="0">
                <a:latin typeface="Times New Roman" panose="02020603050405020304" pitchFamily="18" charset="0"/>
                <a:cs typeface="Times New Roman" panose="02020603050405020304" pitchFamily="18" charset="0"/>
              </a:rPr>
              <a:t>            </a:t>
            </a:r>
            <a:r>
              <a:rPr lang="en-US" altLang="zh-CN" sz="2000" dirty="0" smtClean="0">
                <a:latin typeface="Times New Roman" panose="02020603050405020304" pitchFamily="18" charset="0"/>
                <a:cs typeface="Times New Roman" panose="02020603050405020304" pitchFamily="18" charset="0"/>
              </a:rPr>
              <a:t>and </a:t>
            </a:r>
            <a:r>
              <a:rPr lang="en-US" altLang="zh-CN" sz="2000" dirty="0">
                <a:latin typeface="Times New Roman" panose="02020603050405020304" pitchFamily="18" charset="0"/>
                <a:cs typeface="Times New Roman" panose="02020603050405020304" pitchFamily="18" charset="0"/>
              </a:rPr>
              <a:t>sells it to the downstream at unit price </a:t>
            </a:r>
            <a:r>
              <a:rPr lang="en-US" altLang="zh-CN" sz="2000" dirty="0" smtClean="0">
                <a:latin typeface="Times New Roman" panose="02020603050405020304" pitchFamily="18" charset="0"/>
                <a:cs typeface="Times New Roman" panose="02020603050405020304" pitchFamily="18" charset="0"/>
              </a:rPr>
              <a:t>    .</a:t>
            </a:r>
            <a:endParaRPr lang="zh-CN" altLang="en-US" sz="20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42" name="文本框 41"/>
              <p:cNvSpPr txBox="1"/>
              <p:nvPr/>
            </p:nvSpPr>
            <p:spPr>
              <a:xfrm>
                <a:off x="3178525" y="1719896"/>
                <a:ext cx="413125" cy="300660"/>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𝑤</m:t>
                          </m:r>
                        </m:e>
                        <m:sup/>
                      </m:sSup>
                    </m:oMath>
                  </m:oMathPara>
                </a14:m>
                <a:endParaRPr lang="zh-CN" altLang="en-US" dirty="0"/>
              </a:p>
            </p:txBody>
          </p:sp>
        </mc:Choice>
        <mc:Fallback>
          <p:sp>
            <p:nvSpPr>
              <p:cNvPr id="42" name="文本框 41"/>
              <p:cNvSpPr txBox="1">
                <a:spLocks noRot="1" noChangeAspect="1" noMove="1" noResize="1" noEditPoints="1" noAdjustHandles="1" noChangeArrowheads="1" noChangeShapeType="1" noTextEdit="1"/>
              </p:cNvSpPr>
              <p:nvPr/>
            </p:nvSpPr>
            <p:spPr>
              <a:xfrm>
                <a:off x="3178525" y="1719896"/>
                <a:ext cx="413125" cy="300660"/>
              </a:xfrm>
              <a:prstGeom prst="rect">
                <a:avLst/>
              </a:prstGeom>
              <a:blipFill>
                <a:blip r:embed="rId7"/>
                <a:stretch>
                  <a:fillRect l="-5882" b="-204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5" name="文本框 54"/>
              <p:cNvSpPr txBox="1"/>
              <p:nvPr/>
            </p:nvSpPr>
            <p:spPr>
              <a:xfrm>
                <a:off x="4612864" y="1183430"/>
                <a:ext cx="286552"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𝑑</m:t>
                          </m:r>
                        </m:sub>
                      </m:sSub>
                    </m:oMath>
                  </m:oMathPara>
                </a14:m>
                <a:endParaRPr lang="zh-CN" altLang="en-US" dirty="0"/>
              </a:p>
            </p:txBody>
          </p:sp>
        </mc:Choice>
        <mc:Fallback>
          <p:sp>
            <p:nvSpPr>
              <p:cNvPr id="55" name="文本框 54"/>
              <p:cNvSpPr txBox="1">
                <a:spLocks noRot="1" noChangeAspect="1" noMove="1" noResize="1" noEditPoints="1" noAdjustHandles="1" noChangeArrowheads="1" noChangeShapeType="1" noTextEdit="1"/>
              </p:cNvSpPr>
              <p:nvPr/>
            </p:nvSpPr>
            <p:spPr>
              <a:xfrm>
                <a:off x="4612864" y="1183430"/>
                <a:ext cx="286552" cy="276999"/>
              </a:xfrm>
              <a:prstGeom prst="rect">
                <a:avLst/>
              </a:prstGeom>
              <a:blipFill>
                <a:blip r:embed="rId8"/>
                <a:stretch>
                  <a:fillRect l="-10638" r="-4255" b="-1739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6" name="文本框 55"/>
              <p:cNvSpPr txBox="1"/>
              <p:nvPr/>
            </p:nvSpPr>
            <p:spPr>
              <a:xfrm>
                <a:off x="5409704" y="1634000"/>
                <a:ext cx="286682"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𝑞</m:t>
                          </m:r>
                        </m:e>
                        <m:sub>
                          <m:r>
                            <a:rPr lang="en-US" altLang="zh-CN" b="0" i="1" smtClean="0">
                              <a:latin typeface="Cambria Math" panose="02040503050406030204" pitchFamily="18" charset="0"/>
                            </a:rPr>
                            <m:t>1</m:t>
                          </m:r>
                        </m:sub>
                      </m:sSub>
                    </m:oMath>
                  </m:oMathPara>
                </a14:m>
                <a:endParaRPr lang="zh-CN" altLang="en-US" dirty="0"/>
              </a:p>
            </p:txBody>
          </p:sp>
        </mc:Choice>
        <mc:Fallback>
          <p:sp>
            <p:nvSpPr>
              <p:cNvPr id="56" name="文本框 55"/>
              <p:cNvSpPr txBox="1">
                <a:spLocks noRot="1" noChangeAspect="1" noMove="1" noResize="1" noEditPoints="1" noAdjustHandles="1" noChangeArrowheads="1" noChangeShapeType="1" noTextEdit="1"/>
              </p:cNvSpPr>
              <p:nvPr/>
            </p:nvSpPr>
            <p:spPr>
              <a:xfrm>
                <a:off x="5409704" y="1634000"/>
                <a:ext cx="286682" cy="276999"/>
              </a:xfrm>
              <a:prstGeom prst="rect">
                <a:avLst/>
              </a:prstGeom>
              <a:blipFill>
                <a:blip r:embed="rId9"/>
                <a:stretch>
                  <a:fillRect l="-19149" r="-4255" b="-2888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7" name="文本框 56"/>
              <p:cNvSpPr txBox="1"/>
              <p:nvPr/>
            </p:nvSpPr>
            <p:spPr>
              <a:xfrm>
                <a:off x="5415779" y="2221918"/>
                <a:ext cx="292003"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𝑞</m:t>
                          </m:r>
                        </m:e>
                        <m:sub>
                          <m:r>
                            <a:rPr lang="en-US" altLang="zh-CN" b="0" i="1" smtClean="0">
                              <a:latin typeface="Cambria Math" panose="02040503050406030204" pitchFamily="18" charset="0"/>
                            </a:rPr>
                            <m:t>2</m:t>
                          </m:r>
                        </m:sub>
                      </m:sSub>
                    </m:oMath>
                  </m:oMathPara>
                </a14:m>
                <a:endParaRPr lang="zh-CN" altLang="en-US" dirty="0"/>
              </a:p>
            </p:txBody>
          </p:sp>
        </mc:Choice>
        <mc:Fallback>
          <p:sp>
            <p:nvSpPr>
              <p:cNvPr id="57" name="文本框 56"/>
              <p:cNvSpPr txBox="1">
                <a:spLocks noRot="1" noChangeAspect="1" noMove="1" noResize="1" noEditPoints="1" noAdjustHandles="1" noChangeArrowheads="1" noChangeShapeType="1" noTextEdit="1"/>
              </p:cNvSpPr>
              <p:nvPr/>
            </p:nvSpPr>
            <p:spPr>
              <a:xfrm>
                <a:off x="5415779" y="2221918"/>
                <a:ext cx="292003" cy="276999"/>
              </a:xfrm>
              <a:prstGeom prst="rect">
                <a:avLst/>
              </a:prstGeom>
              <a:blipFill>
                <a:blip r:embed="rId10"/>
                <a:stretch>
                  <a:fillRect l="-18750" r="-4167" b="-2608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0" name="文本框 59"/>
              <p:cNvSpPr txBox="1"/>
              <p:nvPr/>
            </p:nvSpPr>
            <p:spPr>
              <a:xfrm>
                <a:off x="5286949" y="3515602"/>
                <a:ext cx="285719"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𝑢</m:t>
                          </m:r>
                        </m:sub>
                      </m:sSub>
                    </m:oMath>
                  </m:oMathPara>
                </a14:m>
                <a:endParaRPr lang="zh-CN" altLang="en-US" dirty="0"/>
              </a:p>
            </p:txBody>
          </p:sp>
        </mc:Choice>
        <mc:Fallback>
          <p:sp>
            <p:nvSpPr>
              <p:cNvPr id="60" name="文本框 59"/>
              <p:cNvSpPr txBox="1">
                <a:spLocks noRot="1" noChangeAspect="1" noMove="1" noResize="1" noEditPoints="1" noAdjustHandles="1" noChangeArrowheads="1" noChangeShapeType="1" noTextEdit="1"/>
              </p:cNvSpPr>
              <p:nvPr/>
            </p:nvSpPr>
            <p:spPr>
              <a:xfrm>
                <a:off x="5286949" y="3515602"/>
                <a:ext cx="285719" cy="276999"/>
              </a:xfrm>
              <a:prstGeom prst="rect">
                <a:avLst/>
              </a:prstGeom>
              <a:blipFill>
                <a:blip r:embed="rId11"/>
                <a:stretch>
                  <a:fillRect l="-10638" b="-1333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1" name="文本框 60"/>
              <p:cNvSpPr txBox="1"/>
              <p:nvPr/>
            </p:nvSpPr>
            <p:spPr>
              <a:xfrm>
                <a:off x="1701141" y="3827477"/>
                <a:ext cx="413125" cy="300660"/>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𝑤</m:t>
                          </m:r>
                        </m:e>
                        <m:sup/>
                      </m:sSup>
                    </m:oMath>
                  </m:oMathPara>
                </a14:m>
                <a:endParaRPr lang="zh-CN" altLang="en-US" dirty="0"/>
              </a:p>
            </p:txBody>
          </p:sp>
        </mc:Choice>
        <mc:Fallback>
          <p:sp>
            <p:nvSpPr>
              <p:cNvPr id="61" name="文本框 60"/>
              <p:cNvSpPr txBox="1">
                <a:spLocks noRot="1" noChangeAspect="1" noMove="1" noResize="1" noEditPoints="1" noAdjustHandles="1" noChangeArrowheads="1" noChangeShapeType="1" noTextEdit="1"/>
              </p:cNvSpPr>
              <p:nvPr/>
            </p:nvSpPr>
            <p:spPr>
              <a:xfrm>
                <a:off x="1701141" y="3827477"/>
                <a:ext cx="413125" cy="300660"/>
              </a:xfrm>
              <a:prstGeom prst="rect">
                <a:avLst/>
              </a:prstGeom>
              <a:blipFill>
                <a:blip r:embed="rId12"/>
                <a:stretch>
                  <a:fillRect l="-5882" b="-204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84211934"/>
      </p:ext>
    </p:extLst>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3963" y="259772"/>
            <a:ext cx="4232013" cy="647700"/>
          </a:xfrm>
        </p:spPr>
        <p:txBody>
          <a:bodyPr/>
          <a:lstStyle/>
          <a:p>
            <a:r>
              <a:rPr lang="en-US" altLang="zh-CN" dirty="0" smtClean="0">
                <a:latin typeface="Times New Roman" panose="02020603050405020304" pitchFamily="18" charset="0"/>
                <a:cs typeface="Times New Roman" panose="02020603050405020304" pitchFamily="18" charset="0"/>
              </a:rPr>
              <a:t>Sequences</a:t>
            </a:r>
            <a:endParaRPr lang="zh-CN" altLang="en-US" dirty="0">
              <a:latin typeface="Times New Roman" panose="02020603050405020304" pitchFamily="18" charset="0"/>
              <a:cs typeface="Times New Roman" panose="02020603050405020304" pitchFamily="18" charset="0"/>
            </a:endParaRPr>
          </a:p>
        </p:txBody>
      </p:sp>
      <p:sp>
        <p:nvSpPr>
          <p:cNvPr id="4" name="日期占位符 3"/>
          <p:cNvSpPr>
            <a:spLocks noGrp="1"/>
          </p:cNvSpPr>
          <p:nvPr>
            <p:ph type="dt" sz="half" idx="10"/>
          </p:nvPr>
        </p:nvSpPr>
        <p:spPr>
          <a:xfrm>
            <a:off x="7524328" y="6570719"/>
            <a:ext cx="1512168" cy="261493"/>
          </a:xfrm>
        </p:spPr>
        <p:txBody>
          <a:bodyPr/>
          <a:lstStyle/>
          <a:p>
            <a:pPr>
              <a:defRPr/>
            </a:pPr>
            <a:fld id="{5A22EBCE-3535-44D9-BEEF-A94BBB270A14}" type="datetime4">
              <a:rPr lang="en-US" altLang="zh-CN" smtClean="0">
                <a:solidFill>
                  <a:srgbClr val="292929"/>
                </a:solidFill>
              </a:rPr>
              <a:t>April 25, 2019</a:t>
            </a:fld>
            <a:endParaRPr lang="en-US" altLang="zh-CN" dirty="0">
              <a:solidFill>
                <a:srgbClr val="292929"/>
              </a:solidFill>
            </a:endParaRPr>
          </a:p>
        </p:txBody>
      </p:sp>
      <p:sp>
        <p:nvSpPr>
          <p:cNvPr id="6" name="灯片编号占位符 5"/>
          <p:cNvSpPr>
            <a:spLocks noGrp="1"/>
          </p:cNvSpPr>
          <p:nvPr>
            <p:ph type="sldNum" sz="quarter" idx="12"/>
          </p:nvPr>
        </p:nvSpPr>
        <p:spPr>
          <a:xfrm>
            <a:off x="3779912" y="6541643"/>
            <a:ext cx="933450" cy="288925"/>
          </a:xfrm>
        </p:spPr>
        <p:txBody>
          <a:bodyPr/>
          <a:lstStyle/>
          <a:p>
            <a:fld id="{71E37E66-47ED-4E23-B805-CF9315C51031}" type="slidenum">
              <a:rPr lang="en-US" altLang="zh-CN" smtClean="0">
                <a:solidFill>
                  <a:srgbClr val="292929"/>
                </a:solidFill>
              </a:rPr>
              <a:pPr/>
              <a:t>10</a:t>
            </a:fld>
            <a:endParaRPr lang="en-US" altLang="zh-CN" dirty="0">
              <a:solidFill>
                <a:srgbClr val="292929"/>
              </a:solidFill>
            </a:endParaRPr>
          </a:p>
        </p:txBody>
      </p:sp>
      <p:sp>
        <p:nvSpPr>
          <p:cNvPr id="7" name="TextBox 6"/>
          <p:cNvSpPr txBox="1"/>
          <p:nvPr/>
        </p:nvSpPr>
        <p:spPr>
          <a:xfrm>
            <a:off x="6274" y="1095764"/>
            <a:ext cx="8856985" cy="400110"/>
          </a:xfrm>
          <a:prstGeom prst="rect">
            <a:avLst/>
          </a:prstGeom>
          <a:noFill/>
        </p:spPr>
        <p:txBody>
          <a:bodyPr wrap="square" rtlCol="0">
            <a:spAutoFit/>
          </a:bodyPr>
          <a:lstStyle/>
          <a:p>
            <a:r>
              <a:rPr lang="en-US" altLang="zh-CN" sz="2000" dirty="0">
                <a:latin typeface="Times New Roman" panose="02020603050405020304" pitchFamily="18" charset="0"/>
                <a:cs typeface="Times New Roman" panose="02020603050405020304" pitchFamily="18" charset="0"/>
              </a:rPr>
              <a:t>S</a:t>
            </a:r>
            <a:r>
              <a:rPr lang="en-US" altLang="zh-CN" sz="2000" dirty="0" smtClean="0">
                <a:latin typeface="Times New Roman" panose="02020603050405020304" pitchFamily="18" charset="0"/>
                <a:cs typeface="Times New Roman" panose="02020603050405020304" pitchFamily="18" charset="0"/>
              </a:rPr>
              <a:t>equence </a:t>
            </a:r>
            <a:r>
              <a:rPr lang="en-US" altLang="zh-CN" sz="2000" dirty="0">
                <a:latin typeface="Times New Roman" panose="02020603050405020304" pitchFamily="18" charset="0"/>
                <a:cs typeface="Times New Roman" panose="02020603050405020304" pitchFamily="18" charset="0"/>
              </a:rPr>
              <a:t>of events includes four stages </a:t>
            </a:r>
          </a:p>
        </p:txBody>
      </p:sp>
      <p:sp>
        <p:nvSpPr>
          <p:cNvPr id="8" name="页脚占位符 4"/>
          <p:cNvSpPr>
            <a:spLocks noGrp="1"/>
          </p:cNvSpPr>
          <p:nvPr>
            <p:ph type="ftr" sz="quarter" idx="11"/>
          </p:nvPr>
        </p:nvSpPr>
        <p:spPr>
          <a:xfrm>
            <a:off x="0" y="6569075"/>
            <a:ext cx="3059832" cy="288925"/>
          </a:xfrm>
        </p:spPr>
        <p:txBody>
          <a:bodyPr/>
          <a:lstStyle/>
          <a:p>
            <a:pPr>
              <a:defRPr/>
            </a:pPr>
            <a:r>
              <a:rPr lang="en-US" altLang="zh-CN" smtClean="0"/>
              <a:t>Xiaolin Xu</a:t>
            </a:r>
            <a:r>
              <a:rPr lang="zh-CN" altLang="en-US" smtClean="0"/>
              <a:t>（ </a:t>
            </a:r>
            <a:r>
              <a:rPr lang="en-US" altLang="zh-CN" smtClean="0"/>
              <a:t>Nanjing University </a:t>
            </a:r>
            <a:r>
              <a:rPr lang="zh-CN" altLang="en-US" smtClean="0"/>
              <a:t>）</a:t>
            </a:r>
            <a:endParaRPr lang="en-US" altLang="zh-CN" dirty="0"/>
          </a:p>
        </p:txBody>
      </p:sp>
      <p:pic>
        <p:nvPicPr>
          <p:cNvPr id="5" name="图片 4"/>
          <p:cNvPicPr>
            <a:picLocks noChangeAspect="1"/>
          </p:cNvPicPr>
          <p:nvPr/>
        </p:nvPicPr>
        <p:blipFill>
          <a:blip r:embed="rId3"/>
          <a:stretch>
            <a:fillRect/>
          </a:stretch>
        </p:blipFill>
        <p:spPr>
          <a:xfrm>
            <a:off x="964038" y="1437730"/>
            <a:ext cx="6783875" cy="2254817"/>
          </a:xfrm>
          <a:prstGeom prst="rect">
            <a:avLst/>
          </a:prstGeom>
        </p:spPr>
      </p:pic>
      <p:sp>
        <p:nvSpPr>
          <p:cNvPr id="9" name="矩形 8"/>
          <p:cNvSpPr/>
          <p:nvPr/>
        </p:nvSpPr>
        <p:spPr>
          <a:xfrm>
            <a:off x="323528" y="3673243"/>
            <a:ext cx="8712968" cy="646331"/>
          </a:xfrm>
          <a:prstGeom prst="rect">
            <a:avLst/>
          </a:prstGeom>
        </p:spPr>
        <p:txBody>
          <a:bodyPr wrap="square">
            <a:spAutoFit/>
          </a:bodyPr>
          <a:lstStyle/>
          <a:p>
            <a:r>
              <a:rPr lang="en-US" altLang="zh-CN" dirty="0">
                <a:latin typeface="Times New Roman" panose="02020603050405020304" pitchFamily="18" charset="0"/>
                <a:cs typeface="Times New Roman" panose="02020603050405020304" pitchFamily="18" charset="0"/>
              </a:rPr>
              <a:t>1. </a:t>
            </a:r>
            <a:r>
              <a:rPr lang="en-US" altLang="zh-CN" b="1" dirty="0" smtClean="0">
                <a:solidFill>
                  <a:srgbClr val="FF0000"/>
                </a:solidFill>
                <a:latin typeface="Times New Roman" panose="02020603050405020304" pitchFamily="18" charset="0"/>
                <a:cs typeface="Times New Roman" panose="02020603050405020304" pitchFamily="18" charset="0"/>
              </a:rPr>
              <a:t>Stage 1</a:t>
            </a:r>
            <a:r>
              <a:rPr lang="en-US" altLang="zh-CN" dirty="0" smtClean="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two downstream manufacturers decide on their R&amp;D strategies, i.e., non-</a:t>
            </a:r>
          </a:p>
          <a:p>
            <a:r>
              <a:rPr lang="pt-BR" altLang="zh-CN" dirty="0" smtClean="0">
                <a:latin typeface="Times New Roman" panose="02020603050405020304" pitchFamily="18" charset="0"/>
                <a:cs typeface="Times New Roman" panose="02020603050405020304" pitchFamily="18" charset="0"/>
              </a:rPr>
              <a:t>    cooperative </a:t>
            </a:r>
            <a:r>
              <a:rPr lang="pt-BR" altLang="zh-CN" dirty="0">
                <a:latin typeface="Times New Roman" panose="02020603050405020304" pitchFamily="18" charset="0"/>
                <a:cs typeface="Times New Roman" panose="02020603050405020304" pitchFamily="18" charset="0"/>
              </a:rPr>
              <a:t>R&amp;D or cooperative R&amp;D.</a:t>
            </a:r>
            <a:endParaRPr lang="zh-CN" altLang="en-US" dirty="0">
              <a:latin typeface="Times New Roman" panose="02020603050405020304" pitchFamily="18" charset="0"/>
              <a:cs typeface="Times New Roman" panose="02020603050405020304" pitchFamily="18" charset="0"/>
            </a:endParaRPr>
          </a:p>
        </p:txBody>
      </p:sp>
      <p:sp>
        <p:nvSpPr>
          <p:cNvPr id="10" name="矩形 9"/>
          <p:cNvSpPr/>
          <p:nvPr/>
        </p:nvSpPr>
        <p:spPr>
          <a:xfrm>
            <a:off x="323528" y="4397623"/>
            <a:ext cx="8712968" cy="646331"/>
          </a:xfrm>
          <a:prstGeom prst="rect">
            <a:avLst/>
          </a:prstGeom>
        </p:spPr>
        <p:txBody>
          <a:bodyPr wrap="square">
            <a:spAutoFit/>
          </a:bodyPr>
          <a:lstStyle/>
          <a:p>
            <a:pPr algn="just"/>
            <a:r>
              <a:rPr lang="en-US" altLang="zh-CN" dirty="0">
                <a:latin typeface="Times New Roman" panose="02020603050405020304" pitchFamily="18" charset="0"/>
                <a:cs typeface="Times New Roman" panose="02020603050405020304" pitchFamily="18" charset="0"/>
              </a:rPr>
              <a:t>2. </a:t>
            </a:r>
            <a:r>
              <a:rPr lang="en-US" altLang="zh-CN" b="1" dirty="0" smtClean="0">
                <a:solidFill>
                  <a:srgbClr val="FF0000"/>
                </a:solidFill>
                <a:latin typeface="Times New Roman" panose="02020603050405020304" pitchFamily="18" charset="0"/>
                <a:cs typeface="Times New Roman" panose="02020603050405020304" pitchFamily="18" charset="0"/>
              </a:rPr>
              <a:t>Stage 2</a:t>
            </a:r>
            <a:r>
              <a:rPr lang="en-US" altLang="zh-CN" dirty="0" smtClean="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given the R&amp;D strategy, two manufacturers decide on their R&amp;D </a:t>
            </a:r>
            <a:r>
              <a:rPr lang="en-US" altLang="zh-CN" dirty="0" smtClean="0">
                <a:latin typeface="Times New Roman" panose="02020603050405020304" pitchFamily="18" charset="0"/>
                <a:cs typeface="Times New Roman" panose="02020603050405020304" pitchFamily="18" charset="0"/>
              </a:rPr>
              <a:t> output </a:t>
            </a:r>
          </a:p>
          <a:p>
            <a:pPr algn="just"/>
            <a:r>
              <a:rPr lang="en-US" altLang="zh-CN" dirty="0">
                <a:latin typeface="Times New Roman" panose="02020603050405020304" pitchFamily="18" charset="0"/>
                <a:cs typeface="Times New Roman" panose="02020603050405020304" pitchFamily="18" charset="0"/>
              </a:rPr>
              <a:t> </a:t>
            </a:r>
            <a:r>
              <a:rPr lang="en-US" altLang="zh-CN" dirty="0" smtClean="0">
                <a:latin typeface="Times New Roman" panose="02020603050405020304" pitchFamily="18" charset="0"/>
                <a:cs typeface="Times New Roman" panose="02020603050405020304" pitchFamily="18" charset="0"/>
              </a:rPr>
              <a:t>   levels </a:t>
            </a:r>
            <a:r>
              <a:rPr lang="en-US" altLang="zh-CN" dirty="0">
                <a:latin typeface="Times New Roman" panose="02020603050405020304" pitchFamily="18" charset="0"/>
                <a:cs typeface="Times New Roman" panose="02020603050405020304" pitchFamily="18" charset="0"/>
              </a:rPr>
              <a:t>x</a:t>
            </a:r>
            <a:r>
              <a:rPr lang="en-US" altLang="zh-CN" sz="800" dirty="0">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 </a:t>
            </a:r>
            <a:r>
              <a:rPr lang="en-US" altLang="zh-CN" dirty="0" err="1" smtClean="0">
                <a:latin typeface="Times New Roman" panose="02020603050405020304" pitchFamily="18" charset="0"/>
                <a:cs typeface="Times New Roman" panose="02020603050405020304" pitchFamily="18" charset="0"/>
              </a:rPr>
              <a:t>i</a:t>
            </a:r>
            <a:r>
              <a:rPr lang="en-US" altLang="zh-CN" dirty="0" smtClean="0">
                <a:latin typeface="Times New Roman" panose="02020603050405020304" pitchFamily="18" charset="0"/>
                <a:cs typeface="Times New Roman" panose="02020603050405020304" pitchFamily="18" charset="0"/>
              </a:rPr>
              <a:t>=1, </a:t>
            </a:r>
            <a:r>
              <a:rPr lang="en-US" altLang="zh-CN" dirty="0">
                <a:latin typeface="Times New Roman" panose="02020603050405020304" pitchFamily="18" charset="0"/>
                <a:cs typeface="Times New Roman" panose="02020603050405020304" pitchFamily="18" charset="0"/>
              </a:rPr>
              <a:t>2. </a:t>
            </a:r>
            <a:endParaRPr lang="zh-CN" altLang="en-US" dirty="0">
              <a:latin typeface="Times New Roman" panose="02020603050405020304" pitchFamily="18" charset="0"/>
              <a:cs typeface="Times New Roman" panose="02020603050405020304" pitchFamily="18" charset="0"/>
            </a:endParaRPr>
          </a:p>
        </p:txBody>
      </p:sp>
      <p:sp>
        <p:nvSpPr>
          <p:cNvPr id="11" name="矩形 10"/>
          <p:cNvSpPr/>
          <p:nvPr/>
        </p:nvSpPr>
        <p:spPr>
          <a:xfrm>
            <a:off x="280742" y="5043954"/>
            <a:ext cx="8863257" cy="646331"/>
          </a:xfrm>
          <a:prstGeom prst="rect">
            <a:avLst/>
          </a:prstGeom>
        </p:spPr>
        <p:txBody>
          <a:bodyPr wrap="square">
            <a:spAutoFit/>
          </a:bodyPr>
          <a:lstStyle/>
          <a:p>
            <a:pPr algn="just"/>
            <a:r>
              <a:rPr lang="en-US" altLang="zh-CN" dirty="0" smtClean="0">
                <a:latin typeface="Times New Roman" panose="02020603050405020304" pitchFamily="18" charset="0"/>
                <a:cs typeface="Times New Roman" panose="02020603050405020304" pitchFamily="18" charset="0"/>
              </a:rPr>
              <a:t>3. </a:t>
            </a:r>
            <a:r>
              <a:rPr lang="en-US" altLang="zh-CN" b="1" dirty="0" smtClean="0">
                <a:solidFill>
                  <a:srgbClr val="FF0000"/>
                </a:solidFill>
                <a:latin typeface="Times New Roman" panose="02020603050405020304" pitchFamily="18" charset="0"/>
                <a:cs typeface="Times New Roman" panose="02020603050405020304" pitchFamily="18" charset="0"/>
              </a:rPr>
              <a:t>Stage 3</a:t>
            </a:r>
            <a:r>
              <a:rPr lang="en-US" altLang="zh-CN" dirty="0" smtClean="0">
                <a:latin typeface="Times New Roman" panose="02020603050405020304" pitchFamily="18" charset="0"/>
                <a:cs typeface="Times New Roman" panose="02020603050405020304" pitchFamily="18" charset="0"/>
              </a:rPr>
              <a:t>: whether </a:t>
            </a:r>
            <a:r>
              <a:rPr lang="en-US" altLang="zh-CN" dirty="0">
                <a:latin typeface="Times New Roman" panose="02020603050405020304" pitchFamily="18" charset="0"/>
                <a:cs typeface="Times New Roman" panose="02020603050405020304" pitchFamily="18" charset="0"/>
              </a:rPr>
              <a:t>the two manufacturers choose to cooperate in R&amp;D or </a:t>
            </a:r>
            <a:r>
              <a:rPr lang="en-US" altLang="zh-CN" dirty="0" smtClean="0">
                <a:latin typeface="Times New Roman" panose="02020603050405020304" pitchFamily="18" charset="0"/>
                <a:cs typeface="Times New Roman" panose="02020603050405020304" pitchFamily="18" charset="0"/>
              </a:rPr>
              <a:t>not, they compete </a:t>
            </a:r>
          </a:p>
          <a:p>
            <a:pPr algn="just"/>
            <a:r>
              <a:rPr lang="en-US" altLang="zh-CN" dirty="0">
                <a:latin typeface="Times New Roman" panose="02020603050405020304" pitchFamily="18" charset="0"/>
                <a:cs typeface="Times New Roman" panose="02020603050405020304" pitchFamily="18" charset="0"/>
              </a:rPr>
              <a:t> </a:t>
            </a:r>
            <a:r>
              <a:rPr lang="en-US" altLang="zh-CN" dirty="0" smtClean="0">
                <a:latin typeface="Times New Roman" panose="02020603050405020304" pitchFamily="18" charset="0"/>
                <a:cs typeface="Times New Roman" panose="02020603050405020304" pitchFamily="18" charset="0"/>
              </a:rPr>
              <a:t>   in </a:t>
            </a:r>
            <a:r>
              <a:rPr lang="en-US" altLang="zh-CN" dirty="0">
                <a:latin typeface="Times New Roman" panose="02020603050405020304" pitchFamily="18" charset="0"/>
                <a:cs typeface="Times New Roman" panose="02020603050405020304" pitchFamily="18" charset="0"/>
              </a:rPr>
              <a:t>the product market. T</a:t>
            </a:r>
            <a:r>
              <a:rPr lang="en-US" altLang="zh-CN" dirty="0" smtClean="0">
                <a:latin typeface="Times New Roman" panose="02020603050405020304" pitchFamily="18" charset="0"/>
                <a:cs typeface="Times New Roman" panose="02020603050405020304" pitchFamily="18" charset="0"/>
              </a:rPr>
              <a:t>he </a:t>
            </a:r>
            <a:r>
              <a:rPr lang="en-US" altLang="zh-CN" dirty="0">
                <a:latin typeface="Times New Roman" panose="02020603050405020304" pitchFamily="18" charset="0"/>
                <a:cs typeface="Times New Roman" panose="02020603050405020304" pitchFamily="18" charset="0"/>
              </a:rPr>
              <a:t>upstream supplier decides on the wholesale </a:t>
            </a:r>
            <a:r>
              <a:rPr lang="en-US" altLang="zh-CN" dirty="0" smtClean="0">
                <a:latin typeface="Times New Roman" panose="02020603050405020304" pitchFamily="18" charset="0"/>
                <a:cs typeface="Times New Roman" panose="02020603050405020304" pitchFamily="18" charset="0"/>
              </a:rPr>
              <a:t> price </a:t>
            </a:r>
            <a:r>
              <a:rPr lang="en-US" altLang="zh-CN" dirty="0">
                <a:latin typeface="Times New Roman" panose="02020603050405020304" pitchFamily="18" charset="0"/>
                <a:cs typeface="Times New Roman" panose="02020603050405020304" pitchFamily="18" charset="0"/>
              </a:rPr>
              <a:t>w.</a:t>
            </a:r>
            <a:endParaRPr lang="zh-CN" altLang="en-US" dirty="0">
              <a:latin typeface="Times New Roman" panose="02020603050405020304" pitchFamily="18" charset="0"/>
              <a:cs typeface="Times New Roman" panose="02020603050405020304" pitchFamily="18" charset="0"/>
            </a:endParaRPr>
          </a:p>
        </p:txBody>
      </p:sp>
      <p:sp>
        <p:nvSpPr>
          <p:cNvPr id="12" name="矩形 11"/>
          <p:cNvSpPr/>
          <p:nvPr/>
        </p:nvSpPr>
        <p:spPr>
          <a:xfrm>
            <a:off x="305202" y="5793341"/>
            <a:ext cx="8736005" cy="646331"/>
          </a:xfrm>
          <a:prstGeom prst="rect">
            <a:avLst/>
          </a:prstGeom>
        </p:spPr>
        <p:txBody>
          <a:bodyPr wrap="square">
            <a:spAutoFit/>
          </a:bodyPr>
          <a:lstStyle/>
          <a:p>
            <a:r>
              <a:rPr lang="en-US" altLang="zh-CN" dirty="0">
                <a:latin typeface="Times New Roman" panose="02020603050405020304" pitchFamily="18" charset="0"/>
                <a:cs typeface="Times New Roman" panose="02020603050405020304" pitchFamily="18" charset="0"/>
              </a:rPr>
              <a:t>4. </a:t>
            </a:r>
            <a:r>
              <a:rPr lang="en-US" altLang="zh-CN" b="1" dirty="0" smtClean="0">
                <a:solidFill>
                  <a:srgbClr val="FF0000"/>
                </a:solidFill>
                <a:latin typeface="Times New Roman" panose="02020603050405020304" pitchFamily="18" charset="0"/>
                <a:cs typeface="Times New Roman" panose="02020603050405020304" pitchFamily="18" charset="0"/>
              </a:rPr>
              <a:t>Stage 4</a:t>
            </a:r>
            <a:r>
              <a:rPr lang="en-US" altLang="zh-CN" dirty="0" smtClean="0">
                <a:latin typeface="Times New Roman" panose="02020603050405020304" pitchFamily="18" charset="0"/>
                <a:cs typeface="Times New Roman" panose="02020603050405020304" pitchFamily="18" charset="0"/>
              </a:rPr>
              <a:t>: given </a:t>
            </a:r>
            <a:r>
              <a:rPr lang="en-US" altLang="zh-CN" dirty="0">
                <a:latin typeface="Times New Roman" panose="02020603050405020304" pitchFamily="18" charset="0"/>
                <a:cs typeface="Times New Roman" panose="02020603050405020304" pitchFamily="18" charset="0"/>
              </a:rPr>
              <a:t>the wholesale price w of the upstream supplier, two downstream</a:t>
            </a:r>
          </a:p>
          <a:p>
            <a:r>
              <a:rPr lang="en-US" altLang="zh-CN" dirty="0">
                <a:latin typeface="Times New Roman" panose="02020603050405020304" pitchFamily="18" charset="0"/>
                <a:cs typeface="Times New Roman" panose="02020603050405020304" pitchFamily="18" charset="0"/>
              </a:rPr>
              <a:t> </a:t>
            </a:r>
            <a:r>
              <a:rPr lang="en-US" altLang="zh-CN" dirty="0" smtClean="0">
                <a:latin typeface="Times New Roman" panose="02020603050405020304" pitchFamily="18" charset="0"/>
                <a:cs typeface="Times New Roman" panose="02020603050405020304" pitchFamily="18" charset="0"/>
              </a:rPr>
              <a:t>   manufacturers </a:t>
            </a:r>
            <a:r>
              <a:rPr lang="en-US" altLang="zh-CN" dirty="0">
                <a:latin typeface="Times New Roman" panose="02020603050405020304" pitchFamily="18" charset="0"/>
                <a:cs typeface="Times New Roman" panose="02020603050405020304" pitchFamily="18" charset="0"/>
              </a:rPr>
              <a:t>act as </a:t>
            </a:r>
            <a:r>
              <a:rPr lang="en-US" altLang="zh-CN" dirty="0" err="1">
                <a:latin typeface="Times New Roman" panose="02020603050405020304" pitchFamily="18" charset="0"/>
                <a:cs typeface="Times New Roman" panose="02020603050405020304" pitchFamily="18" charset="0"/>
              </a:rPr>
              <a:t>Cournot</a:t>
            </a:r>
            <a:r>
              <a:rPr lang="en-US" altLang="zh-CN" dirty="0">
                <a:latin typeface="Times New Roman" panose="02020603050405020304" pitchFamily="18" charset="0"/>
                <a:cs typeface="Times New Roman" panose="02020603050405020304" pitchFamily="18" charset="0"/>
              </a:rPr>
              <a:t> duopoly </a:t>
            </a:r>
            <a:r>
              <a:rPr lang="en-US" altLang="zh-CN" dirty="0" smtClean="0">
                <a:latin typeface="Times New Roman" panose="02020603050405020304" pitchFamily="18" charset="0"/>
                <a:cs typeface="Times New Roman" panose="02020603050405020304" pitchFamily="18" charset="0"/>
              </a:rPr>
              <a:t>competitors</a:t>
            </a: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46237376"/>
      </p:ext>
    </p:extLst>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1520" y="332656"/>
            <a:ext cx="8135937" cy="647700"/>
          </a:xfrm>
        </p:spPr>
        <p:txBody>
          <a:bodyPr/>
          <a:lstStyle/>
          <a:p>
            <a:r>
              <a:rPr lang="en-US" altLang="zh-CN" sz="2800" dirty="0">
                <a:latin typeface="Times New Roman" panose="02020603050405020304" pitchFamily="18" charset="0"/>
                <a:cs typeface="Times New Roman" panose="02020603050405020304" pitchFamily="18" charset="0"/>
              </a:rPr>
              <a:t>Optimal Decisions under </a:t>
            </a:r>
            <a:r>
              <a:rPr lang="en-US" altLang="zh-CN" sz="2800" dirty="0" smtClean="0">
                <a:latin typeface="Times New Roman" panose="02020603050405020304" pitchFamily="18" charset="0"/>
                <a:cs typeface="Times New Roman" panose="02020603050405020304" pitchFamily="18" charset="0"/>
              </a:rPr>
              <a:t>Non-cooperative </a:t>
            </a:r>
            <a:r>
              <a:rPr lang="en-US" altLang="zh-CN" sz="2800" dirty="0">
                <a:latin typeface="Times New Roman" panose="02020603050405020304" pitchFamily="18" charset="0"/>
                <a:cs typeface="Times New Roman" panose="02020603050405020304" pitchFamily="18" charset="0"/>
              </a:rPr>
              <a:t>R&amp;D </a:t>
            </a:r>
          </a:p>
        </p:txBody>
      </p:sp>
      <p:sp>
        <p:nvSpPr>
          <p:cNvPr id="3" name="内容占位符 2"/>
          <p:cNvSpPr>
            <a:spLocks noGrp="1"/>
          </p:cNvSpPr>
          <p:nvPr>
            <p:ph idx="1"/>
          </p:nvPr>
        </p:nvSpPr>
        <p:spPr/>
        <p:txBody>
          <a:bodyPr/>
          <a:lstStyle/>
          <a:p>
            <a:pPr marL="0" indent="0" algn="just">
              <a:buNone/>
            </a:pPr>
            <a:r>
              <a:rPr lang="en-US" altLang="zh-CN" sz="2000" dirty="0" smtClean="0">
                <a:latin typeface="Times New Roman" panose="02020603050405020304" pitchFamily="18" charset="0"/>
                <a:cs typeface="Times New Roman" panose="02020603050405020304" pitchFamily="18" charset="0"/>
              </a:rPr>
              <a:t>We </a:t>
            </a:r>
            <a:r>
              <a:rPr lang="en-US" altLang="zh-CN" sz="2000" dirty="0">
                <a:latin typeface="Times New Roman" panose="02020603050405020304" pitchFamily="18" charset="0"/>
                <a:cs typeface="Times New Roman" panose="02020603050405020304" pitchFamily="18" charset="0"/>
              </a:rPr>
              <a:t>consider the case when the two manufacturers do not take cooperative R&amp;D activities. We solve the game from Stage 2 to Stage 4 by backward induction. </a:t>
            </a:r>
          </a:p>
        </p:txBody>
      </p:sp>
      <p:sp>
        <p:nvSpPr>
          <p:cNvPr id="4" name="日期占位符 3"/>
          <p:cNvSpPr>
            <a:spLocks noGrp="1"/>
          </p:cNvSpPr>
          <p:nvPr>
            <p:ph type="dt" sz="half" idx="10"/>
          </p:nvPr>
        </p:nvSpPr>
        <p:spPr>
          <a:xfrm>
            <a:off x="6837090" y="6561920"/>
            <a:ext cx="2306910" cy="243205"/>
          </a:xfrm>
        </p:spPr>
        <p:txBody>
          <a:bodyPr/>
          <a:lstStyle/>
          <a:p>
            <a:pPr>
              <a:defRPr/>
            </a:pPr>
            <a:fld id="{F3A3D7F9-C8A9-4379-BA51-ECEF82E7DCCC}" type="datetime4">
              <a:rPr lang="en-US" altLang="zh-CN" smtClean="0">
                <a:solidFill>
                  <a:srgbClr val="292929"/>
                </a:solidFill>
              </a:rPr>
              <a:t>April 25, 2019</a:t>
            </a:fld>
            <a:endParaRPr lang="en-US" altLang="zh-CN" dirty="0">
              <a:solidFill>
                <a:srgbClr val="292929"/>
              </a:solidFill>
            </a:endParaRPr>
          </a:p>
        </p:txBody>
      </p:sp>
      <p:sp>
        <p:nvSpPr>
          <p:cNvPr id="6" name="灯片编号占位符 5"/>
          <p:cNvSpPr>
            <a:spLocks noGrp="1"/>
          </p:cNvSpPr>
          <p:nvPr>
            <p:ph type="sldNum" sz="quarter" idx="12"/>
          </p:nvPr>
        </p:nvSpPr>
        <p:spPr>
          <a:xfrm>
            <a:off x="3923928" y="6582939"/>
            <a:ext cx="933450" cy="288925"/>
          </a:xfrm>
        </p:spPr>
        <p:txBody>
          <a:bodyPr/>
          <a:lstStyle/>
          <a:p>
            <a:fld id="{71E37E66-47ED-4E23-B805-CF9315C51031}" type="slidenum">
              <a:rPr lang="en-US" altLang="zh-CN" smtClean="0">
                <a:solidFill>
                  <a:srgbClr val="292929"/>
                </a:solidFill>
              </a:rPr>
              <a:pPr/>
              <a:t>11</a:t>
            </a:fld>
            <a:endParaRPr lang="en-US" altLang="zh-CN" dirty="0">
              <a:solidFill>
                <a:srgbClr val="292929"/>
              </a:solidFill>
            </a:endParaRPr>
          </a:p>
        </p:txBody>
      </p:sp>
      <p:sp>
        <p:nvSpPr>
          <p:cNvPr id="11" name="页脚占位符 4"/>
          <p:cNvSpPr>
            <a:spLocks noGrp="1"/>
          </p:cNvSpPr>
          <p:nvPr>
            <p:ph type="ftr" sz="quarter" idx="11"/>
          </p:nvPr>
        </p:nvSpPr>
        <p:spPr>
          <a:xfrm>
            <a:off x="0" y="6569075"/>
            <a:ext cx="3059832" cy="288925"/>
          </a:xfrm>
        </p:spPr>
        <p:txBody>
          <a:bodyPr/>
          <a:lstStyle/>
          <a:p>
            <a:pPr>
              <a:defRPr/>
            </a:pPr>
            <a:r>
              <a:rPr lang="en-US" altLang="zh-CN" smtClean="0"/>
              <a:t>Xiaolin Xu</a:t>
            </a:r>
            <a:r>
              <a:rPr lang="zh-CN" altLang="en-US" smtClean="0"/>
              <a:t>（ </a:t>
            </a:r>
            <a:r>
              <a:rPr lang="en-US" altLang="zh-CN" smtClean="0"/>
              <a:t>Nanjing University </a:t>
            </a:r>
            <a:r>
              <a:rPr lang="zh-CN" altLang="en-US" smtClean="0"/>
              <a:t>）</a:t>
            </a:r>
            <a:endParaRPr lang="en-US" altLang="zh-CN" dirty="0"/>
          </a:p>
        </p:txBody>
      </p:sp>
      <p:sp>
        <p:nvSpPr>
          <p:cNvPr id="10" name="TextBox 15"/>
          <p:cNvSpPr txBox="1"/>
          <p:nvPr/>
        </p:nvSpPr>
        <p:spPr>
          <a:xfrm>
            <a:off x="251520" y="2276872"/>
            <a:ext cx="8532948" cy="400110"/>
          </a:xfrm>
          <a:prstGeom prst="rect">
            <a:avLst/>
          </a:prstGeom>
          <a:noFill/>
        </p:spPr>
        <p:txBody>
          <a:bodyPr wrap="square" rtlCol="0">
            <a:spAutoFit/>
          </a:bodyPr>
          <a:lstStyle/>
          <a:p>
            <a:pPr marL="342900" indent="-342900">
              <a:buFont typeface="Wingdings" pitchFamily="2" charset="2"/>
              <a:buChar char="Ø"/>
            </a:pPr>
            <a:r>
              <a:rPr lang="en-US" altLang="zh-CN" sz="2000" dirty="0" smtClean="0"/>
              <a:t>Stage </a:t>
            </a:r>
            <a:r>
              <a:rPr lang="en-US" altLang="zh-CN" sz="2000" dirty="0"/>
              <a:t>4 </a:t>
            </a:r>
          </a:p>
        </p:txBody>
      </p:sp>
      <p:pic>
        <p:nvPicPr>
          <p:cNvPr id="5" name="图片 4" descr="屏幕快照 2019-04-22 下午2.35.04.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7856" y="2740830"/>
            <a:ext cx="7823200" cy="508000"/>
          </a:xfrm>
          <a:prstGeom prst="rect">
            <a:avLst/>
          </a:prstGeom>
        </p:spPr>
      </p:pic>
      <p:sp>
        <p:nvSpPr>
          <p:cNvPr id="12" name="TextBox 15"/>
          <p:cNvSpPr txBox="1"/>
          <p:nvPr/>
        </p:nvSpPr>
        <p:spPr>
          <a:xfrm>
            <a:off x="251520" y="3429000"/>
            <a:ext cx="8532948" cy="400110"/>
          </a:xfrm>
          <a:prstGeom prst="rect">
            <a:avLst/>
          </a:prstGeom>
          <a:noFill/>
        </p:spPr>
        <p:txBody>
          <a:bodyPr wrap="square" rtlCol="0">
            <a:spAutoFit/>
          </a:bodyPr>
          <a:lstStyle/>
          <a:p>
            <a:pPr marL="342900" indent="-342900">
              <a:buFont typeface="Wingdings" pitchFamily="2" charset="2"/>
              <a:buChar char="Ø"/>
            </a:pPr>
            <a:r>
              <a:rPr lang="en-US" altLang="zh-CN" sz="2000" dirty="0" smtClean="0"/>
              <a:t>Stage 3 </a:t>
            </a:r>
            <a:endParaRPr lang="en-US" altLang="zh-CN" sz="2000" dirty="0"/>
          </a:p>
        </p:txBody>
      </p:sp>
      <p:pic>
        <p:nvPicPr>
          <p:cNvPr id="8" name="图片 7" descr="屏幕快照 2019-04-22 下午2.36.28.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69888" y="3903851"/>
            <a:ext cx="6299200" cy="431800"/>
          </a:xfrm>
          <a:prstGeom prst="rect">
            <a:avLst/>
          </a:prstGeom>
        </p:spPr>
      </p:pic>
      <p:sp>
        <p:nvSpPr>
          <p:cNvPr id="14" name="TextBox 15"/>
          <p:cNvSpPr txBox="1"/>
          <p:nvPr/>
        </p:nvSpPr>
        <p:spPr>
          <a:xfrm>
            <a:off x="251520" y="4581128"/>
            <a:ext cx="8532948" cy="400110"/>
          </a:xfrm>
          <a:prstGeom prst="rect">
            <a:avLst/>
          </a:prstGeom>
          <a:noFill/>
        </p:spPr>
        <p:txBody>
          <a:bodyPr wrap="square" rtlCol="0">
            <a:spAutoFit/>
          </a:bodyPr>
          <a:lstStyle/>
          <a:p>
            <a:pPr marL="342900" indent="-342900">
              <a:buFont typeface="Wingdings" pitchFamily="2" charset="2"/>
              <a:buChar char="Ø"/>
            </a:pPr>
            <a:r>
              <a:rPr lang="en-US" altLang="zh-CN" sz="2000" dirty="0" smtClean="0"/>
              <a:t>Stage 2 </a:t>
            </a:r>
            <a:endParaRPr lang="en-US" altLang="zh-CN" sz="2000" dirty="0"/>
          </a:p>
        </p:txBody>
      </p:sp>
      <p:pic>
        <p:nvPicPr>
          <p:cNvPr id="13" name="图片 12" descr="屏幕快照 2019-04-22 下午2.38.14.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738" y="5046494"/>
            <a:ext cx="6413500" cy="635000"/>
          </a:xfrm>
          <a:prstGeom prst="rect">
            <a:avLst/>
          </a:prstGeom>
        </p:spPr>
      </p:pic>
    </p:spTree>
    <p:extLst>
      <p:ext uri="{BB962C8B-B14F-4D97-AF65-F5344CB8AC3E}">
        <p14:creationId xmlns:p14="http://schemas.microsoft.com/office/powerpoint/2010/main" val="2412535779"/>
      </p:ext>
    </p:extLst>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983" y="260988"/>
            <a:ext cx="8135937" cy="647700"/>
          </a:xfrm>
        </p:spPr>
        <p:txBody>
          <a:bodyPr/>
          <a:lstStyle/>
          <a:p>
            <a:r>
              <a:rPr lang="en-US" altLang="zh-CN" dirty="0">
                <a:latin typeface="Times New Roman" pitchFamily="18" charset="0"/>
                <a:cs typeface="Times New Roman" pitchFamily="18" charset="0"/>
              </a:rPr>
              <a:t>Model Analysis</a:t>
            </a:r>
            <a:br>
              <a:rPr lang="en-US" altLang="zh-CN" dirty="0">
                <a:latin typeface="Times New Roman" pitchFamily="18" charset="0"/>
                <a:cs typeface="Times New Roman" pitchFamily="18" charset="0"/>
              </a:rPr>
            </a:br>
            <a:endParaRPr lang="zh-CN" altLang="en-US" dirty="0"/>
          </a:p>
        </p:txBody>
      </p:sp>
      <p:sp>
        <p:nvSpPr>
          <p:cNvPr id="3" name="内容占位符 2"/>
          <p:cNvSpPr>
            <a:spLocks noGrp="1"/>
          </p:cNvSpPr>
          <p:nvPr>
            <p:ph idx="1"/>
          </p:nvPr>
        </p:nvSpPr>
        <p:spPr>
          <a:xfrm>
            <a:off x="0" y="1075870"/>
            <a:ext cx="8939525" cy="1451594"/>
          </a:xfrm>
        </p:spPr>
        <p:txBody>
          <a:bodyPr/>
          <a:lstStyle/>
          <a:p>
            <a:pPr algn="just"/>
            <a:r>
              <a:rPr lang="en-US" altLang="zh-CN" sz="2000" b="1" dirty="0">
                <a:latin typeface="Times New Roman" panose="02020603050405020304" pitchFamily="18" charset="0"/>
                <a:cs typeface="Times New Roman" panose="02020603050405020304" pitchFamily="18" charset="0"/>
              </a:rPr>
              <a:t>Proposition 1</a:t>
            </a:r>
            <a:r>
              <a:rPr lang="en-US" altLang="zh-CN" sz="2000" dirty="0"/>
              <a:t>. </a:t>
            </a:r>
            <a:r>
              <a:rPr lang="en-US" altLang="zh-CN" sz="1800" dirty="0">
                <a:latin typeface="Times New Roman" panose="02020603050405020304" pitchFamily="18" charset="0"/>
                <a:cs typeface="Times New Roman" panose="02020603050405020304" pitchFamily="18" charset="0"/>
              </a:rPr>
              <a:t>(Non-cooperative R&amp;D activities) The optimal equilibrium R&amp;D output levels of the two manufacturers satisfy </a:t>
            </a:r>
            <a:endParaRPr lang="en-US" altLang="zh-CN" sz="1800" dirty="0" smtClean="0">
              <a:latin typeface="Times New Roman" panose="02020603050405020304" pitchFamily="18" charset="0"/>
              <a:cs typeface="Times New Roman" panose="02020603050405020304" pitchFamily="18" charset="0"/>
            </a:endParaRPr>
          </a:p>
          <a:p>
            <a:endParaRPr lang="en-US" altLang="zh-CN" sz="2000" dirty="0"/>
          </a:p>
          <a:p>
            <a:endParaRPr lang="en-US" altLang="zh-CN" sz="2000" dirty="0" smtClean="0"/>
          </a:p>
          <a:p>
            <a:endParaRPr lang="en-US" altLang="zh-CN" sz="2000" dirty="0" smtClean="0">
              <a:latin typeface="Times New Roman" panose="02020603050405020304" pitchFamily="18" charset="0"/>
              <a:cs typeface="Times New Roman" panose="02020603050405020304" pitchFamily="18" charset="0"/>
            </a:endParaRPr>
          </a:p>
          <a:p>
            <a:pPr marL="0" indent="0">
              <a:buNone/>
            </a:pPr>
            <a:r>
              <a:rPr lang="en-US" altLang="zh-CN" sz="2000" dirty="0">
                <a:latin typeface="Times New Roman" panose="02020603050405020304" pitchFamily="18" charset="0"/>
                <a:cs typeface="Times New Roman" panose="02020603050405020304" pitchFamily="18" charset="0"/>
              </a:rPr>
              <a:t> </a:t>
            </a:r>
            <a:r>
              <a:rPr lang="en-US" altLang="zh-CN" sz="2000" dirty="0" smtClean="0">
                <a:latin typeface="Times New Roman" panose="02020603050405020304" pitchFamily="18" charset="0"/>
                <a:cs typeface="Times New Roman" panose="02020603050405020304" pitchFamily="18" charset="0"/>
              </a:rPr>
              <a:t>      </a:t>
            </a:r>
            <a:r>
              <a:rPr lang="en-US" altLang="zh-CN" sz="2000" dirty="0" smtClean="0">
                <a:latin typeface="Times New Roman" panose="02020603050405020304" pitchFamily="18" charset="0"/>
                <a:cs typeface="Times New Roman" panose="02020603050405020304" pitchFamily="18" charset="0"/>
              </a:rPr>
              <a:t>From </a:t>
            </a:r>
            <a:r>
              <a:rPr lang="en-US" altLang="zh-CN" sz="2000" dirty="0">
                <a:latin typeface="Times New Roman" panose="02020603050405020304" pitchFamily="18" charset="0"/>
                <a:cs typeface="Times New Roman" panose="02020603050405020304" pitchFamily="18" charset="0"/>
              </a:rPr>
              <a:t>the proposition 1 and the equations above, we can get the </a:t>
            </a:r>
            <a:r>
              <a:rPr lang="en-US" altLang="zh-CN" sz="2000" dirty="0" smtClean="0">
                <a:latin typeface="Times New Roman" panose="02020603050405020304" pitchFamily="18" charset="0"/>
                <a:cs typeface="Times New Roman" panose="02020603050405020304" pitchFamily="18" charset="0"/>
              </a:rPr>
              <a:t>equilibrium    </a:t>
            </a:r>
          </a:p>
          <a:p>
            <a:pPr marL="0" indent="0">
              <a:buNone/>
            </a:pPr>
            <a:r>
              <a:rPr lang="en-US" altLang="zh-CN" sz="2000" dirty="0">
                <a:latin typeface="Times New Roman" panose="02020603050405020304" pitchFamily="18" charset="0"/>
                <a:cs typeface="Times New Roman" panose="02020603050405020304" pitchFamily="18" charset="0"/>
              </a:rPr>
              <a:t> </a:t>
            </a:r>
            <a:r>
              <a:rPr lang="en-US" altLang="zh-CN" sz="2000" dirty="0" smtClean="0">
                <a:latin typeface="Times New Roman" panose="02020603050405020304" pitchFamily="18" charset="0"/>
                <a:cs typeface="Times New Roman" panose="02020603050405020304" pitchFamily="18" charset="0"/>
              </a:rPr>
              <a:t>      </a:t>
            </a:r>
            <a:r>
              <a:rPr lang="en-US" altLang="zh-CN" sz="2000" dirty="0" smtClean="0">
                <a:latin typeface="Times New Roman" panose="02020603050405020304" pitchFamily="18" charset="0"/>
                <a:cs typeface="Times New Roman" panose="02020603050405020304" pitchFamily="18" charset="0"/>
              </a:rPr>
              <a:t>outcomes </a:t>
            </a:r>
            <a:r>
              <a:rPr lang="en-US" altLang="zh-CN" sz="2000" dirty="0">
                <a:latin typeface="Times New Roman" panose="02020603050405020304" pitchFamily="18" charset="0"/>
                <a:cs typeface="Times New Roman" panose="02020603050405020304" pitchFamily="18" charset="0"/>
              </a:rPr>
              <a:t>in </a:t>
            </a:r>
            <a:r>
              <a:rPr lang="en-US" altLang="zh-CN" sz="2000" dirty="0" smtClean="0">
                <a:latin typeface="Times New Roman" panose="02020603050405020304" pitchFamily="18" charset="0"/>
                <a:cs typeface="Times New Roman" panose="02020603050405020304" pitchFamily="18" charset="0"/>
              </a:rPr>
              <a:t>Non-cooperative </a:t>
            </a:r>
            <a:r>
              <a:rPr lang="en-US" altLang="zh-CN" sz="2000" dirty="0">
                <a:latin typeface="Times New Roman" panose="02020603050405020304" pitchFamily="18" charset="0"/>
                <a:cs typeface="Times New Roman" panose="02020603050405020304" pitchFamily="18" charset="0"/>
              </a:rPr>
              <a:t>R&amp;D Strategy</a:t>
            </a:r>
          </a:p>
          <a:p>
            <a:endParaRPr lang="en-US" altLang="zh-CN" sz="2000" dirty="0"/>
          </a:p>
          <a:p>
            <a:endParaRPr lang="zh-CN" altLang="en-US" sz="2000" dirty="0">
              <a:latin typeface="Times New Roman" pitchFamily="18" charset="0"/>
              <a:cs typeface="Times New Roman" pitchFamily="18" charset="0"/>
            </a:endParaRPr>
          </a:p>
        </p:txBody>
      </p:sp>
      <p:sp>
        <p:nvSpPr>
          <p:cNvPr id="4" name="日期占位符 3"/>
          <p:cNvSpPr>
            <a:spLocks noGrp="1"/>
          </p:cNvSpPr>
          <p:nvPr>
            <p:ph type="dt" sz="half" idx="10"/>
          </p:nvPr>
        </p:nvSpPr>
        <p:spPr>
          <a:xfrm>
            <a:off x="6868227" y="6569075"/>
            <a:ext cx="2275773" cy="278308"/>
          </a:xfrm>
        </p:spPr>
        <p:txBody>
          <a:bodyPr/>
          <a:lstStyle/>
          <a:p>
            <a:pPr>
              <a:defRPr/>
            </a:pPr>
            <a:fld id="{D0F5568F-0AE1-4EA4-927B-AD834B352F1E}" type="datetime4">
              <a:rPr lang="en-US" altLang="zh-CN" smtClean="0">
                <a:solidFill>
                  <a:srgbClr val="292929"/>
                </a:solidFill>
              </a:rPr>
              <a:t>April 25, 2019</a:t>
            </a:fld>
            <a:endParaRPr lang="en-US" altLang="zh-CN" dirty="0">
              <a:solidFill>
                <a:srgbClr val="292929"/>
              </a:solidFill>
            </a:endParaRPr>
          </a:p>
        </p:txBody>
      </p:sp>
      <p:sp>
        <p:nvSpPr>
          <p:cNvPr id="6" name="灯片编号占位符 5"/>
          <p:cNvSpPr>
            <a:spLocks noGrp="1"/>
          </p:cNvSpPr>
          <p:nvPr>
            <p:ph type="sldNum" sz="quarter" idx="12"/>
          </p:nvPr>
        </p:nvSpPr>
        <p:spPr>
          <a:xfrm>
            <a:off x="3893865" y="6564683"/>
            <a:ext cx="933450" cy="288925"/>
          </a:xfrm>
        </p:spPr>
        <p:txBody>
          <a:bodyPr/>
          <a:lstStyle/>
          <a:p>
            <a:fld id="{71E37E66-47ED-4E23-B805-CF9315C51031}" type="slidenum">
              <a:rPr lang="en-US" altLang="zh-CN" smtClean="0">
                <a:solidFill>
                  <a:srgbClr val="292929"/>
                </a:solidFill>
              </a:rPr>
              <a:pPr/>
              <a:t>12</a:t>
            </a:fld>
            <a:endParaRPr lang="en-US" altLang="zh-CN">
              <a:solidFill>
                <a:srgbClr val="292929"/>
              </a:solidFill>
            </a:endParaRPr>
          </a:p>
        </p:txBody>
      </p:sp>
      <p:sp>
        <p:nvSpPr>
          <p:cNvPr id="21" name="页脚占位符 4"/>
          <p:cNvSpPr>
            <a:spLocks noGrp="1"/>
          </p:cNvSpPr>
          <p:nvPr>
            <p:ph type="ftr" sz="quarter" idx="11"/>
          </p:nvPr>
        </p:nvSpPr>
        <p:spPr>
          <a:xfrm>
            <a:off x="0" y="6569075"/>
            <a:ext cx="3059832" cy="288925"/>
          </a:xfrm>
        </p:spPr>
        <p:txBody>
          <a:bodyPr/>
          <a:lstStyle/>
          <a:p>
            <a:pPr>
              <a:defRPr/>
            </a:pPr>
            <a:r>
              <a:rPr lang="en-US" altLang="zh-CN" smtClean="0"/>
              <a:t>Xiaolin Xu</a:t>
            </a:r>
            <a:r>
              <a:rPr lang="zh-CN" altLang="en-US" smtClean="0"/>
              <a:t>（ </a:t>
            </a:r>
            <a:r>
              <a:rPr lang="en-US" altLang="zh-CN" smtClean="0"/>
              <a:t>Nanjing University </a:t>
            </a:r>
            <a:r>
              <a:rPr lang="zh-CN" altLang="en-US" smtClean="0"/>
              <a:t>）</a:t>
            </a:r>
            <a:endParaRPr lang="en-US" altLang="zh-CN" dirty="0"/>
          </a:p>
        </p:txBody>
      </p:sp>
      <p:pic>
        <p:nvPicPr>
          <p:cNvPr id="5" name="图片 4" descr="屏幕快照 2019-04-22 下午3.38.19.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608" y="1854896"/>
            <a:ext cx="4144429" cy="370640"/>
          </a:xfrm>
          <a:prstGeom prst="rect">
            <a:avLst/>
          </a:prstGeom>
        </p:spPr>
      </p:pic>
      <p:pic>
        <p:nvPicPr>
          <p:cNvPr id="7" name="图片 6" descr="屏幕快照 2019-04-22 下午3.38.30.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3608" y="2242187"/>
            <a:ext cx="6730752" cy="334151"/>
          </a:xfrm>
          <a:prstGeom prst="rect">
            <a:avLst/>
          </a:prstGeom>
        </p:spPr>
      </p:pic>
      <p:pic>
        <p:nvPicPr>
          <p:cNvPr id="9" name="图片 8" descr="屏幕快照 2019-04-22 下午3.42.53.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9565" y="3686141"/>
            <a:ext cx="7092304" cy="2736304"/>
          </a:xfrm>
          <a:prstGeom prst="rect">
            <a:avLst/>
          </a:prstGeom>
        </p:spPr>
      </p:pic>
    </p:spTree>
    <p:extLst>
      <p:ext uri="{BB962C8B-B14F-4D97-AF65-F5344CB8AC3E}">
        <p14:creationId xmlns:p14="http://schemas.microsoft.com/office/powerpoint/2010/main" val="3597247474"/>
      </p:ext>
    </p:extLst>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1520" y="332656"/>
            <a:ext cx="8135937" cy="647700"/>
          </a:xfrm>
        </p:spPr>
        <p:txBody>
          <a:bodyPr/>
          <a:lstStyle/>
          <a:p>
            <a:r>
              <a:rPr lang="en-US" altLang="zh-CN" sz="2800" dirty="0">
                <a:latin typeface="Times New Roman" panose="02020603050405020304" pitchFamily="18" charset="0"/>
                <a:cs typeface="Times New Roman" panose="02020603050405020304" pitchFamily="18" charset="0"/>
              </a:rPr>
              <a:t>Optimal Decisions under Cooperative R&amp;D </a:t>
            </a:r>
            <a:r>
              <a:rPr lang="en-US" altLang="zh-CN" dirty="0">
                <a:latin typeface="Times New Roman" pitchFamily="18" charset="0"/>
                <a:cs typeface="Times New Roman" pitchFamily="18" charset="0"/>
              </a:rPr>
              <a:t/>
            </a:r>
            <a:br>
              <a:rPr lang="en-US" altLang="zh-CN" dirty="0">
                <a:latin typeface="Times New Roman" pitchFamily="18" charset="0"/>
                <a:cs typeface="Times New Roman" pitchFamily="18" charset="0"/>
              </a:rPr>
            </a:br>
            <a:endParaRPr lang="zh-CN" altLang="en-US" dirty="0"/>
          </a:p>
        </p:txBody>
      </p:sp>
      <p:sp>
        <p:nvSpPr>
          <p:cNvPr id="4" name="日期占位符 3"/>
          <p:cNvSpPr>
            <a:spLocks noGrp="1"/>
          </p:cNvSpPr>
          <p:nvPr>
            <p:ph type="dt" sz="half" idx="10"/>
          </p:nvPr>
        </p:nvSpPr>
        <p:spPr>
          <a:xfrm>
            <a:off x="6256667" y="6535961"/>
            <a:ext cx="2880320" cy="288925"/>
          </a:xfrm>
        </p:spPr>
        <p:txBody>
          <a:bodyPr/>
          <a:lstStyle/>
          <a:p>
            <a:pPr>
              <a:defRPr/>
            </a:pPr>
            <a:fld id="{CDAB73D6-7BEF-44DE-8FBE-CFEAA6FEF795}" type="datetime4">
              <a:rPr lang="en-US" altLang="zh-CN" smtClean="0">
                <a:solidFill>
                  <a:srgbClr val="292929"/>
                </a:solidFill>
              </a:rPr>
              <a:t>April 25, 2019</a:t>
            </a:fld>
            <a:endParaRPr lang="en-US" altLang="zh-CN" dirty="0">
              <a:solidFill>
                <a:srgbClr val="292929"/>
              </a:solidFill>
            </a:endParaRPr>
          </a:p>
        </p:txBody>
      </p:sp>
      <p:sp>
        <p:nvSpPr>
          <p:cNvPr id="6" name="灯片编号占位符 5"/>
          <p:cNvSpPr>
            <a:spLocks noGrp="1"/>
          </p:cNvSpPr>
          <p:nvPr>
            <p:ph type="sldNum" sz="quarter" idx="12"/>
          </p:nvPr>
        </p:nvSpPr>
        <p:spPr>
          <a:xfrm>
            <a:off x="4067944" y="6525344"/>
            <a:ext cx="933450" cy="288925"/>
          </a:xfrm>
        </p:spPr>
        <p:txBody>
          <a:bodyPr/>
          <a:lstStyle/>
          <a:p>
            <a:fld id="{71E37E66-47ED-4E23-B805-CF9315C51031}" type="slidenum">
              <a:rPr lang="en-US" altLang="zh-CN" smtClean="0">
                <a:solidFill>
                  <a:srgbClr val="292929"/>
                </a:solidFill>
              </a:rPr>
              <a:pPr/>
              <a:t>13</a:t>
            </a:fld>
            <a:endParaRPr lang="en-US" altLang="zh-CN">
              <a:solidFill>
                <a:srgbClr val="292929"/>
              </a:solidFill>
            </a:endParaRPr>
          </a:p>
        </p:txBody>
      </p:sp>
      <p:sp>
        <p:nvSpPr>
          <p:cNvPr id="12" name="页脚占位符 4"/>
          <p:cNvSpPr>
            <a:spLocks noGrp="1"/>
          </p:cNvSpPr>
          <p:nvPr>
            <p:ph type="ftr" sz="quarter" idx="11"/>
          </p:nvPr>
        </p:nvSpPr>
        <p:spPr>
          <a:xfrm>
            <a:off x="0" y="6569075"/>
            <a:ext cx="3059832" cy="288925"/>
          </a:xfrm>
        </p:spPr>
        <p:txBody>
          <a:bodyPr/>
          <a:lstStyle/>
          <a:p>
            <a:pPr>
              <a:defRPr/>
            </a:pPr>
            <a:r>
              <a:rPr lang="en-US" altLang="zh-CN" smtClean="0"/>
              <a:t>Xiaolin Xu</a:t>
            </a:r>
            <a:r>
              <a:rPr lang="zh-CN" altLang="en-US" smtClean="0"/>
              <a:t>（ </a:t>
            </a:r>
            <a:r>
              <a:rPr lang="en-US" altLang="zh-CN" smtClean="0"/>
              <a:t>Nanjing University </a:t>
            </a:r>
            <a:r>
              <a:rPr lang="zh-CN" altLang="en-US" smtClean="0"/>
              <a:t>）</a:t>
            </a:r>
            <a:endParaRPr lang="en-US" altLang="zh-CN" dirty="0"/>
          </a:p>
        </p:txBody>
      </p:sp>
      <p:sp>
        <p:nvSpPr>
          <p:cNvPr id="3" name="矩形 2"/>
          <p:cNvSpPr/>
          <p:nvPr/>
        </p:nvSpPr>
        <p:spPr>
          <a:xfrm>
            <a:off x="323528" y="1715421"/>
            <a:ext cx="8568952" cy="1569660"/>
          </a:xfrm>
          <a:prstGeom prst="rect">
            <a:avLst/>
          </a:prstGeom>
        </p:spPr>
        <p:txBody>
          <a:bodyPr wrap="square">
            <a:spAutoFit/>
          </a:bodyPr>
          <a:lstStyle/>
          <a:p>
            <a:pPr algn="just"/>
            <a:r>
              <a:rPr lang="en-US" altLang="zh-CN" sz="3200" baseline="30000" dirty="0">
                <a:latin typeface="Times New Roman" panose="02020603050405020304" pitchFamily="18" charset="0"/>
                <a:cs typeface="Times New Roman" panose="02020603050405020304" pitchFamily="18" charset="0"/>
              </a:rPr>
              <a:t>Since given the R&amp;D input levels, decisions in Stages 3 and 4 are exactly the same as in the non-cooperative game, we thus focus on the joint R&amp;D investments of manufacturers in Stage 2, the objective function of which can be expressed as follows:</a:t>
            </a:r>
            <a:endParaRPr lang="zh-CN" altLang="en-US" sz="3200" dirty="0">
              <a:latin typeface="Times New Roman" panose="02020603050405020304" pitchFamily="18" charset="0"/>
              <a:cs typeface="Times New Roman" panose="02020603050405020304" pitchFamily="18" charset="0"/>
            </a:endParaRPr>
          </a:p>
        </p:txBody>
      </p:sp>
      <p:pic>
        <p:nvPicPr>
          <p:cNvPr id="5" name="图片 4" descr="屏幕快照 2019-04-22 下午3.51.58.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1540" y="3571056"/>
            <a:ext cx="8352928" cy="1098653"/>
          </a:xfrm>
          <a:prstGeom prst="rect">
            <a:avLst/>
          </a:prstGeom>
        </p:spPr>
      </p:pic>
    </p:spTree>
    <p:extLst>
      <p:ext uri="{BB962C8B-B14F-4D97-AF65-F5344CB8AC3E}">
        <p14:creationId xmlns:p14="http://schemas.microsoft.com/office/powerpoint/2010/main" val="3051734680"/>
      </p:ext>
    </p:extLst>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Times New Roman" pitchFamily="18" charset="0"/>
                <a:cs typeface="Times New Roman" pitchFamily="18" charset="0"/>
              </a:rPr>
              <a:t>Model Analysis</a:t>
            </a:r>
            <a:br>
              <a:rPr lang="en-US" altLang="zh-CN" dirty="0">
                <a:latin typeface="Times New Roman" pitchFamily="18" charset="0"/>
                <a:cs typeface="Times New Roman" pitchFamily="18" charset="0"/>
              </a:rPr>
            </a:br>
            <a:endParaRPr lang="zh-CN" altLang="en-US" dirty="0"/>
          </a:p>
        </p:txBody>
      </p:sp>
      <p:sp>
        <p:nvSpPr>
          <p:cNvPr id="4" name="日期占位符 3"/>
          <p:cNvSpPr>
            <a:spLocks noGrp="1"/>
          </p:cNvSpPr>
          <p:nvPr>
            <p:ph type="dt" sz="half" idx="10"/>
          </p:nvPr>
        </p:nvSpPr>
        <p:spPr>
          <a:xfrm>
            <a:off x="7622124" y="6535961"/>
            <a:ext cx="1483685" cy="332745"/>
          </a:xfrm>
        </p:spPr>
        <p:txBody>
          <a:bodyPr/>
          <a:lstStyle/>
          <a:p>
            <a:pPr>
              <a:defRPr/>
            </a:pPr>
            <a:fld id="{74C1E9DA-7C00-4B6E-BC7A-F98896AD47EC}" type="datetime4">
              <a:rPr lang="en-US" altLang="zh-CN" smtClean="0">
                <a:solidFill>
                  <a:srgbClr val="292929"/>
                </a:solidFill>
              </a:rPr>
              <a:t>April 25, 2019</a:t>
            </a:fld>
            <a:endParaRPr lang="en-US" altLang="zh-CN" dirty="0">
              <a:solidFill>
                <a:srgbClr val="292929"/>
              </a:solidFill>
            </a:endParaRPr>
          </a:p>
        </p:txBody>
      </p:sp>
      <p:sp>
        <p:nvSpPr>
          <p:cNvPr id="6" name="灯片编号占位符 5"/>
          <p:cNvSpPr>
            <a:spLocks noGrp="1"/>
          </p:cNvSpPr>
          <p:nvPr>
            <p:ph type="sldNum" sz="quarter" idx="12"/>
          </p:nvPr>
        </p:nvSpPr>
        <p:spPr>
          <a:xfrm>
            <a:off x="3671734" y="6579781"/>
            <a:ext cx="933450" cy="288925"/>
          </a:xfrm>
        </p:spPr>
        <p:txBody>
          <a:bodyPr/>
          <a:lstStyle/>
          <a:p>
            <a:fld id="{71E37E66-47ED-4E23-B805-CF9315C51031}" type="slidenum">
              <a:rPr lang="en-US" altLang="zh-CN" smtClean="0">
                <a:solidFill>
                  <a:srgbClr val="292929"/>
                </a:solidFill>
              </a:rPr>
              <a:pPr/>
              <a:t>14</a:t>
            </a:fld>
            <a:endParaRPr lang="en-US" altLang="zh-CN">
              <a:solidFill>
                <a:srgbClr val="292929"/>
              </a:solidFill>
            </a:endParaRPr>
          </a:p>
        </p:txBody>
      </p:sp>
      <p:sp>
        <p:nvSpPr>
          <p:cNvPr id="14" name="页脚占位符 4"/>
          <p:cNvSpPr>
            <a:spLocks noGrp="1"/>
          </p:cNvSpPr>
          <p:nvPr>
            <p:ph type="ftr" sz="quarter" idx="11"/>
          </p:nvPr>
        </p:nvSpPr>
        <p:spPr>
          <a:xfrm>
            <a:off x="0" y="6569075"/>
            <a:ext cx="3059832" cy="288925"/>
          </a:xfrm>
        </p:spPr>
        <p:txBody>
          <a:bodyPr/>
          <a:lstStyle/>
          <a:p>
            <a:pPr>
              <a:defRPr/>
            </a:pPr>
            <a:r>
              <a:rPr lang="en-US" altLang="zh-CN" smtClean="0"/>
              <a:t>Xiaolin Xu</a:t>
            </a:r>
            <a:r>
              <a:rPr lang="zh-CN" altLang="en-US" smtClean="0"/>
              <a:t>（ </a:t>
            </a:r>
            <a:r>
              <a:rPr lang="en-US" altLang="zh-CN" smtClean="0"/>
              <a:t>Nanjing University </a:t>
            </a:r>
            <a:r>
              <a:rPr lang="zh-CN" altLang="en-US" smtClean="0"/>
              <a:t>）</a:t>
            </a:r>
            <a:endParaRPr lang="en-US" altLang="zh-CN" dirty="0"/>
          </a:p>
        </p:txBody>
      </p:sp>
      <p:sp>
        <p:nvSpPr>
          <p:cNvPr id="15" name="内容占位符 2"/>
          <p:cNvSpPr>
            <a:spLocks noGrp="1"/>
          </p:cNvSpPr>
          <p:nvPr>
            <p:ph idx="1"/>
          </p:nvPr>
        </p:nvSpPr>
        <p:spPr>
          <a:xfrm>
            <a:off x="24963" y="1124744"/>
            <a:ext cx="8867517" cy="5256212"/>
          </a:xfrm>
        </p:spPr>
        <p:txBody>
          <a:bodyPr/>
          <a:lstStyle/>
          <a:p>
            <a:pPr algn="just"/>
            <a:r>
              <a:rPr lang="en-US" altLang="zh-CN" sz="2000" b="1" dirty="0">
                <a:latin typeface="Times New Roman" panose="02020603050405020304" pitchFamily="18" charset="0"/>
                <a:cs typeface="Times New Roman" panose="02020603050405020304" pitchFamily="18" charset="0"/>
              </a:rPr>
              <a:t>Proposition 2</a:t>
            </a:r>
            <a:r>
              <a:rPr lang="en-US" altLang="zh-CN" sz="2000" dirty="0">
                <a:latin typeface="Times New Roman" panose="02020603050405020304" pitchFamily="18" charset="0"/>
                <a:cs typeface="Times New Roman" panose="02020603050405020304" pitchFamily="18" charset="0"/>
              </a:rPr>
              <a:t>. (Cooperative R&amp;D activities)The optimal joint R&amp;D output levels under coop- </a:t>
            </a:r>
            <a:r>
              <a:rPr lang="en-US" altLang="zh-CN" sz="2000" dirty="0" err="1">
                <a:latin typeface="Times New Roman" panose="02020603050405020304" pitchFamily="18" charset="0"/>
                <a:cs typeface="Times New Roman" panose="02020603050405020304" pitchFamily="18" charset="0"/>
              </a:rPr>
              <a:t>erative</a:t>
            </a:r>
            <a:r>
              <a:rPr lang="en-US" altLang="zh-CN" sz="2000" dirty="0">
                <a:latin typeface="Times New Roman" panose="02020603050405020304" pitchFamily="18" charset="0"/>
                <a:cs typeface="Times New Roman" panose="02020603050405020304" pitchFamily="18" charset="0"/>
              </a:rPr>
              <a:t> R&amp;D strategy satisfy </a:t>
            </a:r>
          </a:p>
          <a:p>
            <a:endParaRPr lang="en-US" altLang="zh-CN" sz="2000" dirty="0"/>
          </a:p>
          <a:p>
            <a:pPr marL="0" indent="0">
              <a:buNone/>
            </a:pPr>
            <a:endParaRPr lang="en-US" altLang="zh-CN" sz="2000" dirty="0"/>
          </a:p>
          <a:p>
            <a:pPr marL="0" indent="0">
              <a:buNone/>
            </a:pPr>
            <a:endParaRPr lang="en-US" altLang="zh-CN" sz="2000" dirty="0"/>
          </a:p>
          <a:p>
            <a:pPr marL="0" indent="0">
              <a:buNone/>
            </a:pPr>
            <a:r>
              <a:rPr lang="en-US" altLang="zh-CN" sz="2000" dirty="0" smtClean="0">
                <a:latin typeface="Times New Roman" panose="02020603050405020304" pitchFamily="18" charset="0"/>
                <a:cs typeface="Times New Roman" panose="02020603050405020304" pitchFamily="18" charset="0"/>
              </a:rPr>
              <a:t>       From </a:t>
            </a:r>
            <a:r>
              <a:rPr lang="en-US" altLang="zh-CN" sz="2000" dirty="0">
                <a:latin typeface="Times New Roman" panose="02020603050405020304" pitchFamily="18" charset="0"/>
                <a:cs typeface="Times New Roman" panose="02020603050405020304" pitchFamily="18" charset="0"/>
              </a:rPr>
              <a:t>the proposition </a:t>
            </a:r>
            <a:r>
              <a:rPr lang="en-US" altLang="zh-CN" sz="2000" dirty="0" smtClean="0">
                <a:latin typeface="Times New Roman" panose="02020603050405020304" pitchFamily="18" charset="0"/>
                <a:cs typeface="Times New Roman" panose="02020603050405020304" pitchFamily="18" charset="0"/>
              </a:rPr>
              <a:t>2 </a:t>
            </a:r>
            <a:r>
              <a:rPr lang="en-US" altLang="zh-CN" sz="2000" dirty="0">
                <a:latin typeface="Times New Roman" panose="02020603050405020304" pitchFamily="18" charset="0"/>
                <a:cs typeface="Times New Roman" panose="02020603050405020304" pitchFamily="18" charset="0"/>
              </a:rPr>
              <a:t>and the equations above, we can get the equilibrium </a:t>
            </a:r>
            <a:r>
              <a:rPr lang="en-US" altLang="zh-CN" sz="2000" dirty="0" smtClean="0">
                <a:latin typeface="Times New Roman" panose="02020603050405020304" pitchFamily="18" charset="0"/>
                <a:cs typeface="Times New Roman" panose="02020603050405020304" pitchFamily="18" charset="0"/>
              </a:rPr>
              <a:t>   </a:t>
            </a:r>
          </a:p>
          <a:p>
            <a:pPr marL="0" indent="0">
              <a:buNone/>
            </a:pPr>
            <a:r>
              <a:rPr lang="en-US" altLang="zh-CN" sz="2000" dirty="0">
                <a:latin typeface="Times New Roman" panose="02020603050405020304" pitchFamily="18" charset="0"/>
                <a:cs typeface="Times New Roman" panose="02020603050405020304" pitchFamily="18" charset="0"/>
              </a:rPr>
              <a:t> </a:t>
            </a:r>
            <a:r>
              <a:rPr lang="en-US" altLang="zh-CN" sz="2000" dirty="0" smtClean="0">
                <a:latin typeface="Times New Roman" panose="02020603050405020304" pitchFamily="18" charset="0"/>
                <a:cs typeface="Times New Roman" panose="02020603050405020304" pitchFamily="18" charset="0"/>
              </a:rPr>
              <a:t>     </a:t>
            </a:r>
            <a:r>
              <a:rPr lang="en-US" altLang="zh-CN" sz="2000" dirty="0" smtClean="0">
                <a:latin typeface="Times New Roman" panose="02020603050405020304" pitchFamily="18" charset="0"/>
                <a:cs typeface="Times New Roman" panose="02020603050405020304" pitchFamily="18" charset="0"/>
              </a:rPr>
              <a:t>outcomes </a:t>
            </a:r>
            <a:r>
              <a:rPr lang="en-US" altLang="zh-CN" sz="2000" dirty="0">
                <a:latin typeface="Times New Roman" panose="02020603050405020304" pitchFamily="18" charset="0"/>
                <a:cs typeface="Times New Roman" panose="02020603050405020304" pitchFamily="18" charset="0"/>
              </a:rPr>
              <a:t>in </a:t>
            </a:r>
            <a:r>
              <a:rPr lang="en-US" altLang="zh-CN" sz="2000" dirty="0" smtClean="0">
                <a:latin typeface="Times New Roman" panose="02020603050405020304" pitchFamily="18" charset="0"/>
                <a:cs typeface="Times New Roman" panose="02020603050405020304" pitchFamily="18" charset="0"/>
              </a:rPr>
              <a:t>Cooperative </a:t>
            </a:r>
            <a:r>
              <a:rPr lang="en-US" altLang="zh-CN" sz="2000" dirty="0">
                <a:latin typeface="Times New Roman" panose="02020603050405020304" pitchFamily="18" charset="0"/>
                <a:cs typeface="Times New Roman" panose="02020603050405020304" pitchFamily="18" charset="0"/>
              </a:rPr>
              <a:t>R&amp;D Strategy</a:t>
            </a:r>
          </a:p>
          <a:p>
            <a:endParaRPr lang="en-US" altLang="zh-CN" sz="2000" dirty="0"/>
          </a:p>
          <a:p>
            <a:endParaRPr lang="zh-CN" altLang="en-US" sz="2000" dirty="0">
              <a:latin typeface="Times New Roman" pitchFamily="18" charset="0"/>
              <a:cs typeface="Times New Roman" pitchFamily="18" charset="0"/>
            </a:endParaRPr>
          </a:p>
        </p:txBody>
      </p:sp>
      <p:pic>
        <p:nvPicPr>
          <p:cNvPr id="10" name="图片 9" descr="屏幕快照 2019-04-22 下午4.16.5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2392" y="1870719"/>
            <a:ext cx="4314108" cy="400764"/>
          </a:xfrm>
          <a:prstGeom prst="rect">
            <a:avLst/>
          </a:prstGeom>
        </p:spPr>
      </p:pic>
      <p:pic>
        <p:nvPicPr>
          <p:cNvPr id="11" name="图片 10" descr="屏幕快照 2019-04-22 下午4.17.02.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7896" y="2370895"/>
            <a:ext cx="6324228" cy="368625"/>
          </a:xfrm>
          <a:prstGeom prst="rect">
            <a:avLst/>
          </a:prstGeom>
        </p:spPr>
      </p:pic>
      <p:pic>
        <p:nvPicPr>
          <p:cNvPr id="12" name="图片 11" descr="屏幕快照 2019-04-22 下午4.18.38.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2934" y="3641306"/>
            <a:ext cx="6946694" cy="2739650"/>
          </a:xfrm>
          <a:prstGeom prst="rect">
            <a:avLst/>
          </a:prstGeom>
        </p:spPr>
      </p:pic>
    </p:spTree>
    <p:extLst>
      <p:ext uri="{BB962C8B-B14F-4D97-AF65-F5344CB8AC3E}">
        <p14:creationId xmlns:p14="http://schemas.microsoft.com/office/powerpoint/2010/main" val="1993091061"/>
      </p:ext>
    </p:extLst>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1521" y="332656"/>
            <a:ext cx="7992888" cy="647700"/>
          </a:xfrm>
        </p:spPr>
        <p:txBody>
          <a:bodyPr/>
          <a:lstStyle/>
          <a:p>
            <a:r>
              <a:rPr lang="en-US" altLang="zh-CN" sz="2800" dirty="0">
                <a:latin typeface="Times New Roman" panose="02020603050405020304" pitchFamily="18" charset="0"/>
                <a:cs typeface="Times New Roman" panose="02020603050405020304" pitchFamily="18" charset="0"/>
              </a:rPr>
              <a:t>R&amp;D Strategies: Cooperative vs. </a:t>
            </a:r>
            <a:r>
              <a:rPr lang="en-US" altLang="zh-CN" sz="2800" dirty="0" smtClean="0">
                <a:latin typeface="Times New Roman" panose="02020603050405020304" pitchFamily="18" charset="0"/>
                <a:cs typeface="Times New Roman" panose="02020603050405020304" pitchFamily="18" charset="0"/>
              </a:rPr>
              <a:t>Non-cooperative </a:t>
            </a:r>
            <a:r>
              <a:rPr lang="en-US" altLang="zh-CN" sz="2800" dirty="0"/>
              <a:t/>
            </a:r>
            <a:br>
              <a:rPr lang="en-US" altLang="zh-CN" sz="2800" dirty="0"/>
            </a:br>
            <a:r>
              <a:rPr lang="en-US" altLang="zh-CN" sz="2800" dirty="0">
                <a:latin typeface="Times New Roman" pitchFamily="18" charset="0"/>
                <a:cs typeface="Times New Roman" pitchFamily="18" charset="0"/>
              </a:rPr>
              <a:t/>
            </a:r>
            <a:br>
              <a:rPr lang="en-US" altLang="zh-CN" sz="2800" dirty="0">
                <a:latin typeface="Times New Roman" pitchFamily="18" charset="0"/>
                <a:cs typeface="Times New Roman" pitchFamily="18" charset="0"/>
              </a:rPr>
            </a:br>
            <a:endParaRPr lang="zh-CN" altLang="en-US" sz="2800" dirty="0"/>
          </a:p>
        </p:txBody>
      </p:sp>
      <p:sp>
        <p:nvSpPr>
          <p:cNvPr id="4" name="日期占位符 3"/>
          <p:cNvSpPr>
            <a:spLocks noGrp="1"/>
          </p:cNvSpPr>
          <p:nvPr>
            <p:ph type="dt" sz="half" idx="10"/>
          </p:nvPr>
        </p:nvSpPr>
        <p:spPr>
          <a:xfrm>
            <a:off x="7431433" y="6542357"/>
            <a:ext cx="1625952" cy="342359"/>
          </a:xfrm>
        </p:spPr>
        <p:txBody>
          <a:bodyPr/>
          <a:lstStyle/>
          <a:p>
            <a:pPr>
              <a:defRPr/>
            </a:pPr>
            <a:fld id="{FFA91F8D-0DB2-4F4B-8872-55EE9300685D}" type="datetime4">
              <a:rPr lang="en-US" altLang="zh-CN" smtClean="0">
                <a:solidFill>
                  <a:srgbClr val="292929"/>
                </a:solidFill>
              </a:rPr>
              <a:t>April 25, 2019</a:t>
            </a:fld>
            <a:endParaRPr lang="en-US" altLang="zh-CN" dirty="0">
              <a:solidFill>
                <a:srgbClr val="292929"/>
              </a:solidFill>
            </a:endParaRPr>
          </a:p>
        </p:txBody>
      </p:sp>
      <p:sp>
        <p:nvSpPr>
          <p:cNvPr id="6" name="灯片编号占位符 5"/>
          <p:cNvSpPr>
            <a:spLocks noGrp="1"/>
          </p:cNvSpPr>
          <p:nvPr>
            <p:ph type="sldNum" sz="quarter" idx="12"/>
          </p:nvPr>
        </p:nvSpPr>
        <p:spPr>
          <a:xfrm>
            <a:off x="3923928" y="6545105"/>
            <a:ext cx="933450" cy="288925"/>
          </a:xfrm>
        </p:spPr>
        <p:txBody>
          <a:bodyPr/>
          <a:lstStyle/>
          <a:p>
            <a:fld id="{71E37E66-47ED-4E23-B805-CF9315C51031}" type="slidenum">
              <a:rPr lang="en-US" altLang="zh-CN" smtClean="0">
                <a:solidFill>
                  <a:srgbClr val="292929"/>
                </a:solidFill>
              </a:rPr>
              <a:pPr/>
              <a:t>15</a:t>
            </a:fld>
            <a:endParaRPr lang="en-US" altLang="zh-CN" dirty="0">
              <a:solidFill>
                <a:srgbClr val="292929"/>
              </a:solidFill>
            </a:endParaRPr>
          </a:p>
        </p:txBody>
      </p:sp>
      <p:sp>
        <p:nvSpPr>
          <p:cNvPr id="14" name="页脚占位符 4"/>
          <p:cNvSpPr>
            <a:spLocks noGrp="1"/>
          </p:cNvSpPr>
          <p:nvPr>
            <p:ph type="ftr" sz="quarter" idx="11"/>
          </p:nvPr>
        </p:nvSpPr>
        <p:spPr>
          <a:xfrm>
            <a:off x="0" y="6569075"/>
            <a:ext cx="3059832" cy="288925"/>
          </a:xfrm>
        </p:spPr>
        <p:txBody>
          <a:bodyPr/>
          <a:lstStyle/>
          <a:p>
            <a:pPr>
              <a:defRPr/>
            </a:pPr>
            <a:r>
              <a:rPr lang="en-US" altLang="zh-CN" smtClean="0"/>
              <a:t>Xiaolin Xu</a:t>
            </a:r>
            <a:r>
              <a:rPr lang="zh-CN" altLang="en-US" smtClean="0"/>
              <a:t>（ </a:t>
            </a:r>
            <a:r>
              <a:rPr lang="en-US" altLang="zh-CN" smtClean="0"/>
              <a:t>Nanjing University </a:t>
            </a:r>
            <a:r>
              <a:rPr lang="zh-CN" altLang="en-US" smtClean="0"/>
              <a:t>）</a:t>
            </a:r>
            <a:endParaRPr lang="en-US" altLang="zh-CN" dirty="0"/>
          </a:p>
        </p:txBody>
      </p:sp>
      <p:sp>
        <p:nvSpPr>
          <p:cNvPr id="8" name="矩形 7"/>
          <p:cNvSpPr/>
          <p:nvPr/>
        </p:nvSpPr>
        <p:spPr>
          <a:xfrm>
            <a:off x="143508" y="1679602"/>
            <a:ext cx="8712968" cy="707886"/>
          </a:xfrm>
          <a:prstGeom prst="rect">
            <a:avLst/>
          </a:prstGeom>
        </p:spPr>
        <p:txBody>
          <a:bodyPr wrap="square">
            <a:spAutoFit/>
          </a:bodyPr>
          <a:lstStyle/>
          <a:p>
            <a:r>
              <a:rPr lang="en-US" altLang="zh-CN" sz="2000" b="1" dirty="0">
                <a:latin typeface="Times New Roman" panose="02020603050405020304" pitchFamily="18" charset="0"/>
                <a:cs typeface="Times New Roman" panose="02020603050405020304" pitchFamily="18" charset="0"/>
              </a:rPr>
              <a:t>Lemma 1</a:t>
            </a:r>
            <a:r>
              <a:rPr lang="en-US" altLang="zh-CN" sz="2000" dirty="0">
                <a:latin typeface="Times New Roman" panose="02020603050405020304" pitchFamily="18" charset="0"/>
                <a:cs typeface="Times New Roman" panose="02020603050405020304" pitchFamily="18" charset="0"/>
              </a:rPr>
              <a:t>. Comparing the optimal decisions under cooperative and </a:t>
            </a:r>
            <a:r>
              <a:rPr lang="en-US" altLang="zh-CN" sz="2000" dirty="0" err="1" smtClean="0">
                <a:latin typeface="Times New Roman" panose="02020603050405020304" pitchFamily="18" charset="0"/>
                <a:cs typeface="Times New Roman" panose="02020603050405020304" pitchFamily="18" charset="0"/>
              </a:rPr>
              <a:t>noncooperative</a:t>
            </a:r>
            <a:r>
              <a:rPr lang="en-US" altLang="zh-CN" sz="2000" dirty="0" smtClean="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R&amp;D </a:t>
            </a:r>
            <a:r>
              <a:rPr lang="en-US" altLang="zh-CN" sz="2000" dirty="0" smtClean="0">
                <a:latin typeface="Times New Roman" panose="02020603050405020304" pitchFamily="18" charset="0"/>
                <a:cs typeface="Times New Roman" panose="02020603050405020304" pitchFamily="18" charset="0"/>
              </a:rPr>
              <a:t>strategies</a:t>
            </a:r>
            <a:r>
              <a:rPr lang="en-US" altLang="zh-CN" sz="2000" dirty="0">
                <a:latin typeface="Times New Roman" panose="02020603050405020304" pitchFamily="18" charset="0"/>
                <a:cs typeface="Times New Roman" panose="02020603050405020304" pitchFamily="18" charset="0"/>
              </a:rPr>
              <a:t>, we have</a:t>
            </a:r>
            <a:endParaRPr lang="en-US" altLang="zh-CN" sz="2000" dirty="0">
              <a:latin typeface="Times New Roman" panose="02020603050405020304" pitchFamily="18" charset="0"/>
              <a:cs typeface="Times New Roman" panose="02020603050405020304" pitchFamily="18" charset="0"/>
            </a:endParaRPr>
          </a:p>
        </p:txBody>
      </p:sp>
      <p:pic>
        <p:nvPicPr>
          <p:cNvPr id="3" name="图片 2"/>
          <p:cNvPicPr>
            <a:picLocks noChangeAspect="1"/>
          </p:cNvPicPr>
          <p:nvPr/>
        </p:nvPicPr>
        <p:blipFill>
          <a:blip r:embed="rId2"/>
          <a:stretch>
            <a:fillRect/>
          </a:stretch>
        </p:blipFill>
        <p:spPr>
          <a:xfrm>
            <a:off x="767289" y="2841948"/>
            <a:ext cx="7753437" cy="1183129"/>
          </a:xfrm>
          <a:prstGeom prst="rect">
            <a:avLst/>
          </a:prstGeom>
        </p:spPr>
      </p:pic>
      <p:sp>
        <p:nvSpPr>
          <p:cNvPr id="7" name="矩形 6"/>
          <p:cNvSpPr/>
          <p:nvPr/>
        </p:nvSpPr>
        <p:spPr>
          <a:xfrm>
            <a:off x="423260" y="4627393"/>
            <a:ext cx="8424936" cy="1015663"/>
          </a:xfrm>
          <a:prstGeom prst="rect">
            <a:avLst/>
          </a:prstGeom>
        </p:spPr>
        <p:txBody>
          <a:bodyPr wrap="square">
            <a:spAutoFit/>
          </a:bodyPr>
          <a:lstStyle/>
          <a:p>
            <a:pPr algn="just"/>
            <a:r>
              <a:rPr lang="en-US" altLang="zh-CN" sz="2000" dirty="0">
                <a:solidFill>
                  <a:srgbClr val="000000"/>
                </a:solidFill>
                <a:latin typeface="Times New Roman" panose="02020603050405020304" pitchFamily="18" charset="0"/>
                <a:cs typeface="Times New Roman" panose="02020603050405020304" pitchFamily="18" charset="0"/>
              </a:rPr>
              <a:t>Based on Lemma </a:t>
            </a:r>
            <a:r>
              <a:rPr lang="en-US" altLang="zh-CN" sz="2000" dirty="0">
                <a:solidFill>
                  <a:srgbClr val="001473"/>
                </a:solidFill>
                <a:latin typeface="Times New Roman" panose="02020603050405020304" pitchFamily="18" charset="0"/>
                <a:cs typeface="Times New Roman" panose="02020603050405020304" pitchFamily="18" charset="0"/>
              </a:rPr>
              <a:t>1</a:t>
            </a:r>
            <a:r>
              <a:rPr lang="en-US" altLang="zh-CN" sz="2000" dirty="0">
                <a:solidFill>
                  <a:srgbClr val="000000"/>
                </a:solidFill>
                <a:latin typeface="Times New Roman" panose="02020603050405020304" pitchFamily="18" charset="0"/>
                <a:cs typeface="Times New Roman" panose="02020603050405020304" pitchFamily="18" charset="0"/>
              </a:rPr>
              <a:t>, the decisions under cooperative and </a:t>
            </a:r>
            <a:r>
              <a:rPr lang="en-US" altLang="zh-CN" sz="2000" dirty="0" err="1">
                <a:solidFill>
                  <a:srgbClr val="000000"/>
                </a:solidFill>
                <a:latin typeface="Times New Roman" panose="02020603050405020304" pitchFamily="18" charset="0"/>
                <a:cs typeface="Times New Roman" panose="02020603050405020304" pitchFamily="18" charset="0"/>
              </a:rPr>
              <a:t>noncooperative</a:t>
            </a:r>
            <a:r>
              <a:rPr lang="en-US" altLang="zh-CN" sz="2000" dirty="0">
                <a:solidFill>
                  <a:srgbClr val="000000"/>
                </a:solidFill>
                <a:latin typeface="Times New Roman" panose="02020603050405020304" pitchFamily="18" charset="0"/>
                <a:cs typeface="Times New Roman" panose="02020603050405020304" pitchFamily="18" charset="0"/>
              </a:rPr>
              <a:t> R&amp;D strategies </a:t>
            </a:r>
            <a:r>
              <a:rPr lang="en-US" altLang="zh-CN" sz="2000" dirty="0" smtClean="0">
                <a:solidFill>
                  <a:srgbClr val="000000"/>
                </a:solidFill>
                <a:latin typeface="Times New Roman" panose="02020603050405020304" pitchFamily="18" charset="0"/>
                <a:cs typeface="Times New Roman" panose="02020603050405020304" pitchFamily="18" charset="0"/>
              </a:rPr>
              <a:t>could be different</a:t>
            </a:r>
            <a:r>
              <a:rPr lang="en-US" altLang="zh-CN" sz="2000" dirty="0">
                <a:solidFill>
                  <a:srgbClr val="000000"/>
                </a:solidFill>
                <a:latin typeface="Times New Roman" panose="02020603050405020304" pitchFamily="18" charset="0"/>
                <a:cs typeface="Times New Roman" panose="02020603050405020304" pitchFamily="18" charset="0"/>
              </a:rPr>
              <a:t>, which mainly depends on the two key factors, </a:t>
            </a:r>
            <a:r>
              <a:rPr lang="en-US" altLang="zh-CN" sz="2000" i="1" dirty="0">
                <a:solidFill>
                  <a:srgbClr val="FF0000"/>
                </a:solidFill>
                <a:latin typeface="Times New Roman" panose="02020603050405020304" pitchFamily="18" charset="0"/>
                <a:cs typeface="Times New Roman" panose="02020603050405020304" pitchFamily="18" charset="0"/>
              </a:rPr>
              <a:t>the magnitude of spillover </a:t>
            </a:r>
            <a:r>
              <a:rPr lang="en-US" altLang="zh-CN" sz="2000" i="1" dirty="0" smtClean="0">
                <a:solidFill>
                  <a:srgbClr val="FF0000"/>
                </a:solidFill>
                <a:latin typeface="Times New Roman" panose="02020603050405020304" pitchFamily="18" charset="0"/>
                <a:cs typeface="Times New Roman" panose="02020603050405020304" pitchFamily="18" charset="0"/>
              </a:rPr>
              <a:t>effect</a:t>
            </a:r>
            <a:r>
              <a:rPr lang="en-US" altLang="zh-CN" sz="2000" dirty="0" smtClean="0">
                <a:solidFill>
                  <a:srgbClr val="000000"/>
                </a:solidFill>
                <a:latin typeface="Times New Roman" panose="02020603050405020304" pitchFamily="18" charset="0"/>
                <a:cs typeface="Times New Roman" panose="02020603050405020304" pitchFamily="18" charset="0"/>
              </a:rPr>
              <a:t> and </a:t>
            </a:r>
            <a:r>
              <a:rPr lang="en-US" altLang="zh-CN" sz="2000" i="1" dirty="0" smtClean="0">
                <a:solidFill>
                  <a:srgbClr val="FF0000"/>
                </a:solidFill>
                <a:latin typeface="Times New Roman" panose="02020603050405020304" pitchFamily="18" charset="0"/>
                <a:cs typeface="Times New Roman" panose="02020603050405020304" pitchFamily="18" charset="0"/>
              </a:rPr>
              <a:t>the </a:t>
            </a:r>
            <a:r>
              <a:rPr lang="en-US" altLang="zh-CN" sz="2000" i="1" dirty="0">
                <a:solidFill>
                  <a:srgbClr val="FF0000"/>
                </a:solidFill>
                <a:latin typeface="Times New Roman" panose="02020603050405020304" pitchFamily="18" charset="0"/>
                <a:cs typeface="Times New Roman" panose="02020603050405020304" pitchFamily="18" charset="0"/>
              </a:rPr>
              <a:t>initial marginal production cost</a:t>
            </a:r>
            <a:r>
              <a:rPr lang="en-US" altLang="zh-CN" sz="2000" dirty="0">
                <a:solidFill>
                  <a:srgbClr val="000000"/>
                </a:solidFill>
                <a:latin typeface="Times New Roman" panose="02020603050405020304" pitchFamily="18" charset="0"/>
                <a:cs typeface="Times New Roman" panose="02020603050405020304" pitchFamily="18" charset="0"/>
              </a:rPr>
              <a:t>.</a:t>
            </a:r>
            <a:endParaRPr lang="zh-CN"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72434384"/>
      </p:ext>
    </p:extLst>
  </p:cSld>
  <p:clrMapOvr>
    <a:masterClrMapping/>
  </p:clrMapOvr>
  <p:transition>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1521" y="332656"/>
            <a:ext cx="7992888" cy="647700"/>
          </a:xfrm>
        </p:spPr>
        <p:txBody>
          <a:bodyPr/>
          <a:lstStyle/>
          <a:p>
            <a:r>
              <a:rPr lang="en-US" altLang="zh-CN" sz="2800" dirty="0">
                <a:latin typeface="Times New Roman" panose="02020603050405020304" pitchFamily="18" charset="0"/>
                <a:cs typeface="Times New Roman" panose="02020603050405020304" pitchFamily="18" charset="0"/>
              </a:rPr>
              <a:t>R&amp;D Strategies: Cooperative vs. </a:t>
            </a:r>
            <a:r>
              <a:rPr lang="en-US" altLang="zh-CN" sz="2800" dirty="0" smtClean="0">
                <a:latin typeface="Times New Roman" panose="02020603050405020304" pitchFamily="18" charset="0"/>
                <a:cs typeface="Times New Roman" panose="02020603050405020304" pitchFamily="18" charset="0"/>
              </a:rPr>
              <a:t>Non-cooperative </a:t>
            </a:r>
            <a:r>
              <a:rPr lang="en-US" altLang="zh-CN" sz="2800" dirty="0"/>
              <a:t/>
            </a:r>
            <a:br>
              <a:rPr lang="en-US" altLang="zh-CN" sz="2800" dirty="0"/>
            </a:br>
            <a:r>
              <a:rPr lang="en-US" altLang="zh-CN" sz="2800" dirty="0">
                <a:latin typeface="Times New Roman" pitchFamily="18" charset="0"/>
                <a:cs typeface="Times New Roman" pitchFamily="18" charset="0"/>
              </a:rPr>
              <a:t/>
            </a:r>
            <a:br>
              <a:rPr lang="en-US" altLang="zh-CN" sz="2800" dirty="0">
                <a:latin typeface="Times New Roman" pitchFamily="18" charset="0"/>
                <a:cs typeface="Times New Roman" pitchFamily="18" charset="0"/>
              </a:rPr>
            </a:br>
            <a:endParaRPr lang="zh-CN" altLang="en-US" sz="2800" dirty="0"/>
          </a:p>
        </p:txBody>
      </p:sp>
      <p:sp>
        <p:nvSpPr>
          <p:cNvPr id="4" name="日期占位符 3"/>
          <p:cNvSpPr>
            <a:spLocks noGrp="1"/>
          </p:cNvSpPr>
          <p:nvPr>
            <p:ph type="dt" sz="half" idx="10"/>
          </p:nvPr>
        </p:nvSpPr>
        <p:spPr>
          <a:xfrm>
            <a:off x="7431433" y="6542357"/>
            <a:ext cx="1625952" cy="342359"/>
          </a:xfrm>
        </p:spPr>
        <p:txBody>
          <a:bodyPr/>
          <a:lstStyle/>
          <a:p>
            <a:pPr>
              <a:defRPr/>
            </a:pPr>
            <a:fld id="{FFA91F8D-0DB2-4F4B-8872-55EE9300685D}" type="datetime4">
              <a:rPr lang="en-US" altLang="zh-CN" smtClean="0">
                <a:solidFill>
                  <a:srgbClr val="292929"/>
                </a:solidFill>
              </a:rPr>
              <a:t>April 25, 2019</a:t>
            </a:fld>
            <a:endParaRPr lang="en-US" altLang="zh-CN" dirty="0">
              <a:solidFill>
                <a:srgbClr val="292929"/>
              </a:solidFill>
            </a:endParaRPr>
          </a:p>
        </p:txBody>
      </p:sp>
      <p:sp>
        <p:nvSpPr>
          <p:cNvPr id="6" name="灯片编号占位符 5"/>
          <p:cNvSpPr>
            <a:spLocks noGrp="1"/>
          </p:cNvSpPr>
          <p:nvPr>
            <p:ph type="sldNum" sz="quarter" idx="12"/>
          </p:nvPr>
        </p:nvSpPr>
        <p:spPr>
          <a:xfrm>
            <a:off x="3923928" y="6545105"/>
            <a:ext cx="933450" cy="288925"/>
          </a:xfrm>
        </p:spPr>
        <p:txBody>
          <a:bodyPr/>
          <a:lstStyle/>
          <a:p>
            <a:fld id="{71E37E66-47ED-4E23-B805-CF9315C51031}" type="slidenum">
              <a:rPr lang="en-US" altLang="zh-CN" smtClean="0">
                <a:solidFill>
                  <a:srgbClr val="292929"/>
                </a:solidFill>
              </a:rPr>
              <a:pPr/>
              <a:t>16</a:t>
            </a:fld>
            <a:endParaRPr lang="en-US" altLang="zh-CN" dirty="0">
              <a:solidFill>
                <a:srgbClr val="292929"/>
              </a:solidFill>
            </a:endParaRPr>
          </a:p>
        </p:txBody>
      </p:sp>
      <p:sp>
        <p:nvSpPr>
          <p:cNvPr id="14" name="页脚占位符 4"/>
          <p:cNvSpPr>
            <a:spLocks noGrp="1"/>
          </p:cNvSpPr>
          <p:nvPr>
            <p:ph type="ftr" sz="quarter" idx="11"/>
          </p:nvPr>
        </p:nvSpPr>
        <p:spPr>
          <a:xfrm>
            <a:off x="0" y="6569075"/>
            <a:ext cx="3059832" cy="288925"/>
          </a:xfrm>
        </p:spPr>
        <p:txBody>
          <a:bodyPr/>
          <a:lstStyle/>
          <a:p>
            <a:pPr>
              <a:defRPr/>
            </a:pPr>
            <a:r>
              <a:rPr lang="en-US" altLang="zh-CN" smtClean="0"/>
              <a:t>Xiaolin Xu</a:t>
            </a:r>
            <a:r>
              <a:rPr lang="zh-CN" altLang="en-US" smtClean="0"/>
              <a:t>（ </a:t>
            </a:r>
            <a:r>
              <a:rPr lang="en-US" altLang="zh-CN" smtClean="0"/>
              <a:t>Nanjing University </a:t>
            </a:r>
            <a:r>
              <a:rPr lang="zh-CN" altLang="en-US" smtClean="0"/>
              <a:t>）</a:t>
            </a:r>
            <a:endParaRPr lang="en-US" altLang="zh-CN" dirty="0"/>
          </a:p>
        </p:txBody>
      </p:sp>
      <p:sp>
        <p:nvSpPr>
          <p:cNvPr id="8" name="矩形 7"/>
          <p:cNvSpPr/>
          <p:nvPr/>
        </p:nvSpPr>
        <p:spPr>
          <a:xfrm>
            <a:off x="251520" y="1588400"/>
            <a:ext cx="8352928" cy="400110"/>
          </a:xfrm>
          <a:prstGeom prst="rect">
            <a:avLst/>
          </a:prstGeom>
        </p:spPr>
        <p:txBody>
          <a:bodyPr wrap="square">
            <a:spAutoFit/>
          </a:bodyPr>
          <a:lstStyle/>
          <a:p>
            <a:r>
              <a:rPr lang="en-US" altLang="zh-CN" sz="2000" b="1" dirty="0">
                <a:latin typeface="Times New Roman" panose="02020603050405020304" pitchFamily="18" charset="0"/>
                <a:cs typeface="Times New Roman" panose="02020603050405020304" pitchFamily="18" charset="0"/>
              </a:rPr>
              <a:t>Theorem 1</a:t>
            </a:r>
            <a:r>
              <a:rPr lang="en-US" altLang="zh-CN" sz="2000" dirty="0">
                <a:latin typeface="Times New Roman" panose="02020603050405020304" pitchFamily="18" charset="0"/>
                <a:cs typeface="Times New Roman" panose="02020603050405020304" pitchFamily="18" charset="0"/>
              </a:rPr>
              <a:t>. (Optimal R&amp;D Strategy</a:t>
            </a:r>
            <a:r>
              <a:rPr lang="en-US" altLang="zh-CN" sz="2000" dirty="0" smtClean="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p:txBody>
      </p:sp>
      <p:pic>
        <p:nvPicPr>
          <p:cNvPr id="5" name="图片 4" descr="屏幕快照 2019-04-22 下午7.32.1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9632" y="2203045"/>
            <a:ext cx="6624736" cy="354098"/>
          </a:xfrm>
          <a:prstGeom prst="rect">
            <a:avLst/>
          </a:prstGeom>
        </p:spPr>
      </p:pic>
      <p:pic>
        <p:nvPicPr>
          <p:cNvPr id="9" name="图片 8" descr="屏幕快照 2019-04-22 下午7.32.24.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9632" y="2688877"/>
            <a:ext cx="5860504" cy="333525"/>
          </a:xfrm>
          <a:prstGeom prst="rect">
            <a:avLst/>
          </a:prstGeom>
        </p:spPr>
      </p:pic>
      <p:sp>
        <p:nvSpPr>
          <p:cNvPr id="12" name="TextBox 6"/>
          <p:cNvSpPr txBox="1"/>
          <p:nvPr/>
        </p:nvSpPr>
        <p:spPr>
          <a:xfrm>
            <a:off x="251520" y="3451466"/>
            <a:ext cx="8496944" cy="1015663"/>
          </a:xfrm>
          <a:prstGeom prst="rect">
            <a:avLst/>
          </a:prstGeom>
          <a:noFill/>
        </p:spPr>
        <p:txBody>
          <a:bodyPr wrap="square" rtlCol="0">
            <a:spAutoFit/>
          </a:bodyPr>
          <a:lstStyle/>
          <a:p>
            <a:pPr marL="342900" indent="-342900">
              <a:buFont typeface="Wingdings" panose="05000000000000000000" pitchFamily="2" charset="2"/>
              <a:buChar char="Ø"/>
            </a:pPr>
            <a:r>
              <a:rPr lang="en-US" altLang="zh-CN" sz="2000" dirty="0">
                <a:latin typeface="Times New Roman" panose="02020603050405020304" pitchFamily="18" charset="0"/>
                <a:cs typeface="Times New Roman" panose="02020603050405020304" pitchFamily="18" charset="0"/>
              </a:rPr>
              <a:t>Theorem 1(</a:t>
            </a:r>
            <a:r>
              <a:rPr lang="en-US" altLang="zh-CN" sz="2000" dirty="0" err="1">
                <a:latin typeface="Times New Roman" panose="02020603050405020304" pitchFamily="18" charset="0"/>
                <a:cs typeface="Times New Roman" panose="02020603050405020304" pitchFamily="18" charset="0"/>
              </a:rPr>
              <a:t>i</a:t>
            </a:r>
            <a:r>
              <a:rPr lang="en-US" altLang="zh-CN" sz="2000" dirty="0">
                <a:latin typeface="Times New Roman" panose="02020603050405020304" pitchFamily="18" charset="0"/>
                <a:cs typeface="Times New Roman" panose="02020603050405020304" pitchFamily="18" charset="0"/>
              </a:rPr>
              <a:t>) shows that, when R&amp;D spillover effect is either relatively small or relatively large while the initial marginal production cost is large, coordinative R&amp;D take more benefits for the two manufacturers. </a:t>
            </a:r>
          </a:p>
        </p:txBody>
      </p:sp>
      <p:sp>
        <p:nvSpPr>
          <p:cNvPr id="13" name="TextBox 6"/>
          <p:cNvSpPr txBox="1"/>
          <p:nvPr/>
        </p:nvSpPr>
        <p:spPr>
          <a:xfrm>
            <a:off x="274794" y="4858626"/>
            <a:ext cx="8473670" cy="1015663"/>
          </a:xfrm>
          <a:prstGeom prst="rect">
            <a:avLst/>
          </a:prstGeom>
          <a:noFill/>
        </p:spPr>
        <p:txBody>
          <a:bodyPr wrap="square" rtlCol="0">
            <a:spAutoFit/>
          </a:bodyPr>
          <a:lstStyle/>
          <a:p>
            <a:pPr marL="342900" indent="-342900" algn="just">
              <a:buFont typeface="Wingdings" panose="05000000000000000000" pitchFamily="2" charset="2"/>
              <a:buChar char="Ø"/>
            </a:pPr>
            <a:r>
              <a:rPr lang="en-US" altLang="zh-CN" sz="2000" dirty="0">
                <a:latin typeface="Times New Roman" panose="02020603050405020304" pitchFamily="18" charset="0"/>
                <a:cs typeface="Times New Roman" panose="02020603050405020304" pitchFamily="18" charset="0"/>
              </a:rPr>
              <a:t>Theorem 1(ii) shows that if the initial marginal production cost is lower </a:t>
            </a:r>
            <a:r>
              <a:rPr lang="en-US" altLang="zh-CN" sz="2000" dirty="0" smtClean="0">
                <a:latin typeface="Times New Roman" panose="02020603050405020304" pitchFamily="18" charset="0"/>
                <a:cs typeface="Times New Roman" panose="02020603050405020304" pitchFamily="18" charset="0"/>
              </a:rPr>
              <a:t>enough, </a:t>
            </a:r>
            <a:r>
              <a:rPr lang="en-US" altLang="zh-CN" sz="2000" dirty="0">
                <a:latin typeface="Times New Roman" panose="02020603050405020304" pitchFamily="18" charset="0"/>
                <a:cs typeface="Times New Roman" panose="02020603050405020304" pitchFamily="18" charset="0"/>
              </a:rPr>
              <a:t>then no matter how high the spillover effect is, there is no extra benefit for the two manufacturers to cooperate in R&amp;D activities. </a:t>
            </a:r>
          </a:p>
        </p:txBody>
      </p:sp>
    </p:spTree>
    <p:extLst>
      <p:ext uri="{BB962C8B-B14F-4D97-AF65-F5344CB8AC3E}">
        <p14:creationId xmlns:p14="http://schemas.microsoft.com/office/powerpoint/2010/main" val="150203614"/>
      </p:ext>
    </p:extLst>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a:xfrm>
            <a:off x="7596336" y="6539423"/>
            <a:ext cx="1448189" cy="288925"/>
          </a:xfrm>
        </p:spPr>
        <p:txBody>
          <a:bodyPr/>
          <a:lstStyle/>
          <a:p>
            <a:pPr>
              <a:defRPr/>
            </a:pPr>
            <a:fld id="{66502DAE-7EEB-4E72-9C68-CC89A88615C4}" type="datetime4">
              <a:rPr lang="en-US" altLang="zh-CN" smtClean="0">
                <a:solidFill>
                  <a:srgbClr val="292929"/>
                </a:solidFill>
              </a:rPr>
              <a:t>April 25, 2019</a:t>
            </a:fld>
            <a:endParaRPr lang="en-US" altLang="zh-CN" dirty="0">
              <a:solidFill>
                <a:srgbClr val="292929"/>
              </a:solidFill>
            </a:endParaRPr>
          </a:p>
        </p:txBody>
      </p:sp>
      <p:sp>
        <p:nvSpPr>
          <p:cNvPr id="6" name="灯片编号占位符 5"/>
          <p:cNvSpPr>
            <a:spLocks noGrp="1"/>
          </p:cNvSpPr>
          <p:nvPr>
            <p:ph type="sldNum" sz="quarter" idx="12"/>
          </p:nvPr>
        </p:nvSpPr>
        <p:spPr>
          <a:xfrm>
            <a:off x="3724799" y="6539423"/>
            <a:ext cx="933450" cy="288925"/>
          </a:xfrm>
        </p:spPr>
        <p:txBody>
          <a:bodyPr/>
          <a:lstStyle/>
          <a:p>
            <a:fld id="{71E37E66-47ED-4E23-B805-CF9315C51031}" type="slidenum">
              <a:rPr lang="en-US" altLang="zh-CN" smtClean="0">
                <a:solidFill>
                  <a:srgbClr val="292929"/>
                </a:solidFill>
              </a:rPr>
              <a:pPr/>
              <a:t>17</a:t>
            </a:fld>
            <a:endParaRPr lang="en-US" altLang="zh-CN" dirty="0">
              <a:solidFill>
                <a:srgbClr val="292929"/>
              </a:solidFill>
            </a:endParaRPr>
          </a:p>
        </p:txBody>
      </p:sp>
      <p:sp>
        <p:nvSpPr>
          <p:cNvPr id="9" name="页脚占位符 4"/>
          <p:cNvSpPr>
            <a:spLocks noGrp="1"/>
          </p:cNvSpPr>
          <p:nvPr>
            <p:ph type="ftr" sz="quarter" idx="11"/>
          </p:nvPr>
        </p:nvSpPr>
        <p:spPr>
          <a:xfrm>
            <a:off x="0" y="6569075"/>
            <a:ext cx="3059832" cy="288925"/>
          </a:xfrm>
        </p:spPr>
        <p:txBody>
          <a:bodyPr/>
          <a:lstStyle/>
          <a:p>
            <a:pPr>
              <a:defRPr/>
            </a:pPr>
            <a:r>
              <a:rPr lang="en-US" altLang="zh-CN" smtClean="0"/>
              <a:t>Xiaolin Xu</a:t>
            </a:r>
            <a:r>
              <a:rPr lang="zh-CN" altLang="en-US" smtClean="0"/>
              <a:t>（ </a:t>
            </a:r>
            <a:r>
              <a:rPr lang="en-US" altLang="zh-CN" smtClean="0"/>
              <a:t>Nanjing University </a:t>
            </a:r>
            <a:r>
              <a:rPr lang="zh-CN" altLang="en-US" smtClean="0"/>
              <a:t>）</a:t>
            </a:r>
            <a:endParaRPr lang="en-US" altLang="zh-CN" dirty="0"/>
          </a:p>
        </p:txBody>
      </p:sp>
      <p:sp>
        <p:nvSpPr>
          <p:cNvPr id="10" name="标题 1"/>
          <p:cNvSpPr>
            <a:spLocks noGrp="1"/>
          </p:cNvSpPr>
          <p:nvPr>
            <p:ph type="title"/>
          </p:nvPr>
        </p:nvSpPr>
        <p:spPr>
          <a:xfrm>
            <a:off x="251521" y="332656"/>
            <a:ext cx="7992888" cy="647700"/>
          </a:xfrm>
        </p:spPr>
        <p:txBody>
          <a:bodyPr/>
          <a:lstStyle/>
          <a:p>
            <a:r>
              <a:rPr lang="en-US" altLang="zh-CN" sz="2800" dirty="0">
                <a:latin typeface="Times New Roman" panose="02020603050405020304" pitchFamily="18" charset="0"/>
                <a:cs typeface="Times New Roman" panose="02020603050405020304" pitchFamily="18" charset="0"/>
              </a:rPr>
              <a:t>R&amp;D Strategies: Cooperative vs. </a:t>
            </a:r>
            <a:r>
              <a:rPr lang="en-US" altLang="zh-CN" sz="2800" dirty="0" err="1">
                <a:latin typeface="Times New Roman" panose="02020603050405020304" pitchFamily="18" charset="0"/>
                <a:cs typeface="Times New Roman" panose="02020603050405020304" pitchFamily="18" charset="0"/>
              </a:rPr>
              <a:t>Noncooperative</a:t>
            </a:r>
            <a:r>
              <a:rPr lang="en-US" altLang="zh-CN" sz="2800" dirty="0">
                <a:latin typeface="Times New Roman" panose="02020603050405020304" pitchFamily="18" charset="0"/>
                <a:cs typeface="Times New Roman" panose="02020603050405020304" pitchFamily="18" charset="0"/>
              </a:rPr>
              <a:t> </a:t>
            </a:r>
            <a:r>
              <a:rPr lang="en-US" altLang="zh-CN" sz="2800" dirty="0"/>
              <a:t/>
            </a:r>
            <a:br>
              <a:rPr lang="en-US" altLang="zh-CN" sz="2800" dirty="0"/>
            </a:br>
            <a:r>
              <a:rPr lang="en-US" altLang="zh-CN" sz="2800" dirty="0">
                <a:latin typeface="Times New Roman" pitchFamily="18" charset="0"/>
                <a:cs typeface="Times New Roman" pitchFamily="18" charset="0"/>
              </a:rPr>
              <a:t/>
            </a:r>
            <a:br>
              <a:rPr lang="en-US" altLang="zh-CN" sz="2800" dirty="0">
                <a:latin typeface="Times New Roman" pitchFamily="18" charset="0"/>
                <a:cs typeface="Times New Roman" pitchFamily="18" charset="0"/>
              </a:rPr>
            </a:br>
            <a:endParaRPr lang="zh-CN" altLang="en-US" sz="2800" dirty="0"/>
          </a:p>
        </p:txBody>
      </p:sp>
      <p:pic>
        <p:nvPicPr>
          <p:cNvPr id="2" name="图片 1" descr="2.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58786" y="1524854"/>
            <a:ext cx="6198926" cy="4784466"/>
          </a:xfrm>
          <a:prstGeom prst="rect">
            <a:avLst/>
          </a:prstGeom>
        </p:spPr>
      </p:pic>
      <p:sp>
        <p:nvSpPr>
          <p:cNvPr id="12" name="矩形 11"/>
          <p:cNvSpPr/>
          <p:nvPr/>
        </p:nvSpPr>
        <p:spPr>
          <a:xfrm>
            <a:off x="251520" y="1124744"/>
            <a:ext cx="8352928" cy="400110"/>
          </a:xfrm>
          <a:prstGeom prst="rect">
            <a:avLst/>
          </a:prstGeom>
        </p:spPr>
        <p:txBody>
          <a:bodyPr wrap="square">
            <a:spAutoFit/>
          </a:bodyPr>
          <a:lstStyle/>
          <a:p>
            <a:r>
              <a:rPr lang="en-US" altLang="zh-CN" sz="2000" dirty="0">
                <a:latin typeface="Times New Roman" panose="02020603050405020304" pitchFamily="18" charset="0"/>
                <a:cs typeface="Times New Roman" panose="02020603050405020304" pitchFamily="18" charset="0"/>
              </a:rPr>
              <a:t>Optimal R&amp;D Strategies for Downstream Manufacturers </a:t>
            </a:r>
          </a:p>
        </p:txBody>
      </p:sp>
    </p:spTree>
    <p:extLst>
      <p:ext uri="{BB962C8B-B14F-4D97-AF65-F5344CB8AC3E}">
        <p14:creationId xmlns:p14="http://schemas.microsoft.com/office/powerpoint/2010/main" val="2243574232"/>
      </p:ext>
    </p:extLst>
  </p:cSld>
  <p:clrMapOvr>
    <a:masterClrMapping/>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7504" y="251182"/>
            <a:ext cx="8135937" cy="647700"/>
          </a:xfrm>
        </p:spPr>
        <p:txBody>
          <a:bodyPr/>
          <a:lstStyle/>
          <a:p>
            <a:r>
              <a:rPr lang="en-US" altLang="zh-CN" dirty="0">
                <a:latin typeface="Times New Roman" panose="02020603050405020304" pitchFamily="18" charset="0"/>
                <a:cs typeface="Times New Roman" panose="02020603050405020304" pitchFamily="18" charset="0"/>
              </a:rPr>
              <a:t>Stability Analysis of Cooperative R&amp;D </a:t>
            </a:r>
          </a:p>
        </p:txBody>
      </p:sp>
      <p:sp>
        <p:nvSpPr>
          <p:cNvPr id="4" name="日期占位符 3"/>
          <p:cNvSpPr>
            <a:spLocks noGrp="1"/>
          </p:cNvSpPr>
          <p:nvPr>
            <p:ph type="dt" sz="half" idx="10"/>
          </p:nvPr>
        </p:nvSpPr>
        <p:spPr>
          <a:xfrm>
            <a:off x="7695117" y="6505067"/>
            <a:ext cx="1448883" cy="352933"/>
          </a:xfrm>
        </p:spPr>
        <p:txBody>
          <a:bodyPr/>
          <a:lstStyle/>
          <a:p>
            <a:pPr>
              <a:defRPr/>
            </a:pPr>
            <a:fld id="{4EADBD8C-C6CD-490A-9DD2-EB33D05196C6}" type="datetime4">
              <a:rPr lang="en-US" altLang="zh-CN" smtClean="0">
                <a:solidFill>
                  <a:srgbClr val="292929"/>
                </a:solidFill>
              </a:rPr>
              <a:t>April 25, 2019</a:t>
            </a:fld>
            <a:endParaRPr lang="en-US" altLang="zh-CN" dirty="0">
              <a:solidFill>
                <a:srgbClr val="292929"/>
              </a:solidFill>
            </a:endParaRPr>
          </a:p>
        </p:txBody>
      </p:sp>
      <p:sp>
        <p:nvSpPr>
          <p:cNvPr id="6" name="灯片编号占位符 5"/>
          <p:cNvSpPr>
            <a:spLocks noGrp="1"/>
          </p:cNvSpPr>
          <p:nvPr>
            <p:ph type="sldNum" sz="quarter" idx="12"/>
          </p:nvPr>
        </p:nvSpPr>
        <p:spPr>
          <a:xfrm>
            <a:off x="3800153" y="6545988"/>
            <a:ext cx="933450" cy="288925"/>
          </a:xfrm>
        </p:spPr>
        <p:txBody>
          <a:bodyPr/>
          <a:lstStyle/>
          <a:p>
            <a:fld id="{71E37E66-47ED-4E23-B805-CF9315C51031}" type="slidenum">
              <a:rPr lang="en-US" altLang="zh-CN" smtClean="0">
                <a:solidFill>
                  <a:srgbClr val="292929"/>
                </a:solidFill>
              </a:rPr>
              <a:pPr/>
              <a:t>18</a:t>
            </a:fld>
            <a:endParaRPr lang="en-US" altLang="zh-CN">
              <a:solidFill>
                <a:srgbClr val="292929"/>
              </a:solidFill>
            </a:endParaRPr>
          </a:p>
        </p:txBody>
      </p:sp>
      <p:sp>
        <p:nvSpPr>
          <p:cNvPr id="16" name="页脚占位符 4"/>
          <p:cNvSpPr>
            <a:spLocks noGrp="1"/>
          </p:cNvSpPr>
          <p:nvPr>
            <p:ph type="ftr" sz="quarter" idx="11"/>
          </p:nvPr>
        </p:nvSpPr>
        <p:spPr>
          <a:xfrm>
            <a:off x="0" y="6569075"/>
            <a:ext cx="3059832" cy="288925"/>
          </a:xfrm>
        </p:spPr>
        <p:txBody>
          <a:bodyPr/>
          <a:lstStyle/>
          <a:p>
            <a:pPr>
              <a:defRPr/>
            </a:pPr>
            <a:r>
              <a:rPr lang="en-US" altLang="zh-CN" smtClean="0"/>
              <a:t>Xiaolin Xu</a:t>
            </a:r>
            <a:r>
              <a:rPr lang="zh-CN" altLang="en-US" smtClean="0"/>
              <a:t>（ </a:t>
            </a:r>
            <a:r>
              <a:rPr lang="en-US" altLang="zh-CN" smtClean="0"/>
              <a:t>Nanjing University </a:t>
            </a:r>
            <a:r>
              <a:rPr lang="zh-CN" altLang="en-US" smtClean="0"/>
              <a:t>）</a:t>
            </a:r>
            <a:endParaRPr lang="en-US" altLang="zh-CN" dirty="0"/>
          </a:p>
        </p:txBody>
      </p:sp>
      <p:sp>
        <p:nvSpPr>
          <p:cNvPr id="17" name="矩形 16"/>
          <p:cNvSpPr/>
          <p:nvPr/>
        </p:nvSpPr>
        <p:spPr>
          <a:xfrm>
            <a:off x="251520" y="1414679"/>
            <a:ext cx="8892480" cy="707886"/>
          </a:xfrm>
          <a:prstGeom prst="rect">
            <a:avLst/>
          </a:prstGeom>
        </p:spPr>
        <p:txBody>
          <a:bodyPr wrap="square">
            <a:spAutoFit/>
          </a:bodyPr>
          <a:lstStyle/>
          <a:p>
            <a:r>
              <a:rPr lang="en-US" altLang="zh-CN" sz="2000" dirty="0">
                <a:latin typeface="Times New Roman" panose="02020603050405020304" pitchFamily="18" charset="0"/>
                <a:cs typeface="Times New Roman" panose="02020603050405020304" pitchFamily="18" charset="0"/>
              </a:rPr>
              <a:t>Proposition 3 shows the results on the stability of cooperative R&amp;D of the two manufacturers. </a:t>
            </a:r>
          </a:p>
        </p:txBody>
      </p:sp>
      <p:pic>
        <p:nvPicPr>
          <p:cNvPr id="10" name="图片 9" descr="屏幕快照 2019-04-22 下午9.13.19.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0864" y="2427637"/>
            <a:ext cx="8208912" cy="744907"/>
          </a:xfrm>
          <a:prstGeom prst="rect">
            <a:avLst/>
          </a:prstGeom>
        </p:spPr>
      </p:pic>
      <p:sp>
        <p:nvSpPr>
          <p:cNvPr id="18" name="矩形 17"/>
          <p:cNvSpPr/>
          <p:nvPr/>
        </p:nvSpPr>
        <p:spPr>
          <a:xfrm>
            <a:off x="328856" y="3388558"/>
            <a:ext cx="8352928" cy="2246769"/>
          </a:xfrm>
          <a:prstGeom prst="rect">
            <a:avLst/>
          </a:prstGeom>
        </p:spPr>
        <p:txBody>
          <a:bodyPr wrap="square">
            <a:spAutoFit/>
          </a:bodyPr>
          <a:lstStyle/>
          <a:p>
            <a:pPr algn="just"/>
            <a:r>
              <a:rPr lang="en-US" altLang="zh-CN" sz="2000" dirty="0">
                <a:latin typeface="Times New Roman" panose="02020603050405020304" pitchFamily="18" charset="0"/>
                <a:cs typeface="Times New Roman" panose="02020603050405020304" pitchFamily="18" charset="0"/>
              </a:rPr>
              <a:t>Proposition 3 shows that if the initial marginal production cost is high, although cooperative R&amp;D investments of the two manufacturers can improve the profitability of each, the cooperative R&amp;D strategy itself is unstable. In the absence of other coordination mechanisms, each </a:t>
            </a:r>
            <a:r>
              <a:rPr lang="en-US" altLang="zh-CN" sz="2000" dirty="0" smtClean="0">
                <a:latin typeface="Times New Roman" panose="02020603050405020304" pitchFamily="18" charset="0"/>
                <a:cs typeface="Times New Roman" panose="02020603050405020304" pitchFamily="18" charset="0"/>
              </a:rPr>
              <a:t>manufacturer </a:t>
            </a:r>
            <a:r>
              <a:rPr lang="en-US" altLang="zh-CN" sz="2000" dirty="0">
                <a:latin typeface="Times New Roman" panose="02020603050405020304" pitchFamily="18" charset="0"/>
                <a:cs typeface="Times New Roman" panose="02020603050405020304" pitchFamily="18" charset="0"/>
              </a:rPr>
              <a:t>will not adhere to the equilibrium (R&amp;D input levels under cooperation) and choose to betray. In other words, the cooperative R&amp;D of downstream manufacturers are more likely to fall into the prisoners’ dilemma. </a:t>
            </a:r>
          </a:p>
        </p:txBody>
      </p:sp>
    </p:spTree>
    <p:extLst>
      <p:ext uri="{BB962C8B-B14F-4D97-AF65-F5344CB8AC3E}">
        <p14:creationId xmlns:p14="http://schemas.microsoft.com/office/powerpoint/2010/main" val="2288592984"/>
      </p:ext>
    </p:extLst>
  </p:cSld>
  <p:clrMapOvr>
    <a:masterClrMapping/>
  </p:clrMapOvr>
  <p:transition>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a:xfrm>
            <a:off x="7524328" y="6569075"/>
            <a:ext cx="1447991" cy="278308"/>
          </a:xfrm>
        </p:spPr>
        <p:txBody>
          <a:bodyPr/>
          <a:lstStyle/>
          <a:p>
            <a:pPr>
              <a:defRPr/>
            </a:pPr>
            <a:fld id="{A39735B7-1B73-4E30-9C1C-B8B37E656CD9}" type="datetime4">
              <a:rPr lang="en-US" altLang="zh-CN" smtClean="0">
                <a:solidFill>
                  <a:srgbClr val="292929"/>
                </a:solidFill>
              </a:rPr>
              <a:t>April 25, 2019</a:t>
            </a:fld>
            <a:endParaRPr lang="en-US" altLang="zh-CN" dirty="0">
              <a:solidFill>
                <a:srgbClr val="292929"/>
              </a:solidFill>
            </a:endParaRPr>
          </a:p>
        </p:txBody>
      </p:sp>
      <p:sp>
        <p:nvSpPr>
          <p:cNvPr id="6" name="灯片编号占位符 5"/>
          <p:cNvSpPr>
            <a:spLocks noGrp="1"/>
          </p:cNvSpPr>
          <p:nvPr>
            <p:ph type="sldNum" sz="quarter" idx="12"/>
          </p:nvPr>
        </p:nvSpPr>
        <p:spPr>
          <a:xfrm>
            <a:off x="3851920" y="6596507"/>
            <a:ext cx="933450" cy="288925"/>
          </a:xfrm>
        </p:spPr>
        <p:txBody>
          <a:bodyPr/>
          <a:lstStyle/>
          <a:p>
            <a:fld id="{71E37E66-47ED-4E23-B805-CF9315C51031}" type="slidenum">
              <a:rPr lang="en-US" altLang="zh-CN" smtClean="0">
                <a:solidFill>
                  <a:srgbClr val="292929"/>
                </a:solidFill>
              </a:rPr>
              <a:pPr/>
              <a:t>19</a:t>
            </a:fld>
            <a:endParaRPr lang="en-US" altLang="zh-CN" dirty="0">
              <a:solidFill>
                <a:srgbClr val="292929"/>
              </a:solidFill>
            </a:endParaRPr>
          </a:p>
        </p:txBody>
      </p:sp>
      <p:sp>
        <p:nvSpPr>
          <p:cNvPr id="8" name="页脚占位符 4"/>
          <p:cNvSpPr>
            <a:spLocks noGrp="1"/>
          </p:cNvSpPr>
          <p:nvPr>
            <p:ph type="ftr" sz="quarter" idx="11"/>
          </p:nvPr>
        </p:nvSpPr>
        <p:spPr>
          <a:xfrm>
            <a:off x="0" y="6569075"/>
            <a:ext cx="3059832" cy="288925"/>
          </a:xfrm>
        </p:spPr>
        <p:txBody>
          <a:bodyPr/>
          <a:lstStyle/>
          <a:p>
            <a:pPr>
              <a:defRPr/>
            </a:pPr>
            <a:r>
              <a:rPr lang="en-US" altLang="zh-CN" smtClean="0"/>
              <a:t>Xiaolin Xu</a:t>
            </a:r>
            <a:r>
              <a:rPr lang="zh-CN" altLang="en-US" smtClean="0"/>
              <a:t>（ </a:t>
            </a:r>
            <a:r>
              <a:rPr lang="en-US" altLang="zh-CN" smtClean="0"/>
              <a:t>Nanjing University </a:t>
            </a:r>
            <a:r>
              <a:rPr lang="zh-CN" altLang="en-US" smtClean="0"/>
              <a:t>）</a:t>
            </a:r>
            <a:endParaRPr lang="en-US" altLang="zh-CN" dirty="0"/>
          </a:p>
        </p:txBody>
      </p:sp>
      <p:sp>
        <p:nvSpPr>
          <p:cNvPr id="9" name="标题 1"/>
          <p:cNvSpPr txBox="1">
            <a:spLocks/>
          </p:cNvSpPr>
          <p:nvPr/>
        </p:nvSpPr>
        <p:spPr bwMode="auto">
          <a:xfrm>
            <a:off x="323528" y="260648"/>
            <a:ext cx="8135937" cy="6477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rtl="0" eaLnBrk="0" fontAlgn="base" hangingPunct="0">
              <a:spcBef>
                <a:spcPct val="0"/>
              </a:spcBef>
              <a:spcAft>
                <a:spcPct val="0"/>
              </a:spcAft>
              <a:defRPr sz="3200">
                <a:solidFill>
                  <a:srgbClr val="006600"/>
                </a:solidFill>
                <a:latin typeface="+mj-lt"/>
                <a:ea typeface="+mj-ea"/>
                <a:cs typeface="+mj-cs"/>
              </a:defRPr>
            </a:lvl1pPr>
            <a:lvl2pPr algn="l" rtl="0" eaLnBrk="0" fontAlgn="base" hangingPunct="0">
              <a:spcBef>
                <a:spcPct val="0"/>
              </a:spcBef>
              <a:spcAft>
                <a:spcPct val="0"/>
              </a:spcAft>
              <a:defRPr sz="3200">
                <a:solidFill>
                  <a:srgbClr val="006600"/>
                </a:solidFill>
                <a:latin typeface="Arial" charset="0"/>
                <a:ea typeface="黑体" pitchFamily="49" charset="-122"/>
              </a:defRPr>
            </a:lvl2pPr>
            <a:lvl3pPr algn="l" rtl="0" eaLnBrk="0" fontAlgn="base" hangingPunct="0">
              <a:spcBef>
                <a:spcPct val="0"/>
              </a:spcBef>
              <a:spcAft>
                <a:spcPct val="0"/>
              </a:spcAft>
              <a:defRPr sz="3200">
                <a:solidFill>
                  <a:srgbClr val="006600"/>
                </a:solidFill>
                <a:latin typeface="Arial" charset="0"/>
                <a:ea typeface="黑体" pitchFamily="49" charset="-122"/>
              </a:defRPr>
            </a:lvl3pPr>
            <a:lvl4pPr algn="l" rtl="0" eaLnBrk="0" fontAlgn="base" hangingPunct="0">
              <a:spcBef>
                <a:spcPct val="0"/>
              </a:spcBef>
              <a:spcAft>
                <a:spcPct val="0"/>
              </a:spcAft>
              <a:defRPr sz="3200">
                <a:solidFill>
                  <a:srgbClr val="006600"/>
                </a:solidFill>
                <a:latin typeface="Arial" charset="0"/>
                <a:ea typeface="黑体" pitchFamily="49" charset="-122"/>
              </a:defRPr>
            </a:lvl4pPr>
            <a:lvl5pPr algn="l" rtl="0" eaLnBrk="0" fontAlgn="base" hangingPunct="0">
              <a:spcBef>
                <a:spcPct val="0"/>
              </a:spcBef>
              <a:spcAft>
                <a:spcPct val="0"/>
              </a:spcAft>
              <a:defRPr sz="3200">
                <a:solidFill>
                  <a:srgbClr val="006600"/>
                </a:solidFill>
                <a:latin typeface="Arial" charset="0"/>
                <a:ea typeface="黑体" pitchFamily="49" charset="-122"/>
              </a:defRPr>
            </a:lvl5pPr>
            <a:lvl6pPr marL="457200" algn="l" rtl="0" fontAlgn="base">
              <a:spcBef>
                <a:spcPct val="0"/>
              </a:spcBef>
              <a:spcAft>
                <a:spcPct val="0"/>
              </a:spcAft>
              <a:defRPr sz="3200">
                <a:solidFill>
                  <a:srgbClr val="006600"/>
                </a:solidFill>
                <a:latin typeface="Arial" charset="0"/>
                <a:ea typeface="黑体" pitchFamily="49" charset="-122"/>
              </a:defRPr>
            </a:lvl6pPr>
            <a:lvl7pPr marL="914400" algn="l" rtl="0" fontAlgn="base">
              <a:spcBef>
                <a:spcPct val="0"/>
              </a:spcBef>
              <a:spcAft>
                <a:spcPct val="0"/>
              </a:spcAft>
              <a:defRPr sz="3200">
                <a:solidFill>
                  <a:srgbClr val="006600"/>
                </a:solidFill>
                <a:latin typeface="Arial" charset="0"/>
                <a:ea typeface="黑体" pitchFamily="49" charset="-122"/>
              </a:defRPr>
            </a:lvl7pPr>
            <a:lvl8pPr marL="1371600" algn="l" rtl="0" fontAlgn="base">
              <a:spcBef>
                <a:spcPct val="0"/>
              </a:spcBef>
              <a:spcAft>
                <a:spcPct val="0"/>
              </a:spcAft>
              <a:defRPr sz="3200">
                <a:solidFill>
                  <a:srgbClr val="006600"/>
                </a:solidFill>
                <a:latin typeface="Arial" charset="0"/>
                <a:ea typeface="黑体" pitchFamily="49" charset="-122"/>
              </a:defRPr>
            </a:lvl8pPr>
            <a:lvl9pPr marL="1828800" algn="l" rtl="0" fontAlgn="base">
              <a:spcBef>
                <a:spcPct val="0"/>
              </a:spcBef>
              <a:spcAft>
                <a:spcPct val="0"/>
              </a:spcAft>
              <a:defRPr sz="3200">
                <a:solidFill>
                  <a:srgbClr val="006600"/>
                </a:solidFill>
                <a:latin typeface="Arial" charset="0"/>
                <a:ea typeface="黑体" pitchFamily="49" charset="-122"/>
              </a:defRPr>
            </a:lvl9pPr>
          </a:lstStyle>
          <a:p>
            <a:r>
              <a:rPr lang="en-US" altLang="zh-CN" dirty="0" smtClean="0">
                <a:latin typeface="Times New Roman" panose="02020603050405020304" pitchFamily="18" charset="0"/>
                <a:cs typeface="Times New Roman" panose="02020603050405020304" pitchFamily="18" charset="0"/>
              </a:rPr>
              <a:t>Stability Analysis of Cooperative R&amp;D </a:t>
            </a:r>
            <a:endParaRPr lang="en-US" altLang="zh-CN" dirty="0">
              <a:latin typeface="Times New Roman" panose="02020603050405020304" pitchFamily="18" charset="0"/>
              <a:cs typeface="Times New Roman" panose="02020603050405020304" pitchFamily="18" charset="0"/>
            </a:endParaRPr>
          </a:p>
        </p:txBody>
      </p:sp>
      <p:sp>
        <p:nvSpPr>
          <p:cNvPr id="11" name="矩形 10"/>
          <p:cNvSpPr/>
          <p:nvPr/>
        </p:nvSpPr>
        <p:spPr>
          <a:xfrm>
            <a:off x="251520" y="1124744"/>
            <a:ext cx="8208912" cy="707886"/>
          </a:xfrm>
          <a:prstGeom prst="rect">
            <a:avLst/>
          </a:prstGeom>
        </p:spPr>
        <p:txBody>
          <a:bodyPr wrap="square">
            <a:spAutoFit/>
          </a:bodyPr>
          <a:lstStyle/>
          <a:p>
            <a:pPr algn="just"/>
            <a:r>
              <a:rPr lang="en-US" altLang="zh-CN" sz="2000" dirty="0">
                <a:latin typeface="Times New Roman" panose="02020603050405020304" pitchFamily="18" charset="0"/>
                <a:cs typeface="Times New Roman" panose="02020603050405020304" pitchFamily="18" charset="0"/>
              </a:rPr>
              <a:t>The following Proposition 4 gives the coordination mechanism of cooperative R&amp;D of </a:t>
            </a:r>
            <a:r>
              <a:rPr lang="en-US" altLang="zh-CN" sz="2000" dirty="0" smtClean="0">
                <a:latin typeface="Times New Roman" panose="02020603050405020304" pitchFamily="18" charset="0"/>
                <a:cs typeface="Times New Roman" panose="02020603050405020304" pitchFamily="18" charset="0"/>
              </a:rPr>
              <a:t>downstream </a:t>
            </a:r>
            <a:r>
              <a:rPr lang="en-US" altLang="zh-CN" sz="2000" dirty="0">
                <a:latin typeface="Times New Roman" panose="02020603050405020304" pitchFamily="18" charset="0"/>
                <a:cs typeface="Times New Roman" panose="02020603050405020304" pitchFamily="18" charset="0"/>
              </a:rPr>
              <a:t>firms. </a:t>
            </a:r>
          </a:p>
        </p:txBody>
      </p:sp>
      <p:sp>
        <p:nvSpPr>
          <p:cNvPr id="12" name="矩形 11"/>
          <p:cNvSpPr/>
          <p:nvPr/>
        </p:nvSpPr>
        <p:spPr>
          <a:xfrm>
            <a:off x="323528" y="2132856"/>
            <a:ext cx="8280920" cy="707886"/>
          </a:xfrm>
          <a:prstGeom prst="rect">
            <a:avLst/>
          </a:prstGeom>
        </p:spPr>
        <p:txBody>
          <a:bodyPr wrap="square">
            <a:spAutoFit/>
          </a:bodyPr>
          <a:lstStyle/>
          <a:p>
            <a:pPr algn="just"/>
            <a:r>
              <a:rPr lang="en-US" altLang="zh-CN" sz="2000" b="1" dirty="0">
                <a:latin typeface="Times New Roman" panose="02020603050405020304" pitchFamily="18" charset="0"/>
                <a:cs typeface="Times New Roman" panose="02020603050405020304" pitchFamily="18" charset="0"/>
              </a:rPr>
              <a:t>Proposition 4</a:t>
            </a:r>
            <a:r>
              <a:rPr lang="en-US" altLang="zh-CN" sz="2000" dirty="0">
                <a:latin typeface="Times New Roman" panose="02020603050405020304" pitchFamily="18" charset="0"/>
                <a:cs typeface="Times New Roman" panose="02020603050405020304" pitchFamily="18" charset="0"/>
              </a:rPr>
              <a:t>. From stability analysis and coordination mechanism of cooperative R&amp;D, we </a:t>
            </a:r>
            <a:r>
              <a:rPr lang="en-US" altLang="zh-CN" sz="2000" dirty="0" smtClean="0">
                <a:latin typeface="Times New Roman" panose="02020603050405020304" pitchFamily="18" charset="0"/>
                <a:cs typeface="Times New Roman" panose="02020603050405020304" pitchFamily="18" charset="0"/>
              </a:rPr>
              <a:t>have</a:t>
            </a:r>
            <a:endParaRPr lang="en-US" altLang="zh-CN" sz="2000" dirty="0">
              <a:latin typeface="Times New Roman" panose="02020603050405020304" pitchFamily="18" charset="0"/>
              <a:cs typeface="Times New Roman" panose="02020603050405020304" pitchFamily="18" charset="0"/>
            </a:endParaRPr>
          </a:p>
        </p:txBody>
      </p:sp>
      <p:pic>
        <p:nvPicPr>
          <p:cNvPr id="10" name="图片 9" descr="屏幕快照 2019-04-22 下午9.28.35.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7544" y="2981706"/>
            <a:ext cx="8136904" cy="666974"/>
          </a:xfrm>
          <a:prstGeom prst="rect">
            <a:avLst/>
          </a:prstGeom>
        </p:spPr>
      </p:pic>
      <p:pic>
        <p:nvPicPr>
          <p:cNvPr id="13" name="图片 12" descr="屏幕快照 2019-04-22 下午9.29.12.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9288" y="3832198"/>
            <a:ext cx="8136904" cy="1065007"/>
          </a:xfrm>
          <a:prstGeom prst="rect">
            <a:avLst/>
          </a:prstGeom>
        </p:spPr>
      </p:pic>
      <p:pic>
        <p:nvPicPr>
          <p:cNvPr id="14" name="图片 13" descr="屏幕快照 2019-04-22 下午9.29.28.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7104" y="5080723"/>
            <a:ext cx="8136904" cy="703385"/>
          </a:xfrm>
          <a:prstGeom prst="rect">
            <a:avLst/>
          </a:prstGeom>
        </p:spPr>
      </p:pic>
    </p:spTree>
    <p:extLst>
      <p:ext uri="{BB962C8B-B14F-4D97-AF65-F5344CB8AC3E}">
        <p14:creationId xmlns:p14="http://schemas.microsoft.com/office/powerpoint/2010/main" val="2891947758"/>
      </p:ext>
    </p:extLst>
  </p:cSld>
  <p:clrMapOvr>
    <a:masterClrMapping/>
  </p:clrMapOvr>
  <p:transition>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Social Comparisons </a:t>
            </a:r>
          </a:p>
        </p:txBody>
      </p:sp>
      <p:sp>
        <p:nvSpPr>
          <p:cNvPr id="4" name="日期占位符 3"/>
          <p:cNvSpPr>
            <a:spLocks noGrp="1"/>
          </p:cNvSpPr>
          <p:nvPr>
            <p:ph type="dt" sz="half" idx="10"/>
          </p:nvPr>
        </p:nvSpPr>
        <p:spPr>
          <a:xfrm>
            <a:off x="7524328" y="6569075"/>
            <a:ext cx="1543109" cy="288925"/>
          </a:xfrm>
        </p:spPr>
        <p:txBody>
          <a:bodyPr/>
          <a:lstStyle/>
          <a:p>
            <a:pPr>
              <a:defRPr/>
            </a:pPr>
            <a:fld id="{6F01FC85-F99B-4A72-8CFE-8BD2A909B910}" type="datetime4">
              <a:rPr lang="en-US" altLang="zh-CN" smtClean="0">
                <a:solidFill>
                  <a:srgbClr val="292929"/>
                </a:solidFill>
              </a:rPr>
              <a:t>April 25, 2019</a:t>
            </a:fld>
            <a:endParaRPr lang="en-US" altLang="zh-CN" dirty="0">
              <a:solidFill>
                <a:srgbClr val="292929"/>
              </a:solidFill>
            </a:endParaRPr>
          </a:p>
        </p:txBody>
      </p:sp>
      <p:sp>
        <p:nvSpPr>
          <p:cNvPr id="6" name="灯片编号占位符 5"/>
          <p:cNvSpPr>
            <a:spLocks noGrp="1"/>
          </p:cNvSpPr>
          <p:nvPr>
            <p:ph type="sldNum" sz="quarter" idx="12"/>
          </p:nvPr>
        </p:nvSpPr>
        <p:spPr>
          <a:xfrm>
            <a:off x="3926680" y="6545105"/>
            <a:ext cx="933450" cy="288925"/>
          </a:xfrm>
        </p:spPr>
        <p:txBody>
          <a:bodyPr/>
          <a:lstStyle/>
          <a:p>
            <a:fld id="{71E37E66-47ED-4E23-B805-CF9315C51031}" type="slidenum">
              <a:rPr lang="en-US" altLang="zh-CN" smtClean="0">
                <a:solidFill>
                  <a:srgbClr val="292929"/>
                </a:solidFill>
              </a:rPr>
              <a:pPr/>
              <a:t>20</a:t>
            </a:fld>
            <a:endParaRPr lang="en-US" altLang="zh-CN" dirty="0">
              <a:solidFill>
                <a:srgbClr val="292929"/>
              </a:solidFill>
            </a:endParaRPr>
          </a:p>
        </p:txBody>
      </p:sp>
      <p:sp>
        <p:nvSpPr>
          <p:cNvPr id="18" name="页脚占位符 4"/>
          <p:cNvSpPr>
            <a:spLocks noGrp="1"/>
          </p:cNvSpPr>
          <p:nvPr>
            <p:ph type="ftr" sz="quarter" idx="11"/>
          </p:nvPr>
        </p:nvSpPr>
        <p:spPr>
          <a:xfrm>
            <a:off x="0" y="6569075"/>
            <a:ext cx="3059832" cy="288925"/>
          </a:xfrm>
        </p:spPr>
        <p:txBody>
          <a:bodyPr/>
          <a:lstStyle/>
          <a:p>
            <a:pPr>
              <a:defRPr/>
            </a:pPr>
            <a:r>
              <a:rPr lang="en-US" altLang="zh-CN" smtClean="0"/>
              <a:t>Xiaolin Xu</a:t>
            </a:r>
            <a:r>
              <a:rPr lang="zh-CN" altLang="en-US" smtClean="0"/>
              <a:t>（ </a:t>
            </a:r>
            <a:r>
              <a:rPr lang="en-US" altLang="zh-CN" smtClean="0"/>
              <a:t>Nanjing University </a:t>
            </a:r>
            <a:r>
              <a:rPr lang="zh-CN" altLang="en-US" smtClean="0"/>
              <a:t>）</a:t>
            </a:r>
            <a:endParaRPr lang="en-US" altLang="zh-CN" dirty="0"/>
          </a:p>
        </p:txBody>
      </p:sp>
      <p:sp>
        <p:nvSpPr>
          <p:cNvPr id="20" name="矩形 19"/>
          <p:cNvSpPr/>
          <p:nvPr/>
        </p:nvSpPr>
        <p:spPr>
          <a:xfrm>
            <a:off x="395338" y="1160503"/>
            <a:ext cx="8208912" cy="707886"/>
          </a:xfrm>
          <a:prstGeom prst="rect">
            <a:avLst/>
          </a:prstGeom>
        </p:spPr>
        <p:txBody>
          <a:bodyPr wrap="square">
            <a:spAutoFit/>
          </a:bodyPr>
          <a:lstStyle/>
          <a:p>
            <a:pPr algn="just"/>
            <a:r>
              <a:rPr lang="en-US" altLang="zh-CN" sz="2000" dirty="0">
                <a:latin typeface="Times New Roman" panose="02020603050405020304" pitchFamily="18" charset="0"/>
                <a:cs typeface="Times New Roman" panose="02020603050405020304" pitchFamily="18" charset="0"/>
              </a:rPr>
              <a:t>The following Propositions 5 and 6 characterize the impacts of </a:t>
            </a:r>
            <a:r>
              <a:rPr lang="en-US" altLang="zh-CN" sz="2000" dirty="0" err="1">
                <a:latin typeface="Times New Roman" panose="02020603050405020304" pitchFamily="18" charset="0"/>
                <a:cs typeface="Times New Roman" panose="02020603050405020304" pitchFamily="18" charset="0"/>
              </a:rPr>
              <a:t>noncooperative</a:t>
            </a:r>
            <a:r>
              <a:rPr lang="en-US" altLang="zh-CN" sz="2000" dirty="0">
                <a:latin typeface="Times New Roman" panose="02020603050405020304" pitchFamily="18" charset="0"/>
                <a:cs typeface="Times New Roman" panose="02020603050405020304" pitchFamily="18" charset="0"/>
              </a:rPr>
              <a:t> and cooperative R&amp;D on consumer surplus and social welfare, respectively. </a:t>
            </a:r>
          </a:p>
        </p:txBody>
      </p:sp>
      <p:pic>
        <p:nvPicPr>
          <p:cNvPr id="9" name="图片 8" descr="屏幕快照 2019-04-22 下午9.35.29.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6268" y="1971131"/>
            <a:ext cx="3319859" cy="432721"/>
          </a:xfrm>
          <a:prstGeom prst="rect">
            <a:avLst/>
          </a:prstGeom>
        </p:spPr>
      </p:pic>
      <p:pic>
        <p:nvPicPr>
          <p:cNvPr id="10" name="图片 9" descr="屏幕快照 2019-04-22 下午9.36.05.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32138" y="1812318"/>
            <a:ext cx="2592190" cy="677674"/>
          </a:xfrm>
          <a:prstGeom prst="rect">
            <a:avLst/>
          </a:prstGeom>
        </p:spPr>
      </p:pic>
      <p:pic>
        <p:nvPicPr>
          <p:cNvPr id="11" name="图片 10" descr="屏幕快照 2019-04-22 下午9.37.14.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9551" y="2572410"/>
            <a:ext cx="8133039" cy="1930959"/>
          </a:xfrm>
          <a:prstGeom prst="rect">
            <a:avLst/>
          </a:prstGeom>
        </p:spPr>
      </p:pic>
      <p:pic>
        <p:nvPicPr>
          <p:cNvPr id="3" name="图片 2"/>
          <p:cNvPicPr>
            <a:picLocks noChangeAspect="1"/>
          </p:cNvPicPr>
          <p:nvPr/>
        </p:nvPicPr>
        <p:blipFill>
          <a:blip r:embed="rId6"/>
          <a:stretch>
            <a:fillRect/>
          </a:stretch>
        </p:blipFill>
        <p:spPr>
          <a:xfrm>
            <a:off x="539551" y="4576014"/>
            <a:ext cx="8424937" cy="1797869"/>
          </a:xfrm>
          <a:prstGeom prst="rect">
            <a:avLst/>
          </a:prstGeom>
        </p:spPr>
      </p:pic>
    </p:spTree>
    <p:extLst>
      <p:ext uri="{BB962C8B-B14F-4D97-AF65-F5344CB8AC3E}">
        <p14:creationId xmlns:p14="http://schemas.microsoft.com/office/powerpoint/2010/main" val="203809205"/>
      </p:ext>
    </p:extLst>
  </p:cSld>
  <p:clrMapOvr>
    <a:masterClrMapping/>
  </p:clrMapOvr>
  <p:transition>
    <p:fad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latin typeface="Times New Roman" pitchFamily="18" charset="0"/>
                <a:cs typeface="Times New Roman" pitchFamily="18" charset="0"/>
              </a:rPr>
              <a:t>Model Extensions</a:t>
            </a:r>
            <a:r>
              <a:rPr lang="en-US" altLang="zh-CN" dirty="0">
                <a:latin typeface="Times New Roman" pitchFamily="18" charset="0"/>
                <a:cs typeface="Times New Roman" pitchFamily="18" charset="0"/>
              </a:rPr>
              <a:t/>
            </a:r>
            <a:br>
              <a:rPr lang="en-US" altLang="zh-CN" dirty="0">
                <a:latin typeface="Times New Roman" pitchFamily="18" charset="0"/>
                <a:cs typeface="Times New Roman" pitchFamily="18" charset="0"/>
              </a:rPr>
            </a:br>
            <a:endParaRPr lang="zh-CN" altLang="en-US" dirty="0"/>
          </a:p>
        </p:txBody>
      </p:sp>
      <p:sp>
        <p:nvSpPr>
          <p:cNvPr id="4" name="日期占位符 3"/>
          <p:cNvSpPr>
            <a:spLocks noGrp="1"/>
          </p:cNvSpPr>
          <p:nvPr>
            <p:ph type="dt" sz="half" idx="10"/>
          </p:nvPr>
        </p:nvSpPr>
        <p:spPr>
          <a:xfrm>
            <a:off x="7594128" y="6599555"/>
            <a:ext cx="1539920" cy="261493"/>
          </a:xfrm>
        </p:spPr>
        <p:txBody>
          <a:bodyPr/>
          <a:lstStyle/>
          <a:p>
            <a:pPr>
              <a:defRPr/>
            </a:pPr>
            <a:fld id="{9DCD61C4-ECF0-47A2-9558-7CC00FCFBEC6}" type="datetime4">
              <a:rPr lang="en-US" altLang="zh-CN" smtClean="0">
                <a:solidFill>
                  <a:srgbClr val="292929"/>
                </a:solidFill>
              </a:rPr>
              <a:t>April 25, 2019</a:t>
            </a:fld>
            <a:endParaRPr lang="en-US" altLang="zh-CN" dirty="0">
              <a:solidFill>
                <a:srgbClr val="292929"/>
              </a:solidFill>
            </a:endParaRPr>
          </a:p>
        </p:txBody>
      </p:sp>
      <p:sp>
        <p:nvSpPr>
          <p:cNvPr id="6" name="灯片编号占位符 5"/>
          <p:cNvSpPr>
            <a:spLocks noGrp="1"/>
          </p:cNvSpPr>
          <p:nvPr>
            <p:ph type="sldNum" sz="quarter" idx="12"/>
          </p:nvPr>
        </p:nvSpPr>
        <p:spPr>
          <a:xfrm>
            <a:off x="3923928" y="6569075"/>
            <a:ext cx="933450" cy="288925"/>
          </a:xfrm>
        </p:spPr>
        <p:txBody>
          <a:bodyPr/>
          <a:lstStyle/>
          <a:p>
            <a:fld id="{71E37E66-47ED-4E23-B805-CF9315C51031}" type="slidenum">
              <a:rPr lang="en-US" altLang="zh-CN" smtClean="0">
                <a:solidFill>
                  <a:srgbClr val="292929"/>
                </a:solidFill>
              </a:rPr>
              <a:pPr/>
              <a:t>21</a:t>
            </a:fld>
            <a:endParaRPr lang="en-US" altLang="zh-CN" dirty="0">
              <a:solidFill>
                <a:srgbClr val="292929"/>
              </a:solidFill>
            </a:endParaRPr>
          </a:p>
        </p:txBody>
      </p:sp>
      <p:sp>
        <p:nvSpPr>
          <p:cNvPr id="15" name="页脚占位符 4"/>
          <p:cNvSpPr>
            <a:spLocks noGrp="1"/>
          </p:cNvSpPr>
          <p:nvPr>
            <p:ph type="ftr" sz="quarter" idx="11"/>
          </p:nvPr>
        </p:nvSpPr>
        <p:spPr>
          <a:xfrm>
            <a:off x="0" y="6569075"/>
            <a:ext cx="3059832" cy="288925"/>
          </a:xfrm>
        </p:spPr>
        <p:txBody>
          <a:bodyPr/>
          <a:lstStyle/>
          <a:p>
            <a:pPr>
              <a:defRPr/>
            </a:pPr>
            <a:r>
              <a:rPr lang="en-US" altLang="zh-CN" smtClean="0"/>
              <a:t>Xiaolin Xu</a:t>
            </a:r>
            <a:r>
              <a:rPr lang="zh-CN" altLang="en-US" smtClean="0"/>
              <a:t>（ </a:t>
            </a:r>
            <a:r>
              <a:rPr lang="en-US" altLang="zh-CN" smtClean="0"/>
              <a:t>Nanjing University </a:t>
            </a:r>
            <a:r>
              <a:rPr lang="zh-CN" altLang="en-US" smtClean="0"/>
              <a:t>）</a:t>
            </a:r>
            <a:endParaRPr lang="en-US" altLang="zh-CN" dirty="0"/>
          </a:p>
        </p:txBody>
      </p:sp>
      <p:pic>
        <p:nvPicPr>
          <p:cNvPr id="8" name="图片 7" descr="屏幕快照 2019-04-22 下午9.53.07.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7544" y="2780928"/>
            <a:ext cx="8136904" cy="2299170"/>
          </a:xfrm>
          <a:prstGeom prst="rect">
            <a:avLst/>
          </a:prstGeom>
        </p:spPr>
      </p:pic>
    </p:spTree>
    <p:extLst>
      <p:ext uri="{BB962C8B-B14F-4D97-AF65-F5344CB8AC3E}">
        <p14:creationId xmlns:p14="http://schemas.microsoft.com/office/powerpoint/2010/main" val="3155228268"/>
      </p:ext>
    </p:extLst>
  </p:cSld>
  <p:clrMapOvr>
    <a:masterClrMapping/>
  </p:clrMapOvr>
  <p:transition>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latin typeface="Times New Roman" pitchFamily="18" charset="0"/>
                <a:cs typeface="Times New Roman" pitchFamily="18" charset="0"/>
              </a:rPr>
              <a:t>Model Extensions </a:t>
            </a:r>
            <a:r>
              <a:rPr lang="zh-CN" altLang="en-US" sz="1800" b="1" dirty="0" smtClean="0">
                <a:latin typeface="Times New Roman" pitchFamily="18" charset="0"/>
                <a:cs typeface="Times New Roman" pitchFamily="18" charset="0"/>
              </a:rPr>
              <a:t/>
            </a:r>
            <a:br>
              <a:rPr lang="zh-CN" altLang="en-US" sz="1800" b="1" dirty="0" smtClean="0">
                <a:latin typeface="Times New Roman" pitchFamily="18" charset="0"/>
                <a:cs typeface="Times New Roman" pitchFamily="18" charset="0"/>
              </a:rPr>
            </a:br>
            <a:r>
              <a:rPr lang="en-US" altLang="zh-CN" sz="1800" b="1" dirty="0" smtClean="0">
                <a:solidFill>
                  <a:schemeClr val="tx2"/>
                </a:solidFill>
                <a:latin typeface="Times New Roman" pitchFamily="18" charset="0"/>
                <a:cs typeface="Times New Roman" pitchFamily="18" charset="0"/>
              </a:rPr>
              <a:t> </a:t>
            </a:r>
            <a:r>
              <a:rPr lang="en-US" altLang="zh-CN" dirty="0">
                <a:latin typeface="Times New Roman" pitchFamily="18" charset="0"/>
                <a:cs typeface="Times New Roman" pitchFamily="18" charset="0"/>
              </a:rPr>
              <a:t/>
            </a:r>
            <a:br>
              <a:rPr lang="en-US" altLang="zh-CN" dirty="0">
                <a:latin typeface="Times New Roman" pitchFamily="18" charset="0"/>
                <a:cs typeface="Times New Roman" pitchFamily="18" charset="0"/>
              </a:rPr>
            </a:br>
            <a:endParaRPr lang="zh-CN" altLang="en-US" dirty="0"/>
          </a:p>
        </p:txBody>
      </p:sp>
      <p:sp>
        <p:nvSpPr>
          <p:cNvPr id="4" name="日期占位符 3"/>
          <p:cNvSpPr>
            <a:spLocks noGrp="1"/>
          </p:cNvSpPr>
          <p:nvPr>
            <p:ph type="dt" sz="half" idx="10"/>
          </p:nvPr>
        </p:nvSpPr>
        <p:spPr>
          <a:xfrm>
            <a:off x="6660232" y="6559931"/>
            <a:ext cx="2389176" cy="288925"/>
          </a:xfrm>
        </p:spPr>
        <p:txBody>
          <a:bodyPr/>
          <a:lstStyle/>
          <a:p>
            <a:pPr>
              <a:defRPr/>
            </a:pPr>
            <a:fld id="{795DA301-FDC8-496B-B93D-5196F4E8B93F}" type="datetime4">
              <a:rPr lang="en-US" altLang="zh-CN" smtClean="0">
                <a:solidFill>
                  <a:srgbClr val="292929"/>
                </a:solidFill>
              </a:rPr>
              <a:t>April 25, 2019</a:t>
            </a:fld>
            <a:endParaRPr lang="en-US" altLang="zh-CN" dirty="0">
              <a:solidFill>
                <a:srgbClr val="292929"/>
              </a:solidFill>
            </a:endParaRPr>
          </a:p>
        </p:txBody>
      </p:sp>
      <p:sp>
        <p:nvSpPr>
          <p:cNvPr id="6" name="灯片编号占位符 5"/>
          <p:cNvSpPr>
            <a:spLocks noGrp="1"/>
          </p:cNvSpPr>
          <p:nvPr>
            <p:ph type="sldNum" sz="quarter" idx="12"/>
          </p:nvPr>
        </p:nvSpPr>
        <p:spPr>
          <a:xfrm>
            <a:off x="3923928" y="6569075"/>
            <a:ext cx="933450" cy="288925"/>
          </a:xfrm>
        </p:spPr>
        <p:txBody>
          <a:bodyPr/>
          <a:lstStyle/>
          <a:p>
            <a:fld id="{71E37E66-47ED-4E23-B805-CF9315C51031}" type="slidenum">
              <a:rPr lang="en-US" altLang="zh-CN" smtClean="0">
                <a:solidFill>
                  <a:srgbClr val="292929"/>
                </a:solidFill>
              </a:rPr>
              <a:pPr/>
              <a:t>22</a:t>
            </a:fld>
            <a:endParaRPr lang="en-US" altLang="zh-CN" dirty="0">
              <a:solidFill>
                <a:srgbClr val="292929"/>
              </a:solidFill>
            </a:endParaRPr>
          </a:p>
        </p:txBody>
      </p:sp>
      <p:sp>
        <p:nvSpPr>
          <p:cNvPr id="11" name="页脚占位符 4"/>
          <p:cNvSpPr>
            <a:spLocks noGrp="1"/>
          </p:cNvSpPr>
          <p:nvPr>
            <p:ph type="ftr" sz="quarter" idx="11"/>
          </p:nvPr>
        </p:nvSpPr>
        <p:spPr>
          <a:xfrm>
            <a:off x="0" y="6569075"/>
            <a:ext cx="3059832" cy="288925"/>
          </a:xfrm>
        </p:spPr>
        <p:txBody>
          <a:bodyPr/>
          <a:lstStyle/>
          <a:p>
            <a:pPr>
              <a:defRPr/>
            </a:pPr>
            <a:r>
              <a:rPr lang="en-US" altLang="zh-CN" smtClean="0"/>
              <a:t>Xiaolin Xu</a:t>
            </a:r>
            <a:r>
              <a:rPr lang="zh-CN" altLang="en-US" smtClean="0"/>
              <a:t>（ </a:t>
            </a:r>
            <a:r>
              <a:rPr lang="en-US" altLang="zh-CN" smtClean="0"/>
              <a:t>Nanjing University </a:t>
            </a:r>
            <a:r>
              <a:rPr lang="zh-CN" altLang="en-US" smtClean="0"/>
              <a:t>）</a:t>
            </a:r>
            <a:endParaRPr lang="en-US" altLang="zh-CN" dirty="0"/>
          </a:p>
        </p:txBody>
      </p:sp>
      <p:pic>
        <p:nvPicPr>
          <p:cNvPr id="3" name="图片 2" descr="屏幕快照 2019-04-22 下午9.56.12.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7544" y="1268760"/>
            <a:ext cx="8136904" cy="1474150"/>
          </a:xfrm>
          <a:prstGeom prst="rect">
            <a:avLst/>
          </a:prstGeom>
        </p:spPr>
      </p:pic>
      <p:pic>
        <p:nvPicPr>
          <p:cNvPr id="5" name="图片 4" descr="屏幕快照 2019-04-22 下午9.56.23.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7544" y="3229738"/>
            <a:ext cx="8136904" cy="1421682"/>
          </a:xfrm>
          <a:prstGeom prst="rect">
            <a:avLst/>
          </a:prstGeom>
        </p:spPr>
      </p:pic>
      <p:pic>
        <p:nvPicPr>
          <p:cNvPr id="7" name="图片 6" descr="屏幕快照 2019-04-22 下午9.56.34.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6194" y="5157192"/>
            <a:ext cx="8136904" cy="1063756"/>
          </a:xfrm>
          <a:prstGeom prst="rect">
            <a:avLst/>
          </a:prstGeom>
        </p:spPr>
      </p:pic>
    </p:spTree>
    <p:extLst>
      <p:ext uri="{BB962C8B-B14F-4D97-AF65-F5344CB8AC3E}">
        <p14:creationId xmlns:p14="http://schemas.microsoft.com/office/powerpoint/2010/main" val="3155228268"/>
      </p:ext>
    </p:extLst>
  </p:cSld>
  <p:clrMapOvr>
    <a:masterClrMapping/>
  </p:clrMapOvr>
  <p:transition>
    <p:fad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Times New Roman" pitchFamily="18" charset="0"/>
                <a:cs typeface="Times New Roman" pitchFamily="18" charset="0"/>
              </a:rPr>
              <a:t>Conclusion</a:t>
            </a:r>
            <a:r>
              <a:rPr lang="zh-CN" altLang="en-US" dirty="0">
                <a:latin typeface="Times New Roman" pitchFamily="18" charset="0"/>
                <a:cs typeface="Times New Roman" pitchFamily="18" charset="0"/>
              </a:rPr>
              <a:t/>
            </a:r>
            <a:br>
              <a:rPr lang="zh-CN" altLang="en-US" dirty="0">
                <a:latin typeface="Times New Roman" pitchFamily="18" charset="0"/>
                <a:cs typeface="Times New Roman" pitchFamily="18" charset="0"/>
              </a:rPr>
            </a:br>
            <a:r>
              <a:rPr lang="en-US" altLang="zh-CN" dirty="0">
                <a:latin typeface="Times New Roman" pitchFamily="18" charset="0"/>
                <a:cs typeface="Times New Roman" pitchFamily="18" charset="0"/>
              </a:rPr>
              <a:t/>
            </a:r>
            <a:br>
              <a:rPr lang="en-US" altLang="zh-CN" dirty="0">
                <a:latin typeface="Times New Roman" pitchFamily="18" charset="0"/>
                <a:cs typeface="Times New Roman" pitchFamily="18" charset="0"/>
              </a:rPr>
            </a:br>
            <a:endParaRPr lang="zh-CN" altLang="en-US" dirty="0"/>
          </a:p>
        </p:txBody>
      </p:sp>
      <p:sp>
        <p:nvSpPr>
          <p:cNvPr id="3" name="内容占位符 2"/>
          <p:cNvSpPr>
            <a:spLocks noGrp="1"/>
          </p:cNvSpPr>
          <p:nvPr>
            <p:ph idx="1"/>
          </p:nvPr>
        </p:nvSpPr>
        <p:spPr>
          <a:xfrm>
            <a:off x="323528" y="2986259"/>
            <a:ext cx="8631418" cy="3096344"/>
          </a:xfrm>
        </p:spPr>
        <p:txBody>
          <a:bodyPr>
            <a:normAutofit fontScale="92500" lnSpcReduction="10000"/>
          </a:bodyPr>
          <a:lstStyle/>
          <a:p>
            <a:pPr marL="0" indent="0" algn="just">
              <a:buNone/>
            </a:pPr>
            <a:r>
              <a:rPr lang="en-US" altLang="zh-CN" sz="1800" i="1" dirty="0" smtClean="0">
                <a:latin typeface="Times New Roman" pitchFamily="18" charset="0"/>
                <a:cs typeface="Times New Roman" pitchFamily="18" charset="0"/>
              </a:rPr>
              <a:t>       When the level of technology spillovers is medium or the initial marginal         </a:t>
            </a:r>
          </a:p>
          <a:p>
            <a:pPr marL="0" indent="0">
              <a:lnSpc>
                <a:spcPct val="160000"/>
              </a:lnSpc>
              <a:buClrTx/>
              <a:buNone/>
            </a:pPr>
            <a:r>
              <a:rPr lang="en-US" altLang="zh-CN" sz="1800" i="1" dirty="0" smtClean="0">
                <a:latin typeface="Times New Roman" panose="02020603050405020304" pitchFamily="18" charset="0"/>
                <a:cs typeface="Times New Roman" panose="02020603050405020304" pitchFamily="18" charset="0"/>
              </a:rPr>
              <a:t>       </a:t>
            </a:r>
            <a:r>
              <a:rPr lang="en-US" altLang="zh-CN" sz="1800" i="1" dirty="0" smtClean="0">
                <a:latin typeface="Times New Roman" panose="02020603050405020304" pitchFamily="18" charset="0"/>
                <a:cs typeface="Times New Roman" panose="02020603050405020304" pitchFamily="18" charset="0"/>
              </a:rPr>
              <a:t>production costs of downstream firms are small, the optimal R&amp;D strategies </a:t>
            </a:r>
          </a:p>
          <a:p>
            <a:pPr marL="0" indent="0">
              <a:lnSpc>
                <a:spcPct val="160000"/>
              </a:lnSpc>
              <a:buClrTx/>
              <a:buNone/>
            </a:pPr>
            <a:r>
              <a:rPr lang="en-US" altLang="zh-CN" sz="1800" i="1" dirty="0" smtClean="0">
                <a:latin typeface="Times New Roman" panose="02020603050405020304" pitchFamily="18" charset="0"/>
                <a:cs typeface="Times New Roman" panose="02020603050405020304" pitchFamily="18" charset="0"/>
              </a:rPr>
              <a:t>       </a:t>
            </a:r>
            <a:r>
              <a:rPr lang="en-US" altLang="zh-CN" sz="1800" i="1" dirty="0" smtClean="0">
                <a:latin typeface="Times New Roman" panose="02020603050405020304" pitchFamily="18" charset="0"/>
                <a:cs typeface="Times New Roman" panose="02020603050405020304" pitchFamily="18" charset="0"/>
              </a:rPr>
              <a:t>for downstream firm are non-cooperative R&amp;D. </a:t>
            </a:r>
          </a:p>
          <a:p>
            <a:pPr marL="0" indent="0">
              <a:lnSpc>
                <a:spcPct val="160000"/>
              </a:lnSpc>
              <a:buClrTx/>
              <a:buNone/>
            </a:pPr>
            <a:endParaRPr lang="en-US" altLang="zh-CN" sz="1800" i="1" dirty="0" smtClean="0">
              <a:latin typeface="Times New Roman" panose="02020603050405020304" pitchFamily="18" charset="0"/>
              <a:cs typeface="Times New Roman" panose="02020603050405020304" pitchFamily="18" charset="0"/>
            </a:endParaRPr>
          </a:p>
          <a:p>
            <a:pPr marL="0" indent="0">
              <a:lnSpc>
                <a:spcPct val="160000"/>
              </a:lnSpc>
              <a:buClrTx/>
              <a:buNone/>
            </a:pPr>
            <a:r>
              <a:rPr lang="en-US" altLang="zh-CN" sz="1800" i="1" dirty="0" smtClean="0">
                <a:latin typeface="Times New Roman" panose="02020603050405020304" pitchFamily="18" charset="0"/>
                <a:cs typeface="Times New Roman" panose="02020603050405020304" pitchFamily="18" charset="0"/>
              </a:rPr>
              <a:t>       When the level of technological spillovers is small or large and the initial marginal      </a:t>
            </a:r>
          </a:p>
          <a:p>
            <a:pPr marL="0" indent="0">
              <a:lnSpc>
                <a:spcPct val="160000"/>
              </a:lnSpc>
              <a:buClrTx/>
              <a:buNone/>
            </a:pPr>
            <a:r>
              <a:rPr lang="en-US" altLang="zh-CN" sz="1800" i="1" dirty="0">
                <a:latin typeface="Times New Roman" panose="02020603050405020304" pitchFamily="18" charset="0"/>
                <a:cs typeface="Times New Roman" panose="02020603050405020304" pitchFamily="18" charset="0"/>
              </a:rPr>
              <a:t> </a:t>
            </a:r>
            <a:r>
              <a:rPr lang="en-US" altLang="zh-CN" sz="1800" i="1" dirty="0" smtClean="0">
                <a:latin typeface="Times New Roman" panose="02020603050405020304" pitchFamily="18" charset="0"/>
                <a:cs typeface="Times New Roman" panose="02020603050405020304" pitchFamily="18" charset="0"/>
              </a:rPr>
              <a:t>      </a:t>
            </a:r>
            <a:r>
              <a:rPr lang="en-US" altLang="zh-CN" sz="1800" i="1" dirty="0" smtClean="0">
                <a:latin typeface="Times New Roman" panose="02020603050405020304" pitchFamily="18" charset="0"/>
                <a:cs typeface="Times New Roman" panose="02020603050405020304" pitchFamily="18" charset="0"/>
              </a:rPr>
              <a:t>production costs of downstream firms are large, the optimal R&amp;D strategies for </a:t>
            </a:r>
          </a:p>
          <a:p>
            <a:pPr marL="0" indent="0">
              <a:lnSpc>
                <a:spcPct val="160000"/>
              </a:lnSpc>
              <a:buClrTx/>
              <a:buNone/>
            </a:pPr>
            <a:r>
              <a:rPr lang="en-US" altLang="zh-CN" sz="1800" i="1" dirty="0" smtClean="0">
                <a:latin typeface="Times New Roman" panose="02020603050405020304" pitchFamily="18" charset="0"/>
                <a:cs typeface="Times New Roman" panose="02020603050405020304" pitchFamily="18" charset="0"/>
              </a:rPr>
              <a:t>      downstream firms are cooperative R&amp;D. </a:t>
            </a:r>
            <a:endParaRPr lang="en-US" altLang="zh-CN" sz="1800" i="1" dirty="0">
              <a:latin typeface="Times New Roman" panose="02020603050405020304" pitchFamily="18" charset="0"/>
              <a:cs typeface="Times New Roman" panose="02020603050405020304" pitchFamily="18" charset="0"/>
            </a:endParaRPr>
          </a:p>
        </p:txBody>
      </p:sp>
      <p:sp>
        <p:nvSpPr>
          <p:cNvPr id="4" name="日期占位符 3"/>
          <p:cNvSpPr>
            <a:spLocks noGrp="1"/>
          </p:cNvSpPr>
          <p:nvPr>
            <p:ph type="dt" sz="half" idx="10"/>
          </p:nvPr>
        </p:nvSpPr>
        <p:spPr>
          <a:xfrm>
            <a:off x="7524328" y="6588857"/>
            <a:ext cx="1512168" cy="172293"/>
          </a:xfrm>
        </p:spPr>
        <p:txBody>
          <a:bodyPr/>
          <a:lstStyle/>
          <a:p>
            <a:pPr>
              <a:defRPr/>
            </a:pPr>
            <a:fld id="{8B380DED-0CA8-44CD-BD5D-AFAB002D0052}" type="datetime4">
              <a:rPr lang="en-US" altLang="zh-CN" smtClean="0">
                <a:solidFill>
                  <a:srgbClr val="292929"/>
                </a:solidFill>
              </a:rPr>
              <a:t>April 25, 2019</a:t>
            </a:fld>
            <a:endParaRPr lang="en-US" altLang="zh-CN" dirty="0">
              <a:solidFill>
                <a:srgbClr val="292929"/>
              </a:solidFill>
            </a:endParaRPr>
          </a:p>
        </p:txBody>
      </p:sp>
      <p:sp>
        <p:nvSpPr>
          <p:cNvPr id="6" name="灯片编号占位符 5"/>
          <p:cNvSpPr>
            <a:spLocks noGrp="1"/>
          </p:cNvSpPr>
          <p:nvPr>
            <p:ph type="sldNum" sz="quarter" idx="12"/>
          </p:nvPr>
        </p:nvSpPr>
        <p:spPr>
          <a:xfrm>
            <a:off x="3923928" y="6569075"/>
            <a:ext cx="933450" cy="288925"/>
          </a:xfrm>
        </p:spPr>
        <p:txBody>
          <a:bodyPr/>
          <a:lstStyle/>
          <a:p>
            <a:fld id="{71E37E66-47ED-4E23-B805-CF9315C51031}" type="slidenum">
              <a:rPr lang="en-US" altLang="zh-CN" smtClean="0">
                <a:solidFill>
                  <a:srgbClr val="292929"/>
                </a:solidFill>
              </a:rPr>
              <a:pPr/>
              <a:t>23</a:t>
            </a:fld>
            <a:endParaRPr lang="en-US" altLang="zh-CN" dirty="0">
              <a:solidFill>
                <a:srgbClr val="292929"/>
              </a:solidFill>
            </a:endParaRPr>
          </a:p>
        </p:txBody>
      </p:sp>
      <p:sp>
        <p:nvSpPr>
          <p:cNvPr id="7" name="页脚占位符 4"/>
          <p:cNvSpPr>
            <a:spLocks noGrp="1"/>
          </p:cNvSpPr>
          <p:nvPr>
            <p:ph type="ftr" sz="quarter" idx="11"/>
          </p:nvPr>
        </p:nvSpPr>
        <p:spPr>
          <a:xfrm>
            <a:off x="0" y="6569075"/>
            <a:ext cx="3059832" cy="288925"/>
          </a:xfrm>
        </p:spPr>
        <p:txBody>
          <a:bodyPr/>
          <a:lstStyle/>
          <a:p>
            <a:pPr>
              <a:defRPr/>
            </a:pPr>
            <a:r>
              <a:rPr lang="en-US" altLang="zh-CN" smtClean="0"/>
              <a:t>Xiaolin Xu</a:t>
            </a:r>
            <a:r>
              <a:rPr lang="zh-CN" altLang="en-US" smtClean="0"/>
              <a:t>（ </a:t>
            </a:r>
            <a:r>
              <a:rPr lang="en-US" altLang="zh-CN" smtClean="0"/>
              <a:t>Nanjing University </a:t>
            </a:r>
            <a:r>
              <a:rPr lang="zh-CN" altLang="en-US" smtClean="0"/>
              <a:t>）</a:t>
            </a:r>
            <a:endParaRPr lang="en-US" altLang="zh-CN" dirty="0"/>
          </a:p>
        </p:txBody>
      </p:sp>
      <p:sp>
        <p:nvSpPr>
          <p:cNvPr id="5" name="矩形 4"/>
          <p:cNvSpPr/>
          <p:nvPr/>
        </p:nvSpPr>
        <p:spPr>
          <a:xfrm>
            <a:off x="214871" y="1244324"/>
            <a:ext cx="8642819" cy="1200329"/>
          </a:xfrm>
          <a:prstGeom prst="rect">
            <a:avLst/>
          </a:prstGeom>
        </p:spPr>
        <p:txBody>
          <a:bodyPr wrap="square">
            <a:spAutoFit/>
          </a:bodyPr>
          <a:lstStyle/>
          <a:p>
            <a:pPr algn="just"/>
            <a:r>
              <a:rPr lang="en-US" altLang="zh-CN" dirty="0">
                <a:latin typeface="Times New Roman" panose="02020603050405020304" pitchFamily="18" charset="0"/>
                <a:cs typeface="Times New Roman" panose="02020603050405020304" pitchFamily="18" charset="0"/>
              </a:rPr>
              <a:t>Based on the two downstream firms with equal initial marginal costs of production in the supply chain, the study done in this paper and relevant conclusions are as follows: </a:t>
            </a:r>
          </a:p>
          <a:p>
            <a:pPr algn="just"/>
            <a:endParaRPr lang="en-US" altLang="zh-CN" dirty="0">
              <a:latin typeface="Times New Roman" panose="02020603050405020304" pitchFamily="18" charset="0"/>
              <a:cs typeface="Times New Roman" panose="02020603050405020304" pitchFamily="18" charset="0"/>
            </a:endParaRPr>
          </a:p>
          <a:p>
            <a:pPr algn="just">
              <a:buClrTx/>
              <a:buFont typeface="Wingdings" panose="05000000000000000000" pitchFamily="2" charset="2"/>
              <a:buChar char="Ø"/>
            </a:pPr>
            <a:r>
              <a:rPr lang="en-US" altLang="zh-CN" dirty="0">
                <a:latin typeface="Times New Roman" panose="02020603050405020304" pitchFamily="18" charset="0"/>
                <a:cs typeface="Times New Roman" panose="02020603050405020304" pitchFamily="18" charset="0"/>
              </a:rPr>
              <a:t>First, we study the downstream firms R&amp;D strategies. </a:t>
            </a:r>
          </a:p>
        </p:txBody>
      </p:sp>
    </p:spTree>
    <p:extLst>
      <p:ext uri="{BB962C8B-B14F-4D97-AF65-F5344CB8AC3E}">
        <p14:creationId xmlns:p14="http://schemas.microsoft.com/office/powerpoint/2010/main" val="294675194"/>
      </p:ext>
    </p:extLst>
  </p:cSld>
  <p:clrMapOvr>
    <a:masterClrMapping/>
  </p:clrMapOvr>
  <p:transition>
    <p:fad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Times New Roman" pitchFamily="18" charset="0"/>
                <a:cs typeface="Times New Roman" pitchFamily="18" charset="0"/>
              </a:rPr>
              <a:t>Conclusion</a:t>
            </a:r>
            <a:r>
              <a:rPr lang="zh-CN" altLang="en-US" dirty="0">
                <a:latin typeface="Times New Roman" pitchFamily="18" charset="0"/>
                <a:cs typeface="Times New Roman" pitchFamily="18" charset="0"/>
              </a:rPr>
              <a:t/>
            </a:r>
            <a:br>
              <a:rPr lang="zh-CN" altLang="en-US" dirty="0">
                <a:latin typeface="Times New Roman" pitchFamily="18" charset="0"/>
                <a:cs typeface="Times New Roman" pitchFamily="18" charset="0"/>
              </a:rPr>
            </a:br>
            <a:r>
              <a:rPr lang="en-US" altLang="zh-CN" dirty="0">
                <a:latin typeface="Times New Roman" pitchFamily="18" charset="0"/>
                <a:cs typeface="Times New Roman" pitchFamily="18" charset="0"/>
              </a:rPr>
              <a:t/>
            </a:r>
            <a:br>
              <a:rPr lang="en-US" altLang="zh-CN" dirty="0">
                <a:latin typeface="Times New Roman" pitchFamily="18" charset="0"/>
                <a:cs typeface="Times New Roman" pitchFamily="18" charset="0"/>
              </a:rPr>
            </a:br>
            <a:endParaRPr lang="zh-CN" altLang="en-US" dirty="0"/>
          </a:p>
        </p:txBody>
      </p:sp>
      <p:sp>
        <p:nvSpPr>
          <p:cNvPr id="4" name="日期占位符 3"/>
          <p:cNvSpPr>
            <a:spLocks noGrp="1"/>
          </p:cNvSpPr>
          <p:nvPr>
            <p:ph type="dt" sz="half" idx="10"/>
          </p:nvPr>
        </p:nvSpPr>
        <p:spPr>
          <a:xfrm>
            <a:off x="7668344" y="6569075"/>
            <a:ext cx="1368152" cy="172293"/>
          </a:xfrm>
        </p:spPr>
        <p:txBody>
          <a:bodyPr/>
          <a:lstStyle/>
          <a:p>
            <a:pPr>
              <a:defRPr/>
            </a:pPr>
            <a:fld id="{8B380DED-0CA8-44CD-BD5D-AFAB002D0052}" type="datetime4">
              <a:rPr lang="en-US" altLang="zh-CN" smtClean="0">
                <a:solidFill>
                  <a:srgbClr val="292929"/>
                </a:solidFill>
              </a:rPr>
              <a:t>April 25, 2019</a:t>
            </a:fld>
            <a:endParaRPr lang="en-US" altLang="zh-CN" dirty="0">
              <a:solidFill>
                <a:srgbClr val="292929"/>
              </a:solidFill>
            </a:endParaRPr>
          </a:p>
        </p:txBody>
      </p:sp>
      <p:sp>
        <p:nvSpPr>
          <p:cNvPr id="6" name="灯片编号占位符 5"/>
          <p:cNvSpPr>
            <a:spLocks noGrp="1"/>
          </p:cNvSpPr>
          <p:nvPr>
            <p:ph type="sldNum" sz="quarter" idx="12"/>
          </p:nvPr>
        </p:nvSpPr>
        <p:spPr>
          <a:xfrm>
            <a:off x="3923928" y="6569075"/>
            <a:ext cx="933450" cy="288925"/>
          </a:xfrm>
        </p:spPr>
        <p:txBody>
          <a:bodyPr/>
          <a:lstStyle/>
          <a:p>
            <a:fld id="{71E37E66-47ED-4E23-B805-CF9315C51031}" type="slidenum">
              <a:rPr lang="en-US" altLang="zh-CN" smtClean="0">
                <a:solidFill>
                  <a:srgbClr val="292929"/>
                </a:solidFill>
              </a:rPr>
              <a:pPr/>
              <a:t>24</a:t>
            </a:fld>
            <a:endParaRPr lang="en-US" altLang="zh-CN" dirty="0">
              <a:solidFill>
                <a:srgbClr val="292929"/>
              </a:solidFill>
            </a:endParaRPr>
          </a:p>
        </p:txBody>
      </p:sp>
      <p:sp>
        <p:nvSpPr>
          <p:cNvPr id="7" name="页脚占位符 4"/>
          <p:cNvSpPr>
            <a:spLocks noGrp="1"/>
          </p:cNvSpPr>
          <p:nvPr>
            <p:ph type="ftr" sz="quarter" idx="11"/>
          </p:nvPr>
        </p:nvSpPr>
        <p:spPr>
          <a:xfrm>
            <a:off x="0" y="6569075"/>
            <a:ext cx="3059832" cy="288925"/>
          </a:xfrm>
        </p:spPr>
        <p:txBody>
          <a:bodyPr/>
          <a:lstStyle/>
          <a:p>
            <a:pPr>
              <a:defRPr/>
            </a:pPr>
            <a:r>
              <a:rPr lang="en-US" altLang="zh-CN" smtClean="0"/>
              <a:t>Xiaolin Xu</a:t>
            </a:r>
            <a:r>
              <a:rPr lang="zh-CN" altLang="en-US" smtClean="0"/>
              <a:t>（ </a:t>
            </a:r>
            <a:r>
              <a:rPr lang="en-US" altLang="zh-CN" smtClean="0"/>
              <a:t>Nanjing University </a:t>
            </a:r>
            <a:r>
              <a:rPr lang="zh-CN" altLang="en-US" smtClean="0"/>
              <a:t>）</a:t>
            </a:r>
            <a:endParaRPr lang="en-US" altLang="zh-CN" dirty="0"/>
          </a:p>
        </p:txBody>
      </p:sp>
      <p:sp>
        <p:nvSpPr>
          <p:cNvPr id="8" name="内容占位符 2"/>
          <p:cNvSpPr>
            <a:spLocks noGrp="1"/>
          </p:cNvSpPr>
          <p:nvPr>
            <p:ph idx="1"/>
          </p:nvPr>
        </p:nvSpPr>
        <p:spPr>
          <a:xfrm>
            <a:off x="126045" y="1475793"/>
            <a:ext cx="8820472" cy="1224136"/>
          </a:xfrm>
        </p:spPr>
        <p:txBody>
          <a:bodyPr>
            <a:normAutofit/>
          </a:bodyPr>
          <a:lstStyle/>
          <a:p>
            <a:pPr algn="just">
              <a:lnSpc>
                <a:spcPct val="170000"/>
              </a:lnSpc>
              <a:buClrTx/>
              <a:buFont typeface="Wingdings" panose="05000000000000000000" pitchFamily="2" charset="2"/>
              <a:buChar char="Ø"/>
            </a:pPr>
            <a:r>
              <a:rPr lang="en-US" altLang="zh-CN" sz="2000" dirty="0">
                <a:latin typeface="Times New Roman" panose="02020603050405020304" pitchFamily="18" charset="0"/>
                <a:cs typeface="Times New Roman" panose="02020603050405020304" pitchFamily="18" charset="0"/>
              </a:rPr>
              <a:t>Second, we examine the impact of spillover level on the R&amp;D level and profitability of downstream firms under the optimal R&amp;D strategies. </a:t>
            </a:r>
            <a:endParaRPr lang="en-US" altLang="zh-CN" sz="2000" dirty="0" smtClean="0">
              <a:latin typeface="Times New Roman" panose="02020603050405020304" pitchFamily="18" charset="0"/>
              <a:cs typeface="Times New Roman" panose="02020603050405020304" pitchFamily="18" charset="0"/>
            </a:endParaRPr>
          </a:p>
        </p:txBody>
      </p:sp>
      <p:sp>
        <p:nvSpPr>
          <p:cNvPr id="9" name="矩形 8"/>
          <p:cNvSpPr/>
          <p:nvPr/>
        </p:nvSpPr>
        <p:spPr>
          <a:xfrm>
            <a:off x="485800" y="2852936"/>
            <a:ext cx="8280920" cy="2951064"/>
          </a:xfrm>
          <a:prstGeom prst="rect">
            <a:avLst/>
          </a:prstGeom>
        </p:spPr>
        <p:txBody>
          <a:bodyPr wrap="square">
            <a:spAutoFit/>
          </a:bodyPr>
          <a:lstStyle/>
          <a:p>
            <a:pPr algn="just">
              <a:lnSpc>
                <a:spcPct val="150000"/>
              </a:lnSpc>
            </a:pPr>
            <a:r>
              <a:rPr lang="en-US" altLang="zh-CN" i="1" dirty="0">
                <a:latin typeface="Times New Roman" panose="02020603050405020304" pitchFamily="18" charset="0"/>
                <a:cs typeface="Times New Roman" panose="02020603050405020304" pitchFamily="18" charset="0"/>
              </a:rPr>
              <a:t>when the initial marginal production costs of the downstream firms are small, the equilibrium R&amp;D levels of the downstream firms decrease in the level of technology spillovers, and the equilibrium profits increase in the level of technology spillovers. </a:t>
            </a:r>
            <a:endParaRPr lang="en-US" altLang="zh-CN" i="1" dirty="0" smtClean="0">
              <a:latin typeface="Times New Roman" panose="02020603050405020304" pitchFamily="18" charset="0"/>
              <a:cs typeface="Times New Roman" panose="02020603050405020304" pitchFamily="18" charset="0"/>
            </a:endParaRPr>
          </a:p>
          <a:p>
            <a:pPr algn="just">
              <a:lnSpc>
                <a:spcPct val="150000"/>
              </a:lnSpc>
            </a:pPr>
            <a:endParaRPr lang="en-US" altLang="zh-CN" dirty="0">
              <a:latin typeface="Times New Roman" panose="02020603050405020304" pitchFamily="18" charset="0"/>
              <a:cs typeface="Times New Roman" panose="02020603050405020304" pitchFamily="18" charset="0"/>
            </a:endParaRPr>
          </a:p>
          <a:p>
            <a:pPr algn="just">
              <a:lnSpc>
                <a:spcPct val="150000"/>
              </a:lnSpc>
            </a:pPr>
            <a:r>
              <a:rPr lang="en-US" altLang="zh-CN" i="1" dirty="0" smtClean="0">
                <a:latin typeface="Times New Roman" panose="02020603050405020304" pitchFamily="18" charset="0"/>
                <a:cs typeface="Times New Roman" panose="02020603050405020304" pitchFamily="18" charset="0"/>
              </a:rPr>
              <a:t>when </a:t>
            </a:r>
            <a:r>
              <a:rPr lang="en-US" altLang="zh-CN" i="1" dirty="0">
                <a:latin typeface="Times New Roman" panose="02020603050405020304" pitchFamily="18" charset="0"/>
                <a:cs typeface="Times New Roman" panose="02020603050405020304" pitchFamily="18" charset="0"/>
              </a:rPr>
              <a:t>the initial marginal production costs of the downstream firms are large, the equilibrium R&amp;D levels and equilibrium profits of the downstream firms increase in the level of technology spillovers. </a:t>
            </a:r>
          </a:p>
        </p:txBody>
      </p:sp>
    </p:spTree>
    <p:extLst>
      <p:ext uri="{BB962C8B-B14F-4D97-AF65-F5344CB8AC3E}">
        <p14:creationId xmlns:p14="http://schemas.microsoft.com/office/powerpoint/2010/main" val="4083138163"/>
      </p:ext>
    </p:extLst>
  </p:cSld>
  <p:clrMapOvr>
    <a:masterClrMapping/>
  </p:clrMapOvr>
  <p:transition>
    <p:fad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a:xfrm>
            <a:off x="7800945" y="6510653"/>
            <a:ext cx="1293813" cy="288925"/>
          </a:xfrm>
        </p:spPr>
        <p:txBody>
          <a:bodyPr/>
          <a:lstStyle/>
          <a:p>
            <a:pPr>
              <a:defRPr/>
            </a:pPr>
            <a:fld id="{1DEF752D-37BA-4C20-8B02-11FE8E79364A}" type="datetime4">
              <a:rPr lang="en-US" altLang="zh-CN" smtClean="0">
                <a:solidFill>
                  <a:srgbClr val="292929"/>
                </a:solidFill>
              </a:rPr>
              <a:t>April 25, 2019</a:t>
            </a:fld>
            <a:endParaRPr lang="en-US" altLang="zh-CN" dirty="0">
              <a:solidFill>
                <a:srgbClr val="292929"/>
              </a:solidFill>
            </a:endParaRPr>
          </a:p>
        </p:txBody>
      </p:sp>
      <p:sp>
        <p:nvSpPr>
          <p:cNvPr id="5" name="页脚占位符 4"/>
          <p:cNvSpPr>
            <a:spLocks noGrp="1"/>
          </p:cNvSpPr>
          <p:nvPr>
            <p:ph type="ftr" sz="quarter" idx="11"/>
          </p:nvPr>
        </p:nvSpPr>
        <p:spPr>
          <a:xfrm>
            <a:off x="0" y="6510652"/>
            <a:ext cx="5257800" cy="288925"/>
          </a:xfrm>
        </p:spPr>
        <p:txBody>
          <a:bodyPr/>
          <a:lstStyle/>
          <a:p>
            <a:pPr>
              <a:defRPr/>
            </a:pPr>
            <a:r>
              <a:rPr lang="en-US" altLang="zh-CN" dirty="0" err="1" smtClean="0"/>
              <a:t>Xiaolin</a:t>
            </a:r>
            <a:r>
              <a:rPr lang="en-US" altLang="zh-CN" dirty="0" smtClean="0"/>
              <a:t> Xu</a:t>
            </a:r>
            <a:r>
              <a:rPr lang="zh-CN" altLang="en-US" dirty="0" smtClean="0"/>
              <a:t>（ </a:t>
            </a:r>
            <a:r>
              <a:rPr lang="en-US" altLang="zh-CN" dirty="0" smtClean="0"/>
              <a:t>Nanjing University </a:t>
            </a:r>
            <a:r>
              <a:rPr lang="zh-CN" altLang="en-US" dirty="0" smtClean="0"/>
              <a:t>）</a:t>
            </a:r>
            <a:endParaRPr lang="en-US" altLang="zh-CN" dirty="0"/>
          </a:p>
        </p:txBody>
      </p:sp>
      <p:sp>
        <p:nvSpPr>
          <p:cNvPr id="6" name="幻灯片编号占位符 5"/>
          <p:cNvSpPr>
            <a:spLocks noGrp="1"/>
          </p:cNvSpPr>
          <p:nvPr>
            <p:ph type="sldNum" sz="quarter" idx="12"/>
          </p:nvPr>
        </p:nvSpPr>
        <p:spPr>
          <a:xfrm>
            <a:off x="4069556" y="6524624"/>
            <a:ext cx="933450" cy="288925"/>
          </a:xfrm>
        </p:spPr>
        <p:txBody>
          <a:bodyPr/>
          <a:lstStyle/>
          <a:p>
            <a:fld id="{71E37E66-47ED-4E23-B805-CF9315C51031}" type="slidenum">
              <a:rPr lang="en-US" altLang="zh-CN" smtClean="0">
                <a:solidFill>
                  <a:srgbClr val="292929"/>
                </a:solidFill>
              </a:rPr>
              <a:pPr/>
              <a:t>25</a:t>
            </a:fld>
            <a:endParaRPr lang="en-US" altLang="zh-CN" dirty="0">
              <a:solidFill>
                <a:srgbClr val="292929"/>
              </a:solidFill>
            </a:endParaRPr>
          </a:p>
        </p:txBody>
      </p:sp>
      <p:sp>
        <p:nvSpPr>
          <p:cNvPr id="8" name="标题 1"/>
          <p:cNvSpPr>
            <a:spLocks noGrp="1"/>
          </p:cNvSpPr>
          <p:nvPr>
            <p:ph type="title"/>
          </p:nvPr>
        </p:nvSpPr>
        <p:spPr>
          <a:xfrm>
            <a:off x="468313" y="260350"/>
            <a:ext cx="8135937" cy="647700"/>
          </a:xfrm>
        </p:spPr>
        <p:txBody>
          <a:bodyPr/>
          <a:lstStyle/>
          <a:p>
            <a:r>
              <a:rPr lang="en-US" altLang="zh-CN" dirty="0">
                <a:latin typeface="Times New Roman" pitchFamily="18" charset="0"/>
                <a:cs typeface="Times New Roman" pitchFamily="18" charset="0"/>
              </a:rPr>
              <a:t>Conclusion</a:t>
            </a:r>
            <a:r>
              <a:rPr lang="zh-CN" altLang="en-US" dirty="0">
                <a:latin typeface="Times New Roman" pitchFamily="18" charset="0"/>
                <a:cs typeface="Times New Roman" pitchFamily="18" charset="0"/>
              </a:rPr>
              <a:t/>
            </a:r>
            <a:br>
              <a:rPr lang="zh-CN" altLang="en-US" dirty="0">
                <a:latin typeface="Times New Roman" pitchFamily="18" charset="0"/>
                <a:cs typeface="Times New Roman" pitchFamily="18" charset="0"/>
              </a:rPr>
            </a:br>
            <a:r>
              <a:rPr lang="en-US" altLang="zh-CN" dirty="0">
                <a:latin typeface="Times New Roman" pitchFamily="18" charset="0"/>
                <a:cs typeface="Times New Roman" pitchFamily="18" charset="0"/>
              </a:rPr>
              <a:t/>
            </a:r>
            <a:br>
              <a:rPr lang="en-US" altLang="zh-CN" dirty="0">
                <a:latin typeface="Times New Roman" pitchFamily="18" charset="0"/>
                <a:cs typeface="Times New Roman" pitchFamily="18" charset="0"/>
              </a:rPr>
            </a:br>
            <a:endParaRPr lang="zh-CN" altLang="en-US" dirty="0"/>
          </a:p>
        </p:txBody>
      </p:sp>
      <p:sp>
        <p:nvSpPr>
          <p:cNvPr id="2" name="矩形 1"/>
          <p:cNvSpPr/>
          <p:nvPr/>
        </p:nvSpPr>
        <p:spPr>
          <a:xfrm>
            <a:off x="395910" y="971370"/>
            <a:ext cx="8208340" cy="1068049"/>
          </a:xfrm>
          <a:prstGeom prst="rect">
            <a:avLst/>
          </a:prstGeom>
        </p:spPr>
        <p:txBody>
          <a:bodyPr wrap="square">
            <a:spAutoFit/>
          </a:bodyPr>
          <a:lstStyle/>
          <a:p>
            <a:pPr algn="just">
              <a:lnSpc>
                <a:spcPct val="170000"/>
              </a:lnSpc>
            </a:pPr>
            <a:r>
              <a:rPr lang="en-US" altLang="zh-CN" sz="2000" dirty="0">
                <a:latin typeface="Times New Roman" panose="02020603050405020304" pitchFamily="18" charset="0"/>
                <a:cs typeface="Times New Roman" panose="02020603050405020304" pitchFamily="18" charset="0"/>
              </a:rPr>
              <a:t>Third, we study the impact of </a:t>
            </a:r>
            <a:r>
              <a:rPr lang="en-US" altLang="zh-CN" sz="2000" dirty="0" err="1">
                <a:latin typeface="Times New Roman" panose="02020603050405020304" pitchFamily="18" charset="0"/>
                <a:cs typeface="Times New Roman" panose="02020603050405020304" pitchFamily="18" charset="0"/>
              </a:rPr>
              <a:t>noncooperative</a:t>
            </a:r>
            <a:r>
              <a:rPr lang="en-US" altLang="zh-CN" sz="2000" dirty="0">
                <a:latin typeface="Times New Roman" panose="02020603050405020304" pitchFamily="18" charset="0"/>
                <a:cs typeface="Times New Roman" panose="02020603050405020304" pitchFamily="18" charset="0"/>
              </a:rPr>
              <a:t> and cooperative R&amp;D on consumer surplus and social welfare. </a:t>
            </a:r>
            <a:endParaRPr lang="en-US" altLang="zh-CN" sz="2000" dirty="0" smtClean="0">
              <a:latin typeface="Times New Roman" panose="02020603050405020304" pitchFamily="18" charset="0"/>
              <a:cs typeface="Times New Roman" panose="02020603050405020304" pitchFamily="18" charset="0"/>
            </a:endParaRPr>
          </a:p>
        </p:txBody>
      </p:sp>
      <p:sp>
        <p:nvSpPr>
          <p:cNvPr id="9" name="矩形 8"/>
          <p:cNvSpPr/>
          <p:nvPr/>
        </p:nvSpPr>
        <p:spPr>
          <a:xfrm>
            <a:off x="468313" y="2421904"/>
            <a:ext cx="8136904" cy="3782061"/>
          </a:xfrm>
          <a:prstGeom prst="rect">
            <a:avLst/>
          </a:prstGeom>
        </p:spPr>
        <p:txBody>
          <a:bodyPr wrap="square">
            <a:spAutoFit/>
          </a:bodyPr>
          <a:lstStyle/>
          <a:p>
            <a:pPr algn="just">
              <a:lnSpc>
                <a:spcPct val="150000"/>
              </a:lnSpc>
            </a:pPr>
            <a:r>
              <a:rPr lang="en-US" altLang="zh-CN" i="1" dirty="0">
                <a:latin typeface="Times New Roman" panose="02020603050405020304" pitchFamily="18" charset="0"/>
                <a:cs typeface="Times New Roman" panose="02020603050405020304" pitchFamily="18" charset="0"/>
              </a:rPr>
              <a:t>Compared to </a:t>
            </a:r>
            <a:r>
              <a:rPr lang="en-US" altLang="zh-CN" i="1" dirty="0" err="1">
                <a:latin typeface="Times New Roman" panose="02020603050405020304" pitchFamily="18" charset="0"/>
                <a:cs typeface="Times New Roman" panose="02020603050405020304" pitchFamily="18" charset="0"/>
              </a:rPr>
              <a:t>noncooperative</a:t>
            </a:r>
            <a:r>
              <a:rPr lang="en-US" altLang="zh-CN" i="1" dirty="0">
                <a:latin typeface="Times New Roman" panose="02020603050405020304" pitchFamily="18" charset="0"/>
                <a:cs typeface="Times New Roman" panose="02020603050405020304" pitchFamily="18" charset="0"/>
              </a:rPr>
              <a:t> R&amp;D, when the level of technology spillovers is medium or the initial marginal production costs of the downstream firms are small, cooperative R&amp;D has not changed consumer surplus and social welfare. </a:t>
            </a:r>
          </a:p>
          <a:p>
            <a:pPr algn="just">
              <a:lnSpc>
                <a:spcPct val="150000"/>
              </a:lnSpc>
            </a:pPr>
            <a:r>
              <a:rPr lang="en-US" altLang="zh-CN" i="1" dirty="0">
                <a:latin typeface="Times New Roman" panose="02020603050405020304" pitchFamily="18" charset="0"/>
                <a:cs typeface="Times New Roman" panose="02020603050405020304" pitchFamily="18" charset="0"/>
              </a:rPr>
              <a:t>when the level of technology spillovers is small and the initial marginal production costs of the downstream firms are large, cooperative R&amp;D reduces consumer surplus and social welfare.</a:t>
            </a:r>
          </a:p>
          <a:p>
            <a:pPr algn="just">
              <a:lnSpc>
                <a:spcPct val="150000"/>
              </a:lnSpc>
            </a:pPr>
            <a:r>
              <a:rPr lang="en-US" altLang="zh-CN" i="1" dirty="0">
                <a:latin typeface="Times New Roman" panose="02020603050405020304" pitchFamily="18" charset="0"/>
                <a:cs typeface="Times New Roman" panose="02020603050405020304" pitchFamily="18" charset="0"/>
              </a:rPr>
              <a:t> when the level of technology spillovers and the initial marginal production costs of the downstream firms are large, cooperative R&amp;D can increase consumer surplus and social welfare. </a:t>
            </a:r>
            <a:endParaRPr lang="en-US" altLang="zh-CN"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32339313"/>
      </p:ext>
    </p:extLst>
  </p:cSld>
  <p:clrMapOvr>
    <a:masterClrMapping/>
  </p:clrMapOvr>
  <p:transition>
    <p:fad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a:xfrm>
            <a:off x="7740352" y="6510655"/>
            <a:ext cx="1293813" cy="288925"/>
          </a:xfrm>
        </p:spPr>
        <p:txBody>
          <a:bodyPr/>
          <a:lstStyle/>
          <a:p>
            <a:pPr>
              <a:defRPr/>
            </a:pPr>
            <a:fld id="{19EC3B86-F0DB-4D88-B8AD-0C8896AD1987}" type="datetime4">
              <a:rPr lang="en-US" altLang="zh-CN" smtClean="0">
                <a:solidFill>
                  <a:srgbClr val="292929"/>
                </a:solidFill>
              </a:rPr>
              <a:t>April 25, 2019</a:t>
            </a:fld>
            <a:endParaRPr lang="en-US" altLang="zh-CN" dirty="0">
              <a:solidFill>
                <a:srgbClr val="292929"/>
              </a:solidFill>
            </a:endParaRPr>
          </a:p>
        </p:txBody>
      </p:sp>
      <p:sp>
        <p:nvSpPr>
          <p:cNvPr id="5" name="页脚占位符 4"/>
          <p:cNvSpPr>
            <a:spLocks noGrp="1"/>
          </p:cNvSpPr>
          <p:nvPr>
            <p:ph type="ftr" sz="quarter" idx="11"/>
          </p:nvPr>
        </p:nvSpPr>
        <p:spPr>
          <a:xfrm>
            <a:off x="31264" y="6510655"/>
            <a:ext cx="5257800" cy="288925"/>
          </a:xfrm>
        </p:spPr>
        <p:txBody>
          <a:bodyPr/>
          <a:lstStyle/>
          <a:p>
            <a:pPr>
              <a:defRPr/>
            </a:pPr>
            <a:r>
              <a:rPr lang="en-US" altLang="zh-CN" dirty="0" err="1" smtClean="0"/>
              <a:t>Xiaolin</a:t>
            </a:r>
            <a:r>
              <a:rPr lang="en-US" altLang="zh-CN" dirty="0" smtClean="0"/>
              <a:t> Xu</a:t>
            </a:r>
            <a:r>
              <a:rPr lang="zh-CN" altLang="en-US" dirty="0" smtClean="0"/>
              <a:t>（ </a:t>
            </a:r>
            <a:r>
              <a:rPr lang="en-US" altLang="zh-CN" dirty="0" smtClean="0"/>
              <a:t>Nanjing University </a:t>
            </a:r>
            <a:r>
              <a:rPr lang="zh-CN" altLang="en-US" dirty="0" smtClean="0"/>
              <a:t>）</a:t>
            </a:r>
            <a:endParaRPr lang="en-US" altLang="zh-CN" dirty="0"/>
          </a:p>
        </p:txBody>
      </p:sp>
      <p:sp>
        <p:nvSpPr>
          <p:cNvPr id="6" name="幻灯片编号占位符 5"/>
          <p:cNvSpPr>
            <a:spLocks noGrp="1"/>
          </p:cNvSpPr>
          <p:nvPr>
            <p:ph type="sldNum" sz="quarter" idx="12"/>
          </p:nvPr>
        </p:nvSpPr>
        <p:spPr>
          <a:xfrm>
            <a:off x="3889772" y="6571615"/>
            <a:ext cx="933450" cy="288925"/>
          </a:xfrm>
        </p:spPr>
        <p:txBody>
          <a:bodyPr/>
          <a:lstStyle/>
          <a:p>
            <a:fld id="{71E37E66-47ED-4E23-B805-CF9315C51031}" type="slidenum">
              <a:rPr lang="en-US" altLang="zh-CN" smtClean="0">
                <a:solidFill>
                  <a:srgbClr val="292929"/>
                </a:solidFill>
              </a:rPr>
              <a:pPr/>
              <a:t>26</a:t>
            </a:fld>
            <a:endParaRPr lang="en-US" altLang="zh-CN">
              <a:solidFill>
                <a:srgbClr val="292929"/>
              </a:solidFill>
            </a:endParaRPr>
          </a:p>
        </p:txBody>
      </p:sp>
      <p:sp>
        <p:nvSpPr>
          <p:cNvPr id="7" name="标题 1"/>
          <p:cNvSpPr>
            <a:spLocks noGrp="1"/>
          </p:cNvSpPr>
          <p:nvPr>
            <p:ph type="title"/>
          </p:nvPr>
        </p:nvSpPr>
        <p:spPr>
          <a:xfrm>
            <a:off x="468313" y="260350"/>
            <a:ext cx="8135937" cy="647700"/>
          </a:xfrm>
        </p:spPr>
        <p:txBody>
          <a:bodyPr/>
          <a:lstStyle/>
          <a:p>
            <a:r>
              <a:rPr lang="en-US" altLang="zh-CN" dirty="0">
                <a:latin typeface="Times New Roman" pitchFamily="18" charset="0"/>
                <a:cs typeface="Times New Roman" pitchFamily="18" charset="0"/>
              </a:rPr>
              <a:t>Conclusion</a:t>
            </a:r>
            <a:r>
              <a:rPr lang="zh-CN" altLang="en-US" dirty="0">
                <a:latin typeface="Times New Roman" pitchFamily="18" charset="0"/>
                <a:cs typeface="Times New Roman" pitchFamily="18" charset="0"/>
              </a:rPr>
              <a:t/>
            </a:r>
            <a:br>
              <a:rPr lang="zh-CN" altLang="en-US" dirty="0">
                <a:latin typeface="Times New Roman" pitchFamily="18" charset="0"/>
                <a:cs typeface="Times New Roman" pitchFamily="18" charset="0"/>
              </a:rPr>
            </a:br>
            <a:r>
              <a:rPr lang="en-US" altLang="zh-CN" dirty="0">
                <a:latin typeface="Times New Roman" pitchFamily="18" charset="0"/>
                <a:cs typeface="Times New Roman" pitchFamily="18" charset="0"/>
              </a:rPr>
              <a:t/>
            </a:r>
            <a:br>
              <a:rPr lang="en-US" altLang="zh-CN" dirty="0">
                <a:latin typeface="Times New Roman" pitchFamily="18" charset="0"/>
                <a:cs typeface="Times New Roman" pitchFamily="18" charset="0"/>
              </a:rPr>
            </a:br>
            <a:endParaRPr lang="zh-CN" altLang="en-US" dirty="0"/>
          </a:p>
        </p:txBody>
      </p:sp>
      <p:sp>
        <p:nvSpPr>
          <p:cNvPr id="8" name="内容占位符 2"/>
          <p:cNvSpPr>
            <a:spLocks noGrp="1"/>
          </p:cNvSpPr>
          <p:nvPr>
            <p:ph idx="1"/>
          </p:nvPr>
        </p:nvSpPr>
        <p:spPr>
          <a:xfrm>
            <a:off x="324098" y="1628800"/>
            <a:ext cx="8424365" cy="2448272"/>
          </a:xfrm>
        </p:spPr>
        <p:txBody>
          <a:bodyPr>
            <a:normAutofit/>
          </a:bodyPr>
          <a:lstStyle/>
          <a:p>
            <a:pPr algn="just">
              <a:buClrTx/>
              <a:buFont typeface="Wingdings" panose="05000000000000000000" pitchFamily="2" charset="2"/>
              <a:buChar char="Ø"/>
            </a:pPr>
            <a:r>
              <a:rPr lang="en-US" altLang="zh-CN" sz="1800" dirty="0">
                <a:latin typeface="Times New Roman" panose="02020603050405020304" pitchFamily="18" charset="0"/>
                <a:cs typeface="Times New Roman" panose="02020603050405020304" pitchFamily="18" charset="0"/>
              </a:rPr>
              <a:t>Finally, we study the stability and coordination mechanism of cooperative R&amp;D. when the level of technological spillovers is small or large and the initial marginal production costs of the </a:t>
            </a:r>
            <a:r>
              <a:rPr lang="en-US" altLang="zh-CN" sz="1800" dirty="0" smtClean="0">
                <a:latin typeface="Times New Roman" panose="02020603050405020304" pitchFamily="18" charset="0"/>
                <a:cs typeface="Times New Roman" panose="02020603050405020304" pitchFamily="18" charset="0"/>
              </a:rPr>
              <a:t>downstream </a:t>
            </a:r>
            <a:r>
              <a:rPr lang="en-US" altLang="zh-CN" sz="1800" dirty="0">
                <a:latin typeface="Times New Roman" panose="02020603050405020304" pitchFamily="18" charset="0"/>
                <a:cs typeface="Times New Roman" panose="02020603050405020304" pitchFamily="18" charset="0"/>
              </a:rPr>
              <a:t>firms are large, although the cooperative R&amp;D of downstream firms can improve their own profitability, in the absence of other coordination mechanism of cooperative R&amp;D, the cooperative R&amp;D of downstream firms is unstable. In other words, the cooperative R&amp;D of downstream firms will fall into the prisoners dilemma. We propose a coordination mechanism to solve the instability problem of cooperative R&amp;D. </a:t>
            </a:r>
            <a:endParaRPr lang="en-US" altLang="zh-CN" sz="2000" dirty="0"/>
          </a:p>
          <a:p>
            <a:endParaRPr lang="en-US" altLang="zh-CN" sz="2000" dirty="0"/>
          </a:p>
        </p:txBody>
      </p:sp>
      <p:sp>
        <p:nvSpPr>
          <p:cNvPr id="2" name="矩形 1"/>
          <p:cNvSpPr/>
          <p:nvPr/>
        </p:nvSpPr>
        <p:spPr>
          <a:xfrm>
            <a:off x="707505" y="4679682"/>
            <a:ext cx="8035918" cy="1200329"/>
          </a:xfrm>
          <a:prstGeom prst="rect">
            <a:avLst/>
          </a:prstGeom>
        </p:spPr>
        <p:txBody>
          <a:bodyPr wrap="square">
            <a:spAutoFit/>
          </a:bodyPr>
          <a:lstStyle/>
          <a:p>
            <a:pPr algn="just"/>
            <a:r>
              <a:rPr lang="en-US" altLang="zh-CN" dirty="0">
                <a:latin typeface="Times New Roman" panose="02020603050405020304" pitchFamily="18" charset="0"/>
                <a:cs typeface="Times New Roman" panose="02020603050405020304" pitchFamily="18" charset="0"/>
              </a:rPr>
              <a:t>In addition, different from the case of two downstream firms with equal initial marginal production costs, when the initial marginal production costs of the two downstream firms are not equal, it is possible that one downstream firm will carry out R&amp;D and the other downstream firm wont carry out R&amp;D. </a:t>
            </a:r>
            <a:endParaRPr lang="en-US" altLang="zh-C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37957616"/>
      </p:ext>
    </p:extLst>
  </p:cSld>
  <p:clrMapOvr>
    <a:masterClrMapping/>
  </p:clrMapOvr>
  <p:transition>
    <p:fad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2904" y="116632"/>
            <a:ext cx="8135937" cy="647700"/>
          </a:xfrm>
        </p:spPr>
        <p:txBody>
          <a:bodyPr/>
          <a:lstStyle/>
          <a:p>
            <a:r>
              <a:rPr lang="en-US" altLang="zh-CN" dirty="0" smtClean="0">
                <a:latin typeface="Times New Roman" pitchFamily="18" charset="0"/>
                <a:cs typeface="Times New Roman" pitchFamily="18" charset="0"/>
              </a:rPr>
              <a:t>Q&amp;A</a:t>
            </a:r>
            <a:r>
              <a:rPr lang="zh-CN" altLang="en-US" dirty="0">
                <a:latin typeface="Times New Roman" pitchFamily="18" charset="0"/>
                <a:cs typeface="Times New Roman" pitchFamily="18" charset="0"/>
              </a:rPr>
              <a:t/>
            </a:r>
            <a:br>
              <a:rPr lang="zh-CN" altLang="en-US" dirty="0">
                <a:latin typeface="Times New Roman" pitchFamily="18" charset="0"/>
                <a:cs typeface="Times New Roman" pitchFamily="18" charset="0"/>
              </a:rPr>
            </a:br>
            <a:r>
              <a:rPr lang="en-US" altLang="zh-CN" dirty="0">
                <a:latin typeface="Times New Roman" pitchFamily="18" charset="0"/>
                <a:cs typeface="Times New Roman" pitchFamily="18" charset="0"/>
              </a:rPr>
              <a:t/>
            </a:r>
            <a:br>
              <a:rPr lang="en-US" altLang="zh-CN" dirty="0">
                <a:latin typeface="Times New Roman" pitchFamily="18" charset="0"/>
                <a:cs typeface="Times New Roman" pitchFamily="18" charset="0"/>
              </a:rPr>
            </a:br>
            <a:endParaRPr lang="zh-CN" altLang="en-US" dirty="0"/>
          </a:p>
        </p:txBody>
      </p:sp>
      <p:sp>
        <p:nvSpPr>
          <p:cNvPr id="3" name="内容占位符 2"/>
          <p:cNvSpPr>
            <a:spLocks noGrp="1"/>
          </p:cNvSpPr>
          <p:nvPr>
            <p:ph idx="1"/>
          </p:nvPr>
        </p:nvSpPr>
        <p:spPr>
          <a:xfrm>
            <a:off x="251520" y="3212976"/>
            <a:ext cx="8352159" cy="986185"/>
          </a:xfrm>
        </p:spPr>
        <p:txBody>
          <a:bodyPr>
            <a:normAutofit/>
          </a:bodyPr>
          <a:lstStyle/>
          <a:p>
            <a:pPr marL="0" indent="0" algn="ctr">
              <a:buNone/>
            </a:pPr>
            <a:r>
              <a:rPr lang="en-US" altLang="zh-CN" sz="4800" b="1" dirty="0" smtClean="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华文仿宋" panose="02010600040101010101" pitchFamily="2" charset="-122"/>
                <a:ea typeface="华文仿宋" panose="02010600040101010101" pitchFamily="2" charset="-122"/>
                <a:cs typeface="Times New Roman" pitchFamily="18" charset="0"/>
              </a:rPr>
              <a:t>Thank You</a:t>
            </a:r>
            <a:endParaRPr lang="zh-CN" altLang="en-US" sz="4800" b="1"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华文仿宋" panose="02010600040101010101" pitchFamily="2" charset="-122"/>
              <a:ea typeface="华文仿宋" panose="02010600040101010101" pitchFamily="2" charset="-122"/>
              <a:cs typeface="Times New Roman" pitchFamily="18" charset="0"/>
            </a:endParaRPr>
          </a:p>
        </p:txBody>
      </p:sp>
      <p:sp>
        <p:nvSpPr>
          <p:cNvPr id="4" name="日期占位符 3"/>
          <p:cNvSpPr>
            <a:spLocks noGrp="1"/>
          </p:cNvSpPr>
          <p:nvPr>
            <p:ph type="dt" sz="half" idx="10"/>
          </p:nvPr>
        </p:nvSpPr>
        <p:spPr>
          <a:xfrm>
            <a:off x="7668344" y="6569075"/>
            <a:ext cx="1368152" cy="244302"/>
          </a:xfrm>
        </p:spPr>
        <p:txBody>
          <a:bodyPr/>
          <a:lstStyle/>
          <a:p>
            <a:pPr>
              <a:defRPr/>
            </a:pPr>
            <a:fld id="{5B7810C3-E4B8-42D7-8164-284EEAFF16C4}" type="datetime4">
              <a:rPr lang="en-US" altLang="zh-CN" smtClean="0">
                <a:solidFill>
                  <a:srgbClr val="292929"/>
                </a:solidFill>
              </a:rPr>
              <a:t>April 25, 2019</a:t>
            </a:fld>
            <a:endParaRPr lang="en-US" altLang="zh-CN" dirty="0">
              <a:solidFill>
                <a:srgbClr val="292929"/>
              </a:solidFill>
            </a:endParaRPr>
          </a:p>
        </p:txBody>
      </p:sp>
      <p:sp>
        <p:nvSpPr>
          <p:cNvPr id="6" name="灯片编号占位符 5"/>
          <p:cNvSpPr>
            <a:spLocks noGrp="1"/>
          </p:cNvSpPr>
          <p:nvPr>
            <p:ph type="sldNum" sz="quarter" idx="12"/>
          </p:nvPr>
        </p:nvSpPr>
        <p:spPr>
          <a:xfrm>
            <a:off x="3923928" y="6569075"/>
            <a:ext cx="933450" cy="288925"/>
          </a:xfrm>
        </p:spPr>
        <p:txBody>
          <a:bodyPr/>
          <a:lstStyle/>
          <a:p>
            <a:fld id="{71E37E66-47ED-4E23-B805-CF9315C51031}" type="slidenum">
              <a:rPr lang="en-US" altLang="zh-CN" smtClean="0">
                <a:solidFill>
                  <a:srgbClr val="292929"/>
                </a:solidFill>
              </a:rPr>
              <a:pPr/>
              <a:t>27</a:t>
            </a:fld>
            <a:endParaRPr lang="en-US" altLang="zh-CN" dirty="0">
              <a:solidFill>
                <a:srgbClr val="292929"/>
              </a:solidFill>
            </a:endParaRPr>
          </a:p>
        </p:txBody>
      </p:sp>
      <p:sp>
        <p:nvSpPr>
          <p:cNvPr id="7" name="页脚占位符 4"/>
          <p:cNvSpPr>
            <a:spLocks noGrp="1"/>
          </p:cNvSpPr>
          <p:nvPr>
            <p:ph type="ftr" sz="quarter" idx="11"/>
          </p:nvPr>
        </p:nvSpPr>
        <p:spPr>
          <a:xfrm>
            <a:off x="0" y="6569075"/>
            <a:ext cx="3059832" cy="288925"/>
          </a:xfrm>
        </p:spPr>
        <p:txBody>
          <a:bodyPr/>
          <a:lstStyle/>
          <a:p>
            <a:pPr>
              <a:defRPr/>
            </a:pPr>
            <a:r>
              <a:rPr lang="en-US" altLang="zh-CN" smtClean="0"/>
              <a:t>Xiaolin Xu</a:t>
            </a:r>
            <a:r>
              <a:rPr lang="zh-CN" altLang="en-US" smtClean="0"/>
              <a:t>（ </a:t>
            </a:r>
            <a:r>
              <a:rPr lang="en-US" altLang="zh-CN" smtClean="0"/>
              <a:t>Nanjing University </a:t>
            </a:r>
            <a:r>
              <a:rPr lang="zh-CN" altLang="en-US" smtClean="0"/>
              <a:t>）</a:t>
            </a:r>
            <a:endParaRPr lang="en-US" altLang="zh-CN" dirty="0"/>
          </a:p>
        </p:txBody>
      </p:sp>
    </p:spTree>
    <p:extLst>
      <p:ext uri="{BB962C8B-B14F-4D97-AF65-F5344CB8AC3E}">
        <p14:creationId xmlns:p14="http://schemas.microsoft.com/office/powerpoint/2010/main" val="2725335229"/>
      </p:ext>
    </p:extLst>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nju_beidalou">
  <a:themeElements>
    <a:clrScheme name="nju_beidalou 8">
      <a:dk1>
        <a:srgbClr val="292929"/>
      </a:dk1>
      <a:lt1>
        <a:srgbClr val="FFFFFF"/>
      </a:lt1>
      <a:dk2>
        <a:srgbClr val="000000"/>
      </a:dk2>
      <a:lt2>
        <a:srgbClr val="808080"/>
      </a:lt2>
      <a:accent1>
        <a:srgbClr val="CC9900"/>
      </a:accent1>
      <a:accent2>
        <a:srgbClr val="CCCC99"/>
      </a:accent2>
      <a:accent3>
        <a:srgbClr val="FFFFFF"/>
      </a:accent3>
      <a:accent4>
        <a:srgbClr val="212121"/>
      </a:accent4>
      <a:accent5>
        <a:srgbClr val="E2CAAA"/>
      </a:accent5>
      <a:accent6>
        <a:srgbClr val="B9B98A"/>
      </a:accent6>
      <a:hlink>
        <a:srgbClr val="999933"/>
      </a:hlink>
      <a:folHlink>
        <a:srgbClr val="B2B2B2"/>
      </a:folHlink>
    </a:clrScheme>
    <a:fontScheme name="nju_beidalou">
      <a:majorFont>
        <a:latin typeface="Arial"/>
        <a:ea typeface="黑体"/>
        <a:cs typeface=""/>
      </a:majorFont>
      <a:minorFont>
        <a:latin typeface="Arial"/>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9525" cap="flat" cmpd="sng" algn="ctr">
          <a:solidFill>
            <a:srgbClr val="FF0000"/>
          </a:solidFill>
          <a:prstDash val="solid"/>
          <a:round/>
          <a:headEnd type="none" w="med" len="med"/>
          <a:tailEnd type="none" w="med" len="med"/>
        </a:ln>
        <a:effectLst/>
      </a:spPr>
      <a:bodyPr vert="horz" wrap="none" lIns="91440" tIns="45720" rIns="91440" bIns="45720" numCol="1" rtlCol="0"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sz="18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bg1"/>
        </a:solidFill>
        <a:ln w="952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nju_beidalou 1">
        <a:dk1>
          <a:srgbClr val="080808"/>
        </a:dk1>
        <a:lt1>
          <a:srgbClr val="F8F8F8"/>
        </a:lt1>
        <a:dk2>
          <a:srgbClr val="330000"/>
        </a:dk2>
        <a:lt2>
          <a:srgbClr val="FFFFFF"/>
        </a:lt2>
        <a:accent1>
          <a:srgbClr val="FF9900"/>
        </a:accent1>
        <a:accent2>
          <a:srgbClr val="CC3300"/>
        </a:accent2>
        <a:accent3>
          <a:srgbClr val="ADAAAA"/>
        </a:accent3>
        <a:accent4>
          <a:srgbClr val="D4D4D4"/>
        </a:accent4>
        <a:accent5>
          <a:srgbClr val="FFCAAA"/>
        </a:accent5>
        <a:accent6>
          <a:srgbClr val="B92D00"/>
        </a:accent6>
        <a:hlink>
          <a:srgbClr val="CC6600"/>
        </a:hlink>
        <a:folHlink>
          <a:srgbClr val="B2B282"/>
        </a:folHlink>
      </a:clrScheme>
      <a:clrMap bg1="dk2" tx1="lt1" bg2="dk1" tx2="lt2" accent1="accent1" accent2="accent2" accent3="accent3" accent4="accent4" accent5="accent5" accent6="accent6" hlink="hlink" folHlink="folHlink"/>
    </a:extraClrScheme>
    <a:extraClrScheme>
      <a:clrScheme name="nju_beidalou 2">
        <a:dk1>
          <a:srgbClr val="333333"/>
        </a:dk1>
        <a:lt1>
          <a:srgbClr val="F8F8F8"/>
        </a:lt1>
        <a:dk2>
          <a:srgbClr val="800000"/>
        </a:dk2>
        <a:lt2>
          <a:srgbClr val="FFFFFF"/>
        </a:lt2>
        <a:accent1>
          <a:srgbClr val="CC9900"/>
        </a:accent1>
        <a:accent2>
          <a:srgbClr val="666666"/>
        </a:accent2>
        <a:accent3>
          <a:srgbClr val="C0AAAA"/>
        </a:accent3>
        <a:accent4>
          <a:srgbClr val="D4D4D4"/>
        </a:accent4>
        <a:accent5>
          <a:srgbClr val="E2CAAA"/>
        </a:accent5>
        <a:accent6>
          <a:srgbClr val="5C5C5C"/>
        </a:accent6>
        <a:hlink>
          <a:srgbClr val="CC6600"/>
        </a:hlink>
        <a:folHlink>
          <a:srgbClr val="95A587"/>
        </a:folHlink>
      </a:clrScheme>
      <a:clrMap bg1="dk2" tx1="lt1" bg2="dk1" tx2="lt2" accent1="accent1" accent2="accent2" accent3="accent3" accent4="accent4" accent5="accent5" accent6="accent6" hlink="hlink" folHlink="folHlink"/>
    </a:extraClrScheme>
    <a:extraClrScheme>
      <a:clrScheme name="nju_beidalou 3">
        <a:dk1>
          <a:srgbClr val="5F5F5F"/>
        </a:dk1>
        <a:lt1>
          <a:srgbClr val="A4BEE0"/>
        </a:lt1>
        <a:dk2>
          <a:srgbClr val="013253"/>
        </a:dk2>
        <a:lt2>
          <a:srgbClr val="FFFFFF"/>
        </a:lt2>
        <a:accent1>
          <a:srgbClr val="588480"/>
        </a:accent1>
        <a:accent2>
          <a:srgbClr val="6600FF"/>
        </a:accent2>
        <a:accent3>
          <a:srgbClr val="AAADB3"/>
        </a:accent3>
        <a:accent4>
          <a:srgbClr val="8BA2BF"/>
        </a:accent4>
        <a:accent5>
          <a:srgbClr val="B4C2C0"/>
        </a:accent5>
        <a:accent6>
          <a:srgbClr val="5C00E7"/>
        </a:accent6>
        <a:hlink>
          <a:srgbClr val="CCCC00"/>
        </a:hlink>
        <a:folHlink>
          <a:srgbClr val="5F5F5F"/>
        </a:folHlink>
      </a:clrScheme>
      <a:clrMap bg1="dk2" tx1="lt1" bg2="dk1" tx2="lt2" accent1="accent1" accent2="accent2" accent3="accent3" accent4="accent4" accent5="accent5" accent6="accent6" hlink="hlink" folHlink="folHlink"/>
    </a:extraClrScheme>
    <a:extraClrScheme>
      <a:clrScheme name="nju_beidalou 4">
        <a:dk1>
          <a:srgbClr val="003300"/>
        </a:dk1>
        <a:lt1>
          <a:srgbClr val="F8F8F8"/>
        </a:lt1>
        <a:dk2>
          <a:srgbClr val="3D4A1C"/>
        </a:dk2>
        <a:lt2>
          <a:srgbClr val="FFFFFF"/>
        </a:lt2>
        <a:accent1>
          <a:srgbClr val="99CC00"/>
        </a:accent1>
        <a:accent2>
          <a:srgbClr val="669900"/>
        </a:accent2>
        <a:accent3>
          <a:srgbClr val="AFB1AB"/>
        </a:accent3>
        <a:accent4>
          <a:srgbClr val="D4D4D4"/>
        </a:accent4>
        <a:accent5>
          <a:srgbClr val="CAE2AA"/>
        </a:accent5>
        <a:accent6>
          <a:srgbClr val="5C8A00"/>
        </a:accent6>
        <a:hlink>
          <a:srgbClr val="CC9900"/>
        </a:hlink>
        <a:folHlink>
          <a:srgbClr val="B2B282"/>
        </a:folHlink>
      </a:clrScheme>
      <a:clrMap bg1="dk2" tx1="lt1" bg2="dk1" tx2="lt2" accent1="accent1" accent2="accent2" accent3="accent3" accent4="accent4" accent5="accent5" accent6="accent6" hlink="hlink" folHlink="folHlink"/>
    </a:extraClrScheme>
    <a:extraClrScheme>
      <a:clrScheme name="nju_beidalou 5">
        <a:dk1>
          <a:srgbClr val="333333"/>
        </a:dk1>
        <a:lt1>
          <a:srgbClr val="F8F8F8"/>
        </a:lt1>
        <a:dk2>
          <a:srgbClr val="005D8C"/>
        </a:dk2>
        <a:lt2>
          <a:srgbClr val="FFFFFF"/>
        </a:lt2>
        <a:accent1>
          <a:srgbClr val="00CC99"/>
        </a:accent1>
        <a:accent2>
          <a:srgbClr val="0099CC"/>
        </a:accent2>
        <a:accent3>
          <a:srgbClr val="AAB6C5"/>
        </a:accent3>
        <a:accent4>
          <a:srgbClr val="D4D4D4"/>
        </a:accent4>
        <a:accent5>
          <a:srgbClr val="AAE2CA"/>
        </a:accent5>
        <a:accent6>
          <a:srgbClr val="008AB9"/>
        </a:accent6>
        <a:hlink>
          <a:srgbClr val="FFCC00"/>
        </a:hlink>
        <a:folHlink>
          <a:srgbClr val="D8D48C"/>
        </a:folHlink>
      </a:clrScheme>
      <a:clrMap bg1="dk2" tx1="lt1" bg2="dk1" tx2="lt2" accent1="accent1" accent2="accent2" accent3="accent3" accent4="accent4" accent5="accent5" accent6="accent6" hlink="hlink" folHlink="folHlink"/>
    </a:extraClrScheme>
    <a:extraClrScheme>
      <a:clrScheme name="nju_beidalou 6">
        <a:dk1>
          <a:srgbClr val="000000"/>
        </a:dk1>
        <a:lt1>
          <a:srgbClr val="ECAE00"/>
        </a:lt1>
        <a:dk2>
          <a:srgbClr val="FFFFFF"/>
        </a:dk2>
        <a:lt2>
          <a:srgbClr val="333333"/>
        </a:lt2>
        <a:accent1>
          <a:srgbClr val="CC6600"/>
        </a:accent1>
        <a:accent2>
          <a:srgbClr val="BA6D10"/>
        </a:accent2>
        <a:accent3>
          <a:srgbClr val="F4D3AA"/>
        </a:accent3>
        <a:accent4>
          <a:srgbClr val="000000"/>
        </a:accent4>
        <a:accent5>
          <a:srgbClr val="E2B8AA"/>
        </a:accent5>
        <a:accent6>
          <a:srgbClr val="A8620D"/>
        </a:accent6>
        <a:hlink>
          <a:srgbClr val="666633"/>
        </a:hlink>
        <a:folHlink>
          <a:srgbClr val="8D996D"/>
        </a:folHlink>
      </a:clrScheme>
      <a:clrMap bg1="lt1" tx1="dk1" bg2="lt2" tx2="dk2" accent1="accent1" accent2="accent2" accent3="accent3" accent4="accent4" accent5="accent5" accent6="accent6" hlink="hlink" folHlink="folHlink"/>
    </a:extraClrScheme>
    <a:extraClrScheme>
      <a:clrScheme name="nju_beidalou 7">
        <a:dk1>
          <a:srgbClr val="000000"/>
        </a:dk1>
        <a:lt1>
          <a:srgbClr val="FFFFFF"/>
        </a:lt1>
        <a:dk2>
          <a:srgbClr val="372221"/>
        </a:dk2>
        <a:lt2>
          <a:srgbClr val="808080"/>
        </a:lt2>
        <a:accent1>
          <a:srgbClr val="009999"/>
        </a:accent1>
        <a:accent2>
          <a:srgbClr val="9AAC98"/>
        </a:accent2>
        <a:accent3>
          <a:srgbClr val="FFFFFF"/>
        </a:accent3>
        <a:accent4>
          <a:srgbClr val="000000"/>
        </a:accent4>
        <a:accent5>
          <a:srgbClr val="AACACA"/>
        </a:accent5>
        <a:accent6>
          <a:srgbClr val="8B9B89"/>
        </a:accent6>
        <a:hlink>
          <a:srgbClr val="666699"/>
        </a:hlink>
        <a:folHlink>
          <a:srgbClr val="B2B2B2"/>
        </a:folHlink>
      </a:clrScheme>
      <a:clrMap bg1="lt1" tx1="dk1" bg2="lt2" tx2="dk2" accent1="accent1" accent2="accent2" accent3="accent3" accent4="accent4" accent5="accent5" accent6="accent6" hlink="hlink" folHlink="folHlink"/>
    </a:extraClrScheme>
    <a:extraClrScheme>
      <a:clrScheme name="nju_beidalou 8">
        <a:dk1>
          <a:srgbClr val="292929"/>
        </a:dk1>
        <a:lt1>
          <a:srgbClr val="FFFFFF"/>
        </a:lt1>
        <a:dk2>
          <a:srgbClr val="000000"/>
        </a:dk2>
        <a:lt2>
          <a:srgbClr val="808080"/>
        </a:lt2>
        <a:accent1>
          <a:srgbClr val="CC9900"/>
        </a:accent1>
        <a:accent2>
          <a:srgbClr val="CCCC99"/>
        </a:accent2>
        <a:accent3>
          <a:srgbClr val="FFFFFF"/>
        </a:accent3>
        <a:accent4>
          <a:srgbClr val="212121"/>
        </a:accent4>
        <a:accent5>
          <a:srgbClr val="E2CAAA"/>
        </a:accent5>
        <a:accent6>
          <a:srgbClr val="B9B98A"/>
        </a:accent6>
        <a:hlink>
          <a:srgbClr val="999933"/>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4793</TotalTime>
  <Words>2331</Words>
  <Application>Microsoft Office PowerPoint</Application>
  <PresentationFormat>全屏显示(4:3)</PresentationFormat>
  <Paragraphs>255</Paragraphs>
  <Slides>27</Slides>
  <Notes>10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27</vt:i4>
      </vt:variant>
    </vt:vector>
  </HeadingPairs>
  <TitlesOfParts>
    <vt:vector size="38" baseType="lpstr">
      <vt:lpstr>Adobe Myungjo Std M</vt:lpstr>
      <vt:lpstr>黑体</vt:lpstr>
      <vt:lpstr>华文仿宋</vt:lpstr>
      <vt:lpstr>华文楷体</vt:lpstr>
      <vt:lpstr>宋体</vt:lpstr>
      <vt:lpstr>Arial</vt:lpstr>
      <vt:lpstr>Calibri</vt:lpstr>
      <vt:lpstr>Cambria Math</vt:lpstr>
      <vt:lpstr>Times New Roman</vt:lpstr>
      <vt:lpstr>Wingdings</vt:lpstr>
      <vt:lpstr>nju_beidalou</vt:lpstr>
      <vt:lpstr>PowerPoint 演示文稿</vt:lpstr>
      <vt:lpstr>Outline</vt:lpstr>
      <vt:lpstr>Motivation</vt:lpstr>
      <vt:lpstr>Research Problem </vt:lpstr>
      <vt:lpstr>Literature Review</vt:lpstr>
      <vt:lpstr>Literature Review</vt:lpstr>
      <vt:lpstr>Literature Review</vt:lpstr>
      <vt:lpstr>Literature Review</vt:lpstr>
      <vt:lpstr>Model Description </vt:lpstr>
      <vt:lpstr>Sequences</vt:lpstr>
      <vt:lpstr>Optimal Decisions under Non-cooperative R&amp;D </vt:lpstr>
      <vt:lpstr>Model Analysis </vt:lpstr>
      <vt:lpstr>Optimal Decisions under Cooperative R&amp;D  </vt:lpstr>
      <vt:lpstr>Model Analysis </vt:lpstr>
      <vt:lpstr>R&amp;D Strategies: Cooperative vs. Non-cooperative   </vt:lpstr>
      <vt:lpstr>R&amp;D Strategies: Cooperative vs. Non-cooperative   </vt:lpstr>
      <vt:lpstr>R&amp;D Strategies: Cooperative vs. Noncooperative   </vt:lpstr>
      <vt:lpstr>Stability Analysis of Cooperative R&amp;D </vt:lpstr>
      <vt:lpstr>PowerPoint 演示文稿</vt:lpstr>
      <vt:lpstr>Social Comparisons </vt:lpstr>
      <vt:lpstr>Model Extensions </vt:lpstr>
      <vt:lpstr>Model Extensions    </vt:lpstr>
      <vt:lpstr>Conclusion  </vt:lpstr>
      <vt:lpstr>Conclusion  </vt:lpstr>
      <vt:lpstr>Conclusion  </vt:lpstr>
      <vt:lpstr>Conclusion  </vt:lpstr>
      <vt:lpstr>Q&amp;A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Yangyang Peng</dc:creator>
  <cp:lastModifiedBy>Peng Yangyang</cp:lastModifiedBy>
  <cp:revision>273</cp:revision>
  <dcterms:created xsi:type="dcterms:W3CDTF">2018-03-16T06:54:26Z</dcterms:created>
  <dcterms:modified xsi:type="dcterms:W3CDTF">2019-04-25T07:37:51Z</dcterms:modified>
</cp:coreProperties>
</file>